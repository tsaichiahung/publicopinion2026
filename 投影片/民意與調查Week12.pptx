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17" r:id="rId1"/>
  </p:sldMasterIdLst>
  <p:notesMasterIdLst>
    <p:notesMasterId r:id="rId16"/>
  </p:notesMasterIdLst>
  <p:sldIdLst>
    <p:sldId id="256" r:id="rId2"/>
    <p:sldId id="264" r:id="rId3"/>
    <p:sldId id="265" r:id="rId4"/>
    <p:sldId id="332" r:id="rId5"/>
    <p:sldId id="266" r:id="rId6"/>
    <p:sldId id="267" r:id="rId7"/>
    <p:sldId id="268" r:id="rId8"/>
    <p:sldId id="257" r:id="rId9"/>
    <p:sldId id="262" r:id="rId10"/>
    <p:sldId id="261" r:id="rId11"/>
    <p:sldId id="258" r:id="rId12"/>
    <p:sldId id="259" r:id="rId13"/>
    <p:sldId id="260" r:id="rId14"/>
    <p:sldId id="26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6BFFFC-D104-3F43-B521-BD06E81B238E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047340-85D9-9F4A-AE55-A8A362BFBD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081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62052-F6C6-5047-8232-82AEA79E33E2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305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5A3A9-146B-AC46-A4D2-056E5FE270C4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402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52AB6-AB16-994E-85DE-06EF7F878E3F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785886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688E4-09E4-FE4A-8B94-F156337189C5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8257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A440D-D5A4-6746-9986-D102F8FAAE50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914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8282A8-1B45-B743-8CAD-5F6FF89DFA4B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9128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3EDAB-C9F0-1A4F-BEF0-037BE9F0C3AA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3355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40B5-6916-394D-8A77-4A564A6B347A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50941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37CD3-69B0-1346-8CB4-3DE7980F5646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0676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C34C5-FACA-3941-9961-E20FBD2ABE6D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50191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FB25F-8DC2-0945-BBDE-2D93AB3A0A06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59659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0BAC27F5-9189-CF4A-B4DC-4FD52A653A14}" type="datetime1">
              <a:rPr kumimoji="1" lang="en-US" altLang="zh-TW" smtClean="0"/>
              <a:t>1/5/26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D582EC-0139-D049-9F6E-A8F88D3B833C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447846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BF3B05-1C99-3835-A31B-139706900A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TW" altLang="en-US" dirty="0"/>
              <a:t>質性研究、社群媒體與人工智慧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0B972E2-EEFD-B30C-E171-337543F68A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zh-TW" altLang="en-US" dirty="0"/>
              <a:t>民意與調查</a:t>
            </a:r>
          </a:p>
        </p:txBody>
      </p:sp>
    </p:spTree>
    <p:extLst>
      <p:ext uri="{BB962C8B-B14F-4D97-AF65-F5344CB8AC3E}">
        <p14:creationId xmlns:p14="http://schemas.microsoft.com/office/powerpoint/2010/main" val="1579617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98E9-6610-5166-D8D5-7BB8F50C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質性研究（一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7BB55-22A6-9BA5-E3D3-9524BBA08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PMingLiU" panose="02020500000000000000" pitchFamily="18" charset="-120"/>
                <a:ea typeface="PMingLiU" panose="02020500000000000000" pitchFamily="18" charset="-120"/>
              </a:rPr>
              <a:t>質性研究指的是相對於研究大量樣本的調查方法，強調個體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行為背後的原因與脈絡，也就是重質不重量。</a:t>
            </a:r>
            <a:endParaRPr lang="en-US" altLang="ja-JP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雖然質性研究並無法推論母體，但是更全面地觀察一個複雜的現象，找出個人與環境、時間、事件的連結，描述變化的過程。</a:t>
            </a:r>
            <a:endParaRPr lang="en-US" altLang="ja-JP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例如，</a:t>
            </a:r>
            <a:r>
              <a:rPr lang="en-US" altLang="ja-JP" dirty="0">
                <a:latin typeface="Times New Roman" panose="02020603050405020304" pitchFamily="18" charset="0"/>
                <a:ea typeface="PMingLiU" panose="02020500000000000000" pitchFamily="18" charset="-120"/>
                <a:cs typeface="Times New Roman" panose="02020603050405020304" pitchFamily="18" charset="0"/>
              </a:rPr>
              <a:t>Robert E. Lane(1962)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在</a:t>
            </a:r>
            <a:r>
              <a:rPr lang="en-US" altLang="ja-JP" dirty="0">
                <a:latin typeface="PMingLiU" panose="02020500000000000000" pitchFamily="18" charset="-120"/>
                <a:ea typeface="PMingLiU" panose="02020500000000000000" pitchFamily="18" charset="-120"/>
              </a:rPr>
              <a:t>1950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年代訪問</a:t>
            </a:r>
            <a:r>
              <a:rPr lang="en-US" altLang="ja-JP" dirty="0">
                <a:latin typeface="PMingLiU" panose="02020500000000000000" pitchFamily="18" charset="-120"/>
                <a:ea typeface="PMingLiU" panose="02020500000000000000" pitchFamily="18" charset="-120"/>
              </a:rPr>
              <a:t>15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位美國民眾，了解他們對於政治的看法，歸納出他們並沒有支持自由或者保守的政治態度。也有學者觀察美國中西部的城市，了解為什麼民眾會支持川普總統</a:t>
            </a:r>
            <a:r>
              <a:rPr lang="en-US" altLang="ja-JP" dirty="0">
                <a:latin typeface="Times New Roman" panose="02020603050405020304" pitchFamily="18" charset="0"/>
                <a:ea typeface="PMingLiU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ja-JP" dirty="0" err="1">
                <a:latin typeface="Times New Roman" panose="02020603050405020304" pitchFamily="18" charset="0"/>
                <a:ea typeface="PMingLiU" panose="02020500000000000000" pitchFamily="18" charset="-120"/>
                <a:cs typeface="Times New Roman" panose="02020603050405020304" pitchFamily="18" charset="0"/>
              </a:rPr>
              <a:t>Ternullo</a:t>
            </a:r>
            <a:r>
              <a:rPr lang="en-US" altLang="ja-JP" dirty="0">
                <a:latin typeface="Times New Roman" panose="02020603050405020304" pitchFamily="18" charset="0"/>
                <a:ea typeface="PMingLiU" panose="02020500000000000000" pitchFamily="18" charset="-120"/>
                <a:cs typeface="Times New Roman" panose="02020603050405020304" pitchFamily="18" charset="0"/>
              </a:rPr>
              <a:t>, 2024)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。</a:t>
            </a:r>
            <a:endParaRPr lang="en-US" dirty="0">
              <a:latin typeface="PMingLiU" panose="02020500000000000000" pitchFamily="18" charset="-120"/>
              <a:ea typeface="PMingLiU" panose="02020500000000000000" pitchFamily="18" charset="-12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DFFD0C-8D90-1EE4-577C-8BB9EB17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11537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98E9-6610-5166-D8D5-7BB8F50C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質性研究（二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7BB55-22A6-9BA5-E3D3-9524BBA08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也有學者邀請具有特定政治態度的一些民眾深入討論複雜的議題，例如國家認同，除了請受訪者就提綱進行討論，還可以請他們用畫圖表示心裡面的想法，稱為焦點團體研究。研究者根據他們的回答，整理出民眾支持或者反對某個說法的理由。例如，認同的內涵是什麼？認同是怎麼來的？什麼事件會特別引起認同的反應？認同跟什麼態度有關？</a:t>
            </a:r>
            <a:endParaRPr lang="en-US" dirty="0">
              <a:latin typeface="PMingLiU" panose="02020500000000000000" pitchFamily="18" charset="-120"/>
              <a:ea typeface="PMingLiU" panose="02020500000000000000" pitchFamily="18" charset="-12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DFFD0C-8D90-1EE4-577C-8BB9EB17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60968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Number Placeholder 5">
            <a:extLst>
              <a:ext uri="{FF2B5EF4-FFF2-40B4-BE49-F238E27FC236}">
                <a16:creationId xmlns:a16="http://schemas.microsoft.com/office/drawing/2014/main" id="{725E5EB3-EB5C-15A6-3C3D-2E6CB9C09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Tahom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fld id="{7F9CBBBA-C892-D34F-8068-541908D3D67C}" type="slidenum">
              <a:rPr kumimoji="0" lang="en-US" altLang="zh-TW"/>
              <a:pPr/>
              <a:t>4</a:t>
            </a:fld>
            <a:endParaRPr kumimoji="0" lang="en-US" altLang="zh-TW"/>
          </a:p>
        </p:txBody>
      </p:sp>
      <p:sp>
        <p:nvSpPr>
          <p:cNvPr id="31746" name="Rectangle 2">
            <a:extLst>
              <a:ext uri="{FF2B5EF4-FFF2-40B4-BE49-F238E27FC236}">
                <a16:creationId xmlns:a16="http://schemas.microsoft.com/office/drawing/2014/main" id="{0A0D3730-BE14-2EA9-2A49-C7CA5F58E6C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焦點團體</a:t>
            </a:r>
          </a:p>
        </p:txBody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DEA71B00-0114-C59B-DAE8-95212079F6B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TW" altLang="en-US" dirty="0"/>
              <a:t>優點</a:t>
            </a:r>
          </a:p>
          <a:p>
            <a:pPr eaLnBrk="1" hangingPunct="1">
              <a:buFont typeface="Wingdings" pitchFamily="2" charset="2"/>
              <a:buNone/>
            </a:pPr>
            <a:r>
              <a:rPr lang="zh-TW" altLang="en-US" dirty="0"/>
              <a:t>  深入解析問題</a:t>
            </a:r>
            <a:r>
              <a:rPr lang="en-US" altLang="zh-TW" dirty="0"/>
              <a:t>, </a:t>
            </a:r>
            <a:r>
              <a:rPr lang="zh-TW" altLang="en-US" dirty="0"/>
              <a:t>擷取互動效果</a:t>
            </a:r>
            <a:r>
              <a:rPr lang="en-US" altLang="zh-TW" dirty="0"/>
              <a:t>, </a:t>
            </a:r>
            <a:r>
              <a:rPr lang="zh-TW" altLang="en-US" dirty="0"/>
              <a:t>意見強度</a:t>
            </a:r>
            <a:r>
              <a:rPr lang="en-US" altLang="zh-TW" dirty="0"/>
              <a:t>, </a:t>
            </a:r>
            <a:r>
              <a:rPr lang="zh-TW" altLang="en-US" dirty="0"/>
              <a:t>鼓勵表達</a:t>
            </a:r>
            <a:r>
              <a:rPr lang="en-US" altLang="zh-TW" dirty="0"/>
              <a:t>, </a:t>
            </a:r>
            <a:r>
              <a:rPr lang="zh-TW" altLang="en-US" dirty="0"/>
              <a:t>輔助器材</a:t>
            </a:r>
            <a:r>
              <a:rPr lang="en-US" altLang="zh-TW" dirty="0"/>
              <a:t>, </a:t>
            </a:r>
            <a:r>
              <a:rPr lang="zh-TW" altLang="en-US" dirty="0"/>
              <a:t>探索性問題</a:t>
            </a:r>
          </a:p>
          <a:p>
            <a:pPr eaLnBrk="1" hangingPunct="1"/>
            <a:r>
              <a:rPr lang="zh-TW" altLang="en-US" dirty="0"/>
              <a:t>缺點</a:t>
            </a:r>
          </a:p>
          <a:p>
            <a:pPr eaLnBrk="1" hangingPunct="1">
              <a:buFont typeface="Wingdings" pitchFamily="2" charset="2"/>
              <a:buNone/>
            </a:pPr>
            <a:r>
              <a:rPr lang="zh-TW" altLang="en-US" dirty="0"/>
              <a:t>  推論</a:t>
            </a:r>
            <a:r>
              <a:rPr lang="en-US" altLang="zh-TW" dirty="0"/>
              <a:t>, </a:t>
            </a:r>
            <a:r>
              <a:rPr lang="zh-TW" altLang="en-US" dirty="0"/>
              <a:t>訪談設備</a:t>
            </a:r>
            <a:r>
              <a:rPr lang="en-US" altLang="zh-TW" dirty="0"/>
              <a:t>, </a:t>
            </a:r>
            <a:r>
              <a:rPr lang="zh-TW" altLang="en-US" dirty="0"/>
              <a:t>訪談時間</a:t>
            </a:r>
            <a:r>
              <a:rPr lang="en-US" altLang="zh-TW" dirty="0"/>
              <a:t>, </a:t>
            </a:r>
            <a:r>
              <a:rPr lang="zh-TW" altLang="en-US" dirty="0"/>
              <a:t>訪談內容</a:t>
            </a:r>
            <a:r>
              <a:rPr lang="en-US" altLang="zh-TW" dirty="0"/>
              <a:t>, </a:t>
            </a:r>
            <a:r>
              <a:rPr lang="zh-TW" altLang="en-US" dirty="0"/>
              <a:t>訪談情境</a:t>
            </a:r>
            <a:r>
              <a:rPr lang="en-US" altLang="zh-TW" dirty="0"/>
              <a:t>, </a:t>
            </a:r>
            <a:r>
              <a:rPr lang="zh-TW" altLang="en-US" dirty="0"/>
              <a:t>資料處理</a:t>
            </a:r>
            <a:r>
              <a:rPr lang="en-US" altLang="zh-TW" dirty="0"/>
              <a:t>, </a:t>
            </a:r>
            <a:r>
              <a:rPr lang="zh-TW" altLang="en-US" dirty="0"/>
              <a:t>調查機構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E205-0C6D-5478-49EE-490F92D78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社群媒體、大數據（一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9729-1713-880E-BFF8-67464CB0C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PMingLiU" panose="02020500000000000000" pitchFamily="18" charset="-120"/>
                <a:ea typeface="PMingLiU" panose="02020500000000000000" pitchFamily="18" charset="-120"/>
              </a:rPr>
              <a:t>自從Google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 </a:t>
            </a:r>
            <a:r>
              <a:rPr lang="en-US" dirty="0" err="1">
                <a:latin typeface="PMingLiU" panose="02020500000000000000" pitchFamily="18" charset="-120"/>
                <a:ea typeface="PMingLiU" panose="02020500000000000000" pitchFamily="18" charset="-120"/>
              </a:rPr>
              <a:t>trends上面的搜尋某種疾病次數被認為可以預測疾病流行之後，社群媒體便開始成為了解民意的管道。現在Google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 trends </a:t>
            </a:r>
            <a:r>
              <a:rPr lang="en-US" dirty="0" err="1">
                <a:latin typeface="PMingLiU" panose="02020500000000000000" pitchFamily="18" charset="-120"/>
                <a:ea typeface="PMingLiU" panose="02020500000000000000" pitchFamily="18" charset="-120"/>
              </a:rPr>
              <a:t>有各種熱門搜尋關鍵字的排行，例如娛樂、新聞，也可以自己輸入關鍵字看趨勢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。</a:t>
            </a:r>
          </a:p>
          <a:p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例如，去年12月19日星期五下午，憲法法庭做出憲訴法修法違憲的判決，成為熱門話題。當天傍晚，有位名叫張文的男子，在台北捷運及百貨公司隨機傷人，造成多人死亡，馬上成為新的熱門話題。不過，憲法法庭的熱度好像更高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0DD96-5653-978A-E0C7-2D0A3E80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79182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75053B-1C55-DCCC-8D87-EA5CEEFA0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6</a:t>
            </a:fld>
            <a:endParaRPr kumimoji="1" lang="zh-TW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B8A4B5-5601-E6EF-A652-2CC97FF0D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403225"/>
            <a:ext cx="9423400" cy="588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605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E8E4E-FEC1-D485-E699-7C656852B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社群媒體、大數據（二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248C4-2629-D263-9037-361F756091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社群媒體越來越廣為使用之後，開始用爬蟲（</a:t>
            </a:r>
            <a:r>
              <a:rPr lang="en-US" dirty="0" err="1">
                <a:latin typeface="Times New Roman" panose="02020603050405020304" pitchFamily="18" charset="0"/>
                <a:ea typeface="PMingLiU" panose="02020500000000000000" pitchFamily="18" charset="-120"/>
                <a:cs typeface="Times New Roman" panose="02020603050405020304" pitchFamily="18" charset="0"/>
              </a:rPr>
              <a:t>CrowdTangle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外部 </a:t>
            </a:r>
            <a:r>
              <a:rPr lang="en-US" dirty="0">
                <a:latin typeface="Times New Roman" panose="02020603050405020304" pitchFamily="18" charset="0"/>
                <a:ea typeface="PMingLiU" panose="02020500000000000000" pitchFamily="18" charset="-120"/>
                <a:cs typeface="Times New Roman" panose="02020603050405020304" pitchFamily="18" charset="0"/>
              </a:rPr>
              <a:t>API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）下載公開的粉專資料，或者直接爬蟲PTT，獲得網路使用者的討論資料。但是幾乎不可能取得使用者的個人資料，所以很難從社群媒體的發言推論其他人的意見。</a:t>
            </a:r>
          </a:p>
          <a:p>
            <a:r>
              <a:rPr lang="en-US" dirty="0" err="1">
                <a:latin typeface="PMingLiU" panose="02020500000000000000" pitchFamily="18" charset="-120"/>
                <a:ea typeface="PMingLiU" panose="02020500000000000000" pitchFamily="18" charset="-120"/>
              </a:rPr>
              <a:t>可以用文字探勘、情緒分析、主題模型等方法找出發言的主題、正負面或者中性情緒等等，也可以用網絡分析找出哪些粉專影響其他社團等等</a:t>
            </a:r>
            <a:r>
              <a:rPr lang="en-US">
                <a:latin typeface="PMingLiU" panose="02020500000000000000" pitchFamily="18" charset="-120"/>
                <a:ea typeface="PMingLiU" panose="02020500000000000000" pitchFamily="18" charset="-120"/>
              </a:rPr>
              <a:t>。</a:t>
            </a:r>
            <a:endParaRPr lang="en-US" dirty="0">
              <a:latin typeface="PMingLiU" panose="02020500000000000000" pitchFamily="18" charset="-120"/>
              <a:ea typeface="PMingLiU" panose="02020500000000000000" pitchFamily="18" charset="-12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AE64CF-89C4-64E3-1EBE-5B5A0DA4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6302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EF39A5-0689-9310-4A69-F0535AE69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AI </a:t>
            </a:r>
            <a:r>
              <a:rPr lang="zh-TW" altLang="en-US" dirty="0"/>
              <a:t>能否取代或模擬人類受訪者？（一）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637A53-EAC4-F81C-834D-F0333E881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/>
              <a:t> </a:t>
            </a:r>
            <a:r>
              <a:rPr lang="en" altLang="zh-TW" dirty="0"/>
              <a:t>Lisa P. Argyle </a:t>
            </a:r>
            <a:r>
              <a:rPr lang="zh-TW" altLang="en-US" dirty="0"/>
              <a:t>等人在 </a:t>
            </a:r>
            <a:r>
              <a:rPr lang="en" altLang="zh-TW" i="1" dirty="0"/>
              <a:t>Out of One, Many: Using Language Models to Simulate Human Samples</a:t>
            </a:r>
            <a:r>
              <a:rPr lang="en" altLang="zh-TW" dirty="0"/>
              <a:t> (2023)</a:t>
            </a:r>
            <a:r>
              <a:rPr lang="zh-TW" altLang="en-US" dirty="0"/>
              <a:t>這篇文章中提出「矽取樣」</a:t>
            </a:r>
            <a:r>
              <a:rPr lang="en-US" altLang="zh-TW" dirty="0"/>
              <a:t>(silicon sampling)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zh-TW" altLang="en-US" dirty="0"/>
              <a:t>研究者「餵」</a:t>
            </a:r>
            <a:r>
              <a:rPr lang="en-US" altLang="zh-TW" dirty="0"/>
              <a:t>GPT-3</a:t>
            </a:r>
            <a:r>
              <a:rPr lang="zh-TW" altLang="en-US" dirty="0"/>
              <a:t>個人故事，例如「</a:t>
            </a:r>
            <a:r>
              <a:rPr lang="en-US" altLang="zh-TW" dirty="0"/>
              <a:t>I am a strong liberal. I support progressive values. I support open immigration and women’s right to choose. …I voted for____</a:t>
            </a:r>
            <a:r>
              <a:rPr lang="zh-TW" altLang="en-US" dirty="0"/>
              <a:t>」產生</a:t>
            </a:r>
            <a:r>
              <a:rPr lang="en-US" altLang="zh-TW" dirty="0"/>
              <a:t> 2,107</a:t>
            </a:r>
            <a:r>
              <a:rPr lang="zh-TW" altLang="en-US" dirty="0"/>
              <a:t>樣本，然後要求這些樣本描述共和黨、民主黨等等，再對照真實受訪者的答案。</a:t>
            </a:r>
            <a:endParaRPr lang="en-US" altLang="zh-TW" dirty="0"/>
          </a:p>
          <a:p>
            <a:r>
              <a:rPr lang="zh-TW" altLang="en-US" dirty="0"/>
              <a:t>發現</a:t>
            </a:r>
            <a:r>
              <a:rPr lang="en-US" altLang="zh-TW" dirty="0"/>
              <a:t>AI</a:t>
            </a:r>
            <a:r>
              <a:rPr lang="zh-TW" altLang="en-US" dirty="0"/>
              <a:t>與真人受訪者會用類似的形容詞描述政黨。</a:t>
            </a:r>
            <a:endParaRPr lang="en-US" altLang="zh-TW" dirty="0"/>
          </a:p>
          <a:p>
            <a:r>
              <a:rPr lang="zh-TW" altLang="en-US" dirty="0"/>
              <a:t>也發現</a:t>
            </a:r>
            <a:r>
              <a:rPr lang="en-US" altLang="zh-TW" dirty="0"/>
              <a:t>AI</a:t>
            </a:r>
            <a:r>
              <a:rPr lang="zh-TW" altLang="en-US" dirty="0"/>
              <a:t>會從多個機率分佈組成對於問題的反應，類似人類的思維模式。</a:t>
            </a:r>
          </a:p>
          <a:p>
            <a:endParaRPr kumimoji="1"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DB1C-EEE8-6BBD-2F5B-722C7C734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77105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23D97B-08E5-4122-7518-6CDC29EFE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181" y="0"/>
            <a:ext cx="7772400" cy="658255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C259B-4BF3-2842-235A-FC9CF0B17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725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EF39A5-0689-9310-4A69-F0535AE69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AI </a:t>
            </a:r>
            <a:r>
              <a:rPr lang="zh-TW" altLang="en-US" dirty="0"/>
              <a:t>能否取代或模擬人類受訪者？（二）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637A53-EAC4-F81C-834D-F0333E881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6646" y="2384148"/>
            <a:ext cx="7796540" cy="3634389"/>
          </a:xfrm>
        </p:spPr>
        <p:txBody>
          <a:bodyPr>
            <a:normAutofit/>
          </a:bodyPr>
          <a:lstStyle/>
          <a:p>
            <a:r>
              <a:rPr lang="en" altLang="zh-TW" dirty="0"/>
              <a:t>Argyle</a:t>
            </a:r>
            <a:r>
              <a:rPr lang="zh-TW" altLang="en-US" dirty="0"/>
              <a:t>等人</a:t>
            </a:r>
            <a:r>
              <a:rPr lang="zh-TW" altLang="en-US" dirty="0">
                <a:latin typeface="+mn-ea"/>
              </a:rPr>
              <a:t>「告知」</a:t>
            </a:r>
            <a:r>
              <a:rPr lang="en-US" altLang="zh-TW" dirty="0">
                <a:latin typeface="+mn-ea"/>
              </a:rPr>
              <a:t>GPT-3</a:t>
            </a:r>
            <a:r>
              <a:rPr lang="zh-TW" altLang="en-US" dirty="0">
                <a:latin typeface="+mn-ea"/>
              </a:rPr>
              <a:t>產生的</a:t>
            </a:r>
            <a:r>
              <a:rPr lang="en-US" altLang="zh-TW" dirty="0">
                <a:latin typeface="+mn-ea"/>
              </a:rPr>
              <a:t> 2,107</a:t>
            </a:r>
            <a:r>
              <a:rPr lang="zh-TW" altLang="en-US" dirty="0">
                <a:latin typeface="+mn-ea"/>
              </a:rPr>
              <a:t>樣本</a:t>
            </a:r>
            <a:r>
              <a:rPr lang="ja-JP" altLang="en-US">
                <a:latin typeface="+mn-ea"/>
              </a:rPr>
              <a:t>十個與投票行為高度相關的變項：種族</a:t>
            </a:r>
            <a:r>
              <a:rPr lang="en-US" altLang="ja-JP" dirty="0">
                <a:latin typeface="+mn-ea"/>
              </a:rPr>
              <a:t>/</a:t>
            </a:r>
            <a:r>
              <a:rPr lang="ja-JP" altLang="en-US">
                <a:latin typeface="+mn-ea"/>
              </a:rPr>
              <a:t>族裔認同、性別、年齡、自由派</a:t>
            </a:r>
            <a:r>
              <a:rPr lang="en-US" altLang="ja-JP" dirty="0">
                <a:latin typeface="+mn-ea"/>
              </a:rPr>
              <a:t>–</a:t>
            </a:r>
            <a:r>
              <a:rPr lang="ja-JP" altLang="en-US">
                <a:latin typeface="+mn-ea"/>
              </a:rPr>
              <a:t>保守派、政黨認等等，</a:t>
            </a:r>
            <a:r>
              <a:rPr lang="zh-TW" altLang="en-US" dirty="0"/>
              <a:t>然後要求這些樣本回答會投給共和黨還是民主黨候選人等等，再對照真實受訪者的答案。</a:t>
            </a:r>
            <a:endParaRPr lang="en-US" altLang="zh-TW" dirty="0"/>
          </a:p>
          <a:p>
            <a:r>
              <a:rPr lang="zh-TW" altLang="en-US" dirty="0"/>
              <a:t>發現在不同的年齡、種族、意識形態等等細分類，</a:t>
            </a:r>
            <a:r>
              <a:rPr lang="en-US" altLang="zh-TW" dirty="0"/>
              <a:t>GPT-3</a:t>
            </a:r>
            <a:r>
              <a:rPr lang="zh-TW" altLang="en-US" dirty="0"/>
              <a:t>的樣本與真實受訪者的回答高度相關。</a:t>
            </a:r>
          </a:p>
          <a:p>
            <a:endParaRPr kumimoji="1"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4BA50F-0AD8-5EA5-3F27-8EF6D578E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2174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EBDCD-FDD4-4BFA-AA04-806497B3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E5E762-73EF-2984-9CF4-A42472C7D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反思與批判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621356-8E46-DB15-2AF2-D24278AE6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" altLang="zh-TW" dirty="0"/>
              <a:t>James Bisbee </a:t>
            </a:r>
            <a:r>
              <a:rPr lang="zh-TW" altLang="en-US" dirty="0"/>
              <a:t>等人</a:t>
            </a:r>
            <a:r>
              <a:rPr lang="en-US" altLang="zh-TW" dirty="0"/>
              <a:t>(2023)</a:t>
            </a:r>
            <a:r>
              <a:rPr lang="zh-TW" altLang="en-US" dirty="0"/>
              <a:t>在</a:t>
            </a:r>
            <a:r>
              <a:rPr lang="en" altLang="zh-TW" i="1" dirty="0"/>
              <a:t>Synthetic Replacements for Human Survey Data? The Perils of Large Language Models</a:t>
            </a:r>
            <a:r>
              <a:rPr lang="en" altLang="zh-TW" dirty="0"/>
              <a:t> </a:t>
            </a:r>
            <a:r>
              <a:rPr lang="zh-TW" altLang="en-US" dirty="0"/>
              <a:t>這一個研究中，把 </a:t>
            </a:r>
            <a:r>
              <a:rPr lang="en-US" altLang="zh-TW" dirty="0"/>
              <a:t>7,530 </a:t>
            </a:r>
            <a:r>
              <a:rPr lang="zh-TW" altLang="en-US" dirty="0"/>
              <a:t>位 </a:t>
            </a:r>
            <a:r>
              <a:rPr lang="en-US" altLang="zh-TW" dirty="0"/>
              <a:t>ANES </a:t>
            </a:r>
            <a:r>
              <a:rPr lang="zh-TW" altLang="en-US" dirty="0"/>
              <a:t>受訪者的背景給 </a:t>
            </a:r>
            <a:r>
              <a:rPr lang="en-US" altLang="zh-TW" dirty="0"/>
              <a:t>LLM</a:t>
            </a:r>
            <a:r>
              <a:rPr lang="zh-TW" altLang="en-US" dirty="0"/>
              <a:t>，並為每個人生成 </a:t>
            </a:r>
            <a:r>
              <a:rPr lang="en-US" altLang="zh-TW" dirty="0"/>
              <a:t>30 </a:t>
            </a:r>
            <a:r>
              <a:rPr lang="zh-TW" altLang="en-US" dirty="0"/>
              <a:t>名具有相同背景的「虛擬受訪者」；這些虛擬受訪者回答整份問卷後，總共產生了 </a:t>
            </a:r>
            <a:r>
              <a:rPr lang="en-US" altLang="zh-TW" dirty="0"/>
              <a:t>361 </a:t>
            </a:r>
            <a:r>
              <a:rPr lang="zh-TW" altLang="en-US" dirty="0"/>
              <a:t>萬筆虛擬問卷回答。</a:t>
            </a:r>
          </a:p>
          <a:p>
            <a:r>
              <a:rPr lang="zh-TW" altLang="en-US" dirty="0"/>
              <a:t>這篇文章發現 </a:t>
            </a:r>
            <a:r>
              <a:rPr lang="en" altLang="zh-TW" dirty="0"/>
              <a:t>AI</a:t>
            </a:r>
            <a:r>
              <a:rPr lang="zh-TW" altLang="en-US" dirty="0"/>
              <a:t>合成的受訪者與真人受訪者的回答有相當的差距，原因可能是真實世界的受訪者可能更複雜、差異更大，</a:t>
            </a:r>
            <a:r>
              <a:rPr lang="en-US" altLang="zh-TW" dirty="0"/>
              <a:t>AI</a:t>
            </a:r>
            <a:r>
              <a:rPr lang="zh-TW" altLang="en-US" dirty="0"/>
              <a:t>沒辦法複製出個別議題的意見分佈或者態度跟態度之間的關係。</a:t>
            </a:r>
          </a:p>
          <a:p>
            <a:endParaRPr lang="zh-TW" altLang="en-US" dirty="0"/>
          </a:p>
          <a:p>
            <a:endParaRPr kumimoji="1"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DAA4A-82DB-C804-17DF-295D8BA4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4645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B00A72-5051-AB0B-B61B-4A7FA62DC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AI </a:t>
            </a:r>
            <a:r>
              <a:rPr lang="zh-TW" altLang="en-US" dirty="0"/>
              <a:t>處理問卷數據：自動編碼開放式問題 </a:t>
            </a:r>
            <a:r>
              <a:rPr lang="en-US" altLang="zh-TW" dirty="0"/>
              <a:t>(</a:t>
            </a:r>
            <a:r>
              <a:rPr lang="en" altLang="zh-TW" dirty="0"/>
              <a:t>Open-ended Coding)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E46334-532C-684A-16C6-9E1FF351E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傳統民調多用選擇題，因為開放式問題（如：「您為什麼不喜歡這位候選人？」）需要耗費大量人力閱讀並分類（</a:t>
            </a:r>
            <a:r>
              <a:rPr lang="en" altLang="zh-TW" dirty="0"/>
              <a:t>Coding</a:t>
            </a:r>
            <a:r>
              <a:rPr lang="zh-TW" altLang="en" dirty="0"/>
              <a:t>）。</a:t>
            </a:r>
            <a:endParaRPr lang="en-US" altLang="zh-TW" dirty="0"/>
          </a:p>
          <a:p>
            <a:r>
              <a:rPr lang="zh-TW" altLang="en-US" dirty="0"/>
              <a:t>可以應用</a:t>
            </a:r>
            <a:r>
              <a:rPr lang="en" altLang="zh-TW" dirty="0"/>
              <a:t>AI </a:t>
            </a:r>
            <a:r>
              <a:rPr lang="zh-TW" altLang="en-US" dirty="0"/>
              <a:t>或者機器學習閱讀這些答案，加以分類成一些主題，然後進行分析，節省時間。</a:t>
            </a:r>
          </a:p>
          <a:p>
            <a:endParaRPr kumimoji="1"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236F2-21D4-A353-C860-8A6C8F641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38029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1E9BB2-FC91-1658-842B-49331B532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機器學習插補遺漏值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A852F6E-0B9D-2A64-DEE4-7A52DB5C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PMingLiU" panose="02020500000000000000" pitchFamily="18" charset="-120"/>
                <a:ea typeface="PMingLiU" panose="02020500000000000000" pitchFamily="18" charset="-120"/>
                <a:cs typeface="Times New Roman" panose="02020603050405020304" pitchFamily="18" charset="0"/>
              </a:rPr>
              <a:t>調查當中有的受訪者不願意或者不知道怎麼回答，我們稱之為遺漏值。我們用機器學習方式補足這些遺漏值，就可以增加可以分析的樣本數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  <a:cs typeface="Times New Roman" panose="02020603050405020304" pitchFamily="18" charset="0"/>
              </a:rPr>
              <a:t>。</a:t>
            </a:r>
          </a:p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步驟是把缺失值當作需要預測的目標（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target），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把所有沒有缺失的其他變數當作特徵（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predictors），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用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Rainforest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去學習資料的結構，然後預測缺失的值。</a:t>
            </a:r>
            <a:endParaRPr kumimoji="1" lang="zh-TW" altLang="en-US" dirty="0">
              <a:latin typeface="PMingLiU" panose="02020500000000000000" pitchFamily="18" charset="-120"/>
              <a:ea typeface="PMingLiU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6E7CF-1418-385D-163F-70A783DF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60717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E0198-0624-F2C8-F3E5-B77727FF7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用人工智慧插補遺漏值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0CE79-95CD-F964-2656-510D0DB80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為每個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missing strata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建立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LLM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的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background prompt</a:t>
            </a:r>
          </a:p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讓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AI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生成多名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synthetic respondents（30–100）</a:t>
            </a:r>
          </a:p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把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AI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的分布當作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prior，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結合真實調查的後驗估計</a:t>
            </a:r>
            <a:endParaRPr lang="en-US" altLang="ja-JP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做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sensitivity analysis（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檢查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AI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生成的偏誤）</a:t>
            </a:r>
            <a:endParaRPr lang="en-US" altLang="ja-JP" dirty="0">
              <a:latin typeface="PMingLiU" panose="02020500000000000000" pitchFamily="18" charset="-120"/>
              <a:ea typeface="PMingLiU" panose="02020500000000000000" pitchFamily="18" charset="-120"/>
            </a:endParaRPr>
          </a:p>
          <a:p>
            <a:pPr marL="0" indent="0">
              <a:buNone/>
            </a:pP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隨機抽 </a:t>
            </a:r>
            <a:r>
              <a:rPr lang="en-US" altLang="ja-JP" dirty="0">
                <a:latin typeface="PMingLiU" panose="02020500000000000000" pitchFamily="18" charset="-120"/>
                <a:ea typeface="PMingLiU" panose="02020500000000000000" pitchFamily="18" charset="-120"/>
              </a:rPr>
              <a:t>20–30% </a:t>
            </a:r>
            <a:r>
              <a:rPr lang="ja-JP" altLang="en-US" b="1">
                <a:latin typeface="PMingLiU" panose="02020500000000000000" pitchFamily="18" charset="-120"/>
                <a:ea typeface="PMingLiU" panose="02020500000000000000" pitchFamily="18" charset="-120"/>
              </a:rPr>
              <a:t>有回答的人類樣本，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把他們的回答「人工變成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missing」，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用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AI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插補，比較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AI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的預測 </a:t>
            </a:r>
            <a:r>
              <a:rPr 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vs </a:t>
            </a:r>
            <a:r>
              <a:rPr lang="ja-JP" altLang="en-US">
                <a:latin typeface="PMingLiU" panose="02020500000000000000" pitchFamily="18" charset="-120"/>
                <a:ea typeface="PMingLiU" panose="02020500000000000000" pitchFamily="18" charset="-120"/>
              </a:rPr>
              <a:t>真實回答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1AA75-57BC-B55B-9B04-2B0F0BEF4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D582EC-0139-D049-9F6E-A8F88D3B833C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84059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麥迪遜">
  <a:themeElements>
    <a:clrScheme name="麥迪遜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麥迪遜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麥迪遜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{82E5F6E2-A870-6344-8E47-33166ADEBCE1}tf16401378</Template>
  <TotalTime>940</TotalTime>
  <Words>834</Words>
  <Application>Microsoft Macintosh PowerPoint</Application>
  <PresentationFormat>寬螢幕</PresentationFormat>
  <Paragraphs>55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2" baseType="lpstr">
      <vt:lpstr>PMingLiU</vt:lpstr>
      <vt:lpstr>MS Shell Dlg 2</vt:lpstr>
      <vt:lpstr>Arial</vt:lpstr>
      <vt:lpstr>Calibri</vt:lpstr>
      <vt:lpstr>Times New Roman</vt:lpstr>
      <vt:lpstr>Wingdings</vt:lpstr>
      <vt:lpstr>Wingdings 3</vt:lpstr>
      <vt:lpstr>麥迪遜</vt:lpstr>
      <vt:lpstr>質性研究、社群媒體與人工智慧</vt:lpstr>
      <vt:lpstr>質性研究（一）</vt:lpstr>
      <vt:lpstr>質性研究（二）</vt:lpstr>
      <vt:lpstr>焦點團體</vt:lpstr>
      <vt:lpstr>社群媒體、大數據（一）</vt:lpstr>
      <vt:lpstr>PowerPoint 簡報</vt:lpstr>
      <vt:lpstr>社群媒體、大數據（二）</vt:lpstr>
      <vt:lpstr>AI 能否取代或模擬人類受訪者？（一） </vt:lpstr>
      <vt:lpstr>PowerPoint 簡報</vt:lpstr>
      <vt:lpstr>AI 能否取代或模擬人類受訪者？（二） </vt:lpstr>
      <vt:lpstr>反思與批判</vt:lpstr>
      <vt:lpstr>AI 處理問卷數據：自動編碼開放式問題 (Open-ended Coding)</vt:lpstr>
      <vt:lpstr>機器學習插補遺漏值</vt:lpstr>
      <vt:lpstr>用人工智慧插補遺漏值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質性研究、社群媒體與人工智慧</dc:title>
  <dc:creator>Chia-hung Tsai</dc:creator>
  <cp:lastModifiedBy>Chia-hung Tsai</cp:lastModifiedBy>
  <cp:revision>12</cp:revision>
  <dcterms:created xsi:type="dcterms:W3CDTF">2025-12-19T08:48:01Z</dcterms:created>
  <dcterms:modified xsi:type="dcterms:W3CDTF">2026-01-05T08:00:22Z</dcterms:modified>
</cp:coreProperties>
</file>