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9" r:id="rId3"/>
    <p:sldId id="260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5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5755"/>
  </p:normalViewPr>
  <p:slideViewPr>
    <p:cSldViewPr snapToGrid="0">
      <p:cViewPr varScale="1">
        <p:scale>
          <a:sx n="108" d="100"/>
          <a:sy n="108" d="100"/>
        </p:scale>
        <p:origin x="7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8549C9-F1F2-A344-9318-AC3AB4654B7E}" type="datetimeFigureOut">
              <a:rPr lang="en-US" smtClean="0"/>
              <a:t>3/17/26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8A1D9D-B5FD-8C44-B376-87A4AA1261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195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9D1C4-10C4-2E9F-5F3B-D835D4DB92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46E4F2-7FDB-77A9-4AB5-8E20E70E5A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B6177-5485-5E7E-ABD3-81FAB326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B731F-7F54-EF4E-BC14-D4454C95FF4D}" type="datetime1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4E5E-A7BD-3EBE-B8D5-7A666231C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16BEE-CE7C-86EE-2914-ABE5BBD5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86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8689C-316C-BAC8-0C60-4D6FE59E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B9673-CFFC-4707-B781-2DC3EACF2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6D07-2657-BE71-5260-9287F1DAF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43121-CDD1-174D-9095-06B3974B3CC1}" type="datetime1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4C41-BB70-1FCC-8578-1360ADC59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C362-7B0A-F33A-D6DC-567128B92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335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AE0D-CFBB-0F53-A2AD-692FBC4BD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EE5BC-34D8-9D68-FE7D-A0D2546A1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F4AD3-7289-D5CB-2A5C-6D306ABA8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2BAF9-EAD3-1641-87AF-ADC71D8222CD}" type="datetime1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BA442-AC0E-C1C3-3308-FFAFBC78D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EA799-1610-8A6B-77E0-A40B49B0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11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01B37-CD3C-31C5-04C9-76079E4FC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C19E3-EF27-A09D-99C4-A09F83757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45470-D1AC-A09D-7550-4360D6773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DF9F5-F533-F729-C898-7B1E13C6B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7A49D-4C23-6A49-AF9D-C0E1C1130921}" type="datetime1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4E930-A44F-BD91-5CF5-8961F49DD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53436D-9139-45AE-EEE3-BE76C6A3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1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65E3F-6BE9-7D78-DCA4-B0726064E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79DA6-881E-5DDD-EAC7-66A8251F0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0D745-6E3C-AFE3-6184-A162F7AF3C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C8FBD-C24D-C01E-AADB-C4F55CB0C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CF2A7-7431-1439-2261-2A41DF6F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61166D-85F0-EB57-9657-7D5E74543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16F59-8951-4749-B49C-6C88C0B4B6BD}" type="datetime1">
              <a:rPr lang="en-US" smtClean="0"/>
              <a:t>3/17/26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09DD5C-5F82-A1B0-7384-5495581E5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7FAB2-DD68-52EC-029D-D14A48E5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8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7281-6A9B-0939-7E18-80A3A800A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46B42E-DF40-D4B0-ABC7-C980F99E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2BBDF-C485-174D-8051-FF3ED3DF33C6}" type="datetime1">
              <a:rPr lang="en-US" smtClean="0"/>
              <a:t>3/17/26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79666-1FC2-D7B9-01A0-0EB0BF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4DA989-73AE-785D-FC4B-CE591A0D1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4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0EEB0E-1A66-665C-2816-8906616DB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16C8-35EA-C448-A7DB-295F753FB635}" type="datetime1">
              <a:rPr lang="en-US" smtClean="0"/>
              <a:t>3/17/26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96B52-794F-DF33-0D29-76E7E8C0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D5823-189C-2040-1358-6D61F414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5DD4-4B4A-3455-8C21-E3BF4A50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3D71E-B5FF-CD05-E327-1A6DE2003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11B76-22F9-3979-2199-DB800AA2A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931D2-9E23-78EB-9A41-01A4326F0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BA6818-685C-B142-BE10-A6D54A85D7FF}" type="datetime1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873F4-4FD5-6F46-BA13-0A9FDDA5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D0AC0-F263-C2B0-FA4B-E6D26281E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79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245D0-04F7-A504-95F3-804098D41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C9E57-E525-B44B-DFFF-53EA7B26E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B3A571-088E-6D99-68E4-2984A1282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9C560-F853-5059-139B-804BFC976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4D57B-5B66-2F49-AB7C-362DD22B45D8}" type="datetime1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3660A-A890-E4DA-6D80-796627628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A0F3A-753B-BC76-6F55-8CEC7CC4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13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EF6-E576-0A12-CB1C-7E493A738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647DB6-223C-7733-A4F7-AA5625963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6927A-7D51-301B-AF38-CE551C01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AAEB-F940-CA44-B742-2110711973A7}" type="datetime1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16AEE-F89E-A77B-9530-F4F63AA5F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07B94-A394-D3CF-25AB-74C40FF4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287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E8D4DA-0738-22C4-1450-507823704C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699744-1523-C7A9-D865-F99F5095A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CB5F3-603B-CB21-555E-448030D8D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FC7EA-A73C-4146-9B14-54C11597AA40}" type="datetime1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CD49F-9F4B-37C1-1165-9DCA97504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9622E-8639-E6AB-8BDE-2B7F55B88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76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C971F1-6481-4050-00C9-A33D33CE4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408A0F-5D53-2152-E470-49923B10E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70612-6EE7-86AA-99AA-8B3E14093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25DC53-D744-A54C-8957-51F9F93FF803}" type="datetime1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70635-6FA9-E3DF-44DA-1BA068D05C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5928-0209-EEAC-4AA5-B6BCB7B43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7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2190-C2B0-E47F-55A3-6BBBE700A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sz="6000"/>
              <a:t>網路民意調查的</a:t>
            </a:r>
            <a:br>
              <a:rPr lang="en-US" altLang="ja-JP" sz="6000" dirty="0"/>
            </a:br>
            <a:r>
              <a:rPr lang="ja-JP" altLang="en-US" sz="6000"/>
              <a:t>理論與實際</a:t>
            </a:r>
            <a:endParaRPr lang="en-US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82A46-16E0-1D53-EF0E-D6580A739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3/18/2025</a:t>
            </a:r>
          </a:p>
        </p:txBody>
      </p:sp>
    </p:spTree>
    <p:extLst>
      <p:ext uri="{BB962C8B-B14F-4D97-AF65-F5344CB8AC3E}">
        <p14:creationId xmlns:p14="http://schemas.microsoft.com/office/powerpoint/2010/main" val="515373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400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課程目標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網路調查的特色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網路調查的優點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網路調查的問題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</a:t>
            </a: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實務</a:t>
            </a:r>
            <a:endParaRPr lang="en-US" altLang="zh-TW" sz="2000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B3FC9-8666-6C80-0610-26E10A33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136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網路調查的特色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網路普及之後，研究者可以利用email寄問</a:t>
            </a:r>
            <a:r>
              <a:rPr lang="zh-TW" altLang="en-US" sz="2000" dirty="0"/>
              <a:t>卷給受訪者</a:t>
            </a:r>
            <a:r>
              <a:rPr lang="en-US" sz="2000" dirty="0"/>
              <a:t>，</a:t>
            </a:r>
            <a:r>
              <a:rPr lang="en-US" sz="2000" dirty="0" err="1"/>
              <a:t>或者請受訪者直接登入網路介面回答問題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出現越來越多方法克服非機率抽樣的問題，使網路調查的結果更接近電話調查或者面對面調查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網路調查有許多優點，主要可以克服透過訪員接觸受訪者的問題，改由受訪者自己填寫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網路調查加上實驗設計，受到研究者的歡迎</a:t>
            </a:r>
            <a:r>
              <a:rPr lang="en-US" sz="2000" dirty="0"/>
              <a:t>。</a:t>
            </a:r>
          </a:p>
          <a:p>
            <a:pPr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166A0-0716-0F20-CCC6-258987145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61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如果母體中的每一個成員都有一個大於零且已知的被選中機會，稱為機率抽樣。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由於遵循隨機原則，研究者可以使用統計公式計算信心水準與誤差範圍，使得樣本特徵可以推論至整個母體。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假設我們進行了一次網路調查，回收了 </a:t>
                </a:r>
                <a:r>
                  <a:rPr lang="en-US" altLang="ja-JP" sz="2000" dirty="0"/>
                  <a:t>1,067 </a:t>
                </a:r>
                <a:r>
                  <a:rPr lang="ja-JP" altLang="en-US" sz="2000"/>
                  <a:t>份 有效問卷，假設得到結果如下：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樣本平均值 </a:t>
                </a:r>
                <a:r>
                  <a:rPr lang="en-US" altLang="ja-JP" sz="2000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ja-JP" sz="2000" dirty="0"/>
                  <a:t>)</a:t>
                </a:r>
                <a:r>
                  <a:rPr lang="ja-JP" altLang="en-US" sz="2000"/>
                  <a:t>：</a:t>
                </a:r>
                <a:r>
                  <a:rPr lang="en-US" altLang="ja-JP" sz="2000" dirty="0"/>
                  <a:t>5.5 </a:t>
                </a:r>
                <a:r>
                  <a:rPr lang="ja-JP" altLang="en-US" sz="2000"/>
                  <a:t>分，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樣本標準差 </a:t>
                </a:r>
                <a:r>
                  <a:rPr lang="en-US" altLang="ja-JP" sz="2000" dirty="0"/>
                  <a:t>(s )</a:t>
                </a:r>
                <a:r>
                  <a:rPr lang="ja-JP" altLang="en-US" sz="2000"/>
                  <a:t>： </a:t>
                </a:r>
                <a:r>
                  <a:rPr lang="en-US" altLang="ja-JP" sz="2000" dirty="0"/>
                  <a:t>2.5 </a:t>
                </a:r>
                <a:r>
                  <a:rPr lang="ja-JP" altLang="en-US" sz="2000"/>
                  <a:t>分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信心水準：</a:t>
                </a:r>
                <a:r>
                  <a:rPr lang="en-US" altLang="ja-JP" sz="2000" dirty="0"/>
                  <a:t>95% (</a:t>
                </a:r>
                <a:r>
                  <a:rPr lang="en-US" altLang="ja-JP" sz="2000" i="1" dirty="0"/>
                  <a:t>z</a:t>
                </a:r>
                <a:r>
                  <a:rPr lang="en-US" altLang="ja-JP" sz="2000" dirty="0"/>
                  <a:t> = 1.96)</a:t>
                </a:r>
                <a:r>
                  <a:rPr lang="ja-JP" altLang="en-US" sz="2000"/>
                  <a:t> 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標準誤 </a:t>
                </a:r>
                <a:r>
                  <a:rPr lang="en-US" altLang="ja-JP" sz="2000" dirty="0"/>
                  <a:t>(Standard Error)</a:t>
                </a:r>
                <a:r>
                  <a:rPr lang="ja-JP" altLang="en-US" sz="2000"/>
                  <a:t>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2.5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1067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ja-JP" sz="2000" dirty="0"/>
                  <a:t> 0.0766</a:t>
                </a:r>
                <a:endParaRPr lang="en-US" sz="2000" dirty="0"/>
              </a:p>
              <a:p>
                <a:pPr>
                  <a:buFont typeface="Wingdings" pitchFamily="2" charset="2"/>
                  <a:buChar char="l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1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E2491-AA9A-BF63-9395-E47BB3443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75C55C-39ED-D1E3-ADBC-6F08C2F7E1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158" y="0"/>
            <a:ext cx="77716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617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非機率抽樣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非機率抽樣並非基於隨機原則，而是根據研究者的便利性、判斷或特定標準來選取樣本。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缺乏代表性， 可能集中在少數人，無法推論至全體母體。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抽樣機率不明，無法計算精確的抽樣誤差。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便利抽樣、判斷抽樣（專家抽樣）、滾雪球抽樣、配額抽樣都屬於非機率抽樣。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22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9EBEF9-A064-EC8F-F179-60480554D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7825AB-9123-046E-5144-047BBDB4F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405" y="993274"/>
            <a:ext cx="7772400" cy="5097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1867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網路調查的非機率抽樣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自願參與偏差 </a:t>
            </a:r>
            <a:r>
              <a:rPr lang="en-US" altLang="ja-JP" sz="2000" dirty="0"/>
              <a:t>(Self-Selection Bias)</a:t>
            </a:r>
            <a:r>
              <a:rPr lang="ja-JP" altLang="en-US" sz="2000"/>
              <a:t>：由對該主題感興趣、有強烈意見，或單純想領取獎勵的人自行決定加入。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涵蓋誤差 </a:t>
            </a:r>
            <a:r>
              <a:rPr lang="en-US" altLang="ja-JP" sz="2000" dirty="0"/>
              <a:t>(Coverage Error)</a:t>
            </a:r>
            <a:r>
              <a:rPr lang="ja-JP" altLang="en-US" sz="2000"/>
              <a:t>：並非所有人都有同等的機會上網或看到調查連結。例如高齡族群、低收入者的上網頻率較低。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非隨機的「便利性」：研究者通常將連結發布在自己能觸及的社群媒體、論壇或 </a:t>
            </a:r>
            <a:r>
              <a:rPr lang="en-US" altLang="ja-JP" sz="2000" dirty="0"/>
              <a:t>LINE </a:t>
            </a:r>
            <a:r>
              <a:rPr lang="ja-JP" altLang="en-US" sz="2000"/>
              <a:t>群組中。受限於研究者的「同溫層」。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樣本性質難以驗證：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重複填答： 同一人可能為了獎品多次填寫。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機器人與無效樣本： </a:t>
            </a:r>
            <a:r>
              <a:rPr lang="en-US" altLang="ja-JP" sz="2000" dirty="0"/>
              <a:t>AI </a:t>
            </a:r>
            <a:r>
              <a:rPr lang="ja-JP" altLang="en-US" sz="2000"/>
              <a:t>或自動化程式可能產生大量垃圾數據。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身分造假： 受訪者可能為了領取獎勵而虛報符合填答問卷條件的年齡或職業。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7278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如何修正網路調查的非機率抽樣？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配額抽樣 </a:t>
                </a:r>
                <a:r>
                  <a:rPr lang="en-US" altLang="ja-JP" sz="2000" dirty="0"/>
                  <a:t>(Quota Sampling)</a:t>
                </a:r>
                <a:r>
                  <a:rPr lang="ja-JP" altLang="en-US" sz="2000"/>
                  <a:t>： 如果資料庫中有足夠的樣本，可以設定性別、年齡比例，一旦某族群收滿足夠的樣本，就停止發送給受訪者。</a:t>
                </a:r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加權校正 </a:t>
                </a:r>
                <a:r>
                  <a:rPr lang="en-US" altLang="ja-JP" sz="2000" dirty="0"/>
                  <a:t>(Weighting)</a:t>
                </a:r>
                <a:r>
                  <a:rPr lang="ja-JP" altLang="en-US" sz="2000"/>
                  <a:t>： 根據人口普查數據，對受訪者進行事後數學調整。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例如：如果用電話訪問招募受訪者，然後寄同意書給受訪者，最後寄問卷給受訪者。這一套過程，有三次的選擇偏誤。</a:t>
                </a:r>
                <a:endParaRPr lang="en-US" altLang="ja-JP" sz="200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電話樣本「被抽到且完成訪問」（</a:t>
                </a:r>
                <a:r>
                  <a:rPr lang="en-US" dirty="0"/>
                  <a:t>reference sample）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在電話訪問後「同意加入 </a:t>
                </a:r>
                <a:r>
                  <a:rPr lang="en-US" dirty="0"/>
                  <a:t>panel」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在同意加入後「實際完成線上問卷」</a:t>
                </a:r>
              </a:p>
              <a:p>
                <a:r>
                  <a:rPr lang="ja-JP" altLang="en-US" sz="2100"/>
                  <a:t>最後資料的集合是：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ja-JP" sz="21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1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1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</m:oMath>
                </a14:m>
                <a:endParaRPr lang="ja-JP" altLang="en-US" sz="2100"/>
              </a:p>
              <a:p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endParaRPr lang="en-US" sz="2000" dirty="0"/>
              </a:p>
              <a:p>
                <a:pPr>
                  <a:buFont typeface="Wingdings" pitchFamily="2" charset="2"/>
                  <a:buChar char="l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497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43FC3-4047-4A6A-6B74-C624EA381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CE2E6-2E15-4EE8-1671-5A91A471FF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ja-JP" altLang="en-US" sz="2400"/>
                  <a:t>在電話樣本內，完成線上問卷的條件機率為：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𝐽𝑅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=1,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altLang="ja-JP" sz="2400" b="0" dirty="0"/>
              </a:p>
              <a:p>
                <a:r>
                  <a:rPr lang="ja-JP" altLang="en-US" sz="2400"/>
                  <a:t>在「已經完成電話訪問（</a:t>
                </a:r>
                <a:r>
                  <a:rPr lang="en-US" sz="2400" i="1" dirty="0"/>
                  <a:t>S</a:t>
                </a:r>
                <a:r>
                  <a:rPr lang="en-US" sz="2400" dirty="0"/>
                  <a:t>=1）」</a:t>
                </a:r>
                <a:r>
                  <a:rPr lang="ja-JP" altLang="en-US" sz="2400"/>
                  <a:t>且給定特徵 </a:t>
                </a:r>
                <a:r>
                  <a:rPr lang="en-US" altLang="ja-JP" sz="2400" dirty="0"/>
                  <a:t>X</a:t>
                </a:r>
                <a:r>
                  <a:rPr lang="en-US" sz="2400" dirty="0"/>
                  <a:t> </a:t>
                </a:r>
                <a:r>
                  <a:rPr lang="ja-JP" altLang="en-US" sz="2400"/>
                  <a:t>的情況下，一個人同時會「加入面板」且「完成線上問卷」的機率等於：</a:t>
                </a:r>
                <a:r>
                  <a:rPr lang="en-US" sz="2400" dirty="0"/>
                  <a:t>「</a:t>
                </a:r>
                <a:r>
                  <a:rPr lang="ja-JP" altLang="en-US" sz="2400"/>
                  <a:t>加入網路調查資料庫的機率」</a:t>
                </a:r>
                <a:r>
                  <a:rPr lang="en-US" altLang="ja-JP" sz="2400" dirty="0"/>
                  <a:t>×</a:t>
                </a:r>
                <a:r>
                  <a:rPr lang="ja-JP" altLang="en-US" sz="2400"/>
                  <a:t>「加入後完成的機率」</a:t>
                </a:r>
                <a:endParaRPr lang="en-US" altLang="ja-JP" sz="2400" dirty="0"/>
              </a:p>
              <a:p>
                <a:r>
                  <a:rPr lang="ja-JP" altLang="en-US" sz="2400"/>
                  <a:t>「線上完成者」的總權重可以寫成：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ja-JP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altLang="ja-JP" sz="2400" dirty="0"/>
              </a:p>
              <a:p>
                <a:r>
                  <a:rPr lang="ja-JP" altLang="en-US" sz="2400"/>
                  <a:t>用「機率的倒數」去加權時，被選進樣本的隨機過程會被「抵消掉」。所以加權後能回到母體平均。</a:t>
                </a:r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CE2E6-2E15-4EE8-1671-5A91A471FF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26EBF-36D7-2773-E645-6C866621B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7446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7E66D-9F36-5B97-5623-15693772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6EA0F-9F78-1203-E782-0F8EC7D2F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/>
              <a:t>觀察到的資料</a:t>
            </a:r>
            <a:r>
              <a:rPr lang="en-US" altLang="ja-JP" dirty="0"/>
              <a:t>=</a:t>
            </a:r>
            <a:r>
              <a:rPr lang="ja-JP" altLang="en-US"/>
              <a:t>真實資料</a:t>
            </a:r>
            <a:r>
              <a:rPr lang="en-US" altLang="ja-JP" dirty="0"/>
              <a:t>×</a:t>
            </a:r>
            <a:r>
              <a:rPr lang="ja-JP" altLang="en-US"/>
              <a:t>被抽中的機率</a:t>
            </a:r>
            <a:endParaRPr lang="en-US" altLang="ja-JP" dirty="0"/>
          </a:p>
          <a:p>
            <a:r>
              <a:rPr lang="ja-JP" altLang="en-US"/>
              <a:t>所以修正後資料</a:t>
            </a:r>
            <a:r>
              <a:rPr lang="en-US" altLang="ja-JP" dirty="0"/>
              <a:t>=</a:t>
            </a:r>
            <a:r>
              <a:rPr lang="ja-JP" altLang="en-US"/>
              <a:t>被抽中的機率</a:t>
            </a:r>
            <a:r>
              <a:rPr lang="en-US" altLang="ja-JP" dirty="0"/>
              <a:t>/</a:t>
            </a:r>
            <a:r>
              <a:rPr lang="ja-JP" altLang="en-US"/>
              <a:t>觀察到的資料​，稱為</a:t>
            </a:r>
            <a:r>
              <a:rPr lang="en-US" altLang="ja-JP" dirty="0"/>
              <a:t>Inversed Probability Weighting </a:t>
            </a:r>
            <a:r>
              <a:rPr lang="en-US" altLang="ja-JP"/>
              <a:t>(IPW)</a:t>
            </a:r>
            <a:r>
              <a:rPr lang="ja-JP" altLang="en-US"/>
              <a:t>。</a:t>
            </a:r>
            <a:endParaRPr lang="en-US" altLang="ja-JP" dirty="0"/>
          </a:p>
          <a:p>
            <a:r>
              <a:rPr lang="ja-JP" altLang="en-US"/>
              <a:t>前提是：會不會加入資料以及最後的預測（例如：投票）只依賴於我們觀察到的 𝑋</a:t>
            </a:r>
          </a:p>
          <a:p>
            <a:r>
              <a:rPr lang="ja-JP" altLang="en-US"/>
              <a:t>如果有 </a:t>
            </a:r>
            <a:r>
              <a:rPr lang="en-US" dirty="0"/>
              <a:t>unobserved trait（</a:t>
            </a:r>
            <a:r>
              <a:rPr lang="ja-JP" altLang="en-US"/>
              <a:t>例如「隱性政治熱情」）同時影響：</a:t>
            </a:r>
          </a:p>
          <a:p>
            <a:pPr>
              <a:buFont typeface="Wingdings" pitchFamily="2" charset="2"/>
              <a:buChar char="ü"/>
            </a:pPr>
            <a:r>
              <a:rPr lang="ja-JP" altLang="en-US"/>
              <a:t>上網填問卷</a:t>
            </a:r>
          </a:p>
          <a:p>
            <a:pPr>
              <a:buFont typeface="Wingdings" pitchFamily="2" charset="2"/>
              <a:buChar char="ü"/>
            </a:pPr>
            <a:r>
              <a:rPr lang="ja-JP" altLang="en-US"/>
              <a:t>投票意向</a:t>
            </a:r>
          </a:p>
          <a:p>
            <a:r>
              <a:rPr lang="en-US" dirty="0"/>
              <a:t>👉 </a:t>
            </a:r>
            <a:r>
              <a:rPr lang="ja-JP" altLang="en-US"/>
              <a:t>那麼 </a:t>
            </a:r>
            <a:r>
              <a:rPr lang="en-US" dirty="0"/>
              <a:t>IPW </a:t>
            </a:r>
            <a:r>
              <a:rPr lang="ja-JP" altLang="en-US"/>
              <a:t>不能完全修正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934A1A-6A41-BD1C-EF90-321E7BAE7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910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期末報告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為鼓勵團隊合作，期末報告係由學生分組針對民意或者調查的主題進行研究，例如政府是否回應民意？個人的意見如何形成？如何改進問卷的設計或者執行方式等等？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期末進行分組發表報告後，於兩週後繳交完整報告。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每一組最少</a:t>
            </a:r>
            <a:r>
              <a:rPr lang="en-US" alt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2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人，最多</a:t>
            </a:r>
            <a:r>
              <a:rPr lang="en-US" alt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4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人。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報告至少包括：研究問題與可能貢獻、文獻回顧、研究發現與建議以及結論。</a:t>
            </a:r>
            <a:endParaRPr lang="en-US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3E27AD-FE49-2E5F-F622-F163350A2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999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2811</TotalTime>
  <Words>608</Words>
  <Application>Microsoft Macintosh PowerPoint</Application>
  <PresentationFormat>Widescreen</PresentationFormat>
  <Paragraphs>73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Angsana New</vt:lpstr>
      <vt:lpstr>Arial</vt:lpstr>
      <vt:lpstr>Calibri</vt:lpstr>
      <vt:lpstr>Calibri Light</vt:lpstr>
      <vt:lpstr>Cambria Math</vt:lpstr>
      <vt:lpstr>Courier New</vt:lpstr>
      <vt:lpstr>Times New Roman</vt:lpstr>
      <vt:lpstr>Wingdings</vt:lpstr>
      <vt:lpstr>Office Theme</vt:lpstr>
      <vt:lpstr>網路民意調查的 理論與實際</vt:lpstr>
      <vt:lpstr>課程目標</vt:lpstr>
      <vt:lpstr>網路調查的特色</vt:lpstr>
      <vt:lpstr>機率抽樣</vt:lpstr>
      <vt:lpstr>PowerPoint Presentation</vt:lpstr>
      <vt:lpstr>非機率抽樣</vt:lpstr>
      <vt:lpstr>PowerPoint Presentation</vt:lpstr>
      <vt:lpstr>網路調查的非機率抽樣</vt:lpstr>
      <vt:lpstr>如何修正網路調查的非機率抽樣？</vt:lpstr>
      <vt:lpstr>網路調查的加權</vt:lpstr>
      <vt:lpstr>PowerPoint Presentation</vt:lpstr>
      <vt:lpstr>期末報告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民意與調查</dc:title>
  <dc:creator>Chia-hung Tsai</dc:creator>
  <cp:lastModifiedBy>Chia-hung Tsai</cp:lastModifiedBy>
  <cp:revision>27</cp:revision>
  <dcterms:created xsi:type="dcterms:W3CDTF">2025-11-29T03:50:16Z</dcterms:created>
  <dcterms:modified xsi:type="dcterms:W3CDTF">2026-03-17T13:29:49Z</dcterms:modified>
</cp:coreProperties>
</file>