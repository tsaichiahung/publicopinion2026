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9" r:id="rId3"/>
    <p:sldId id="260" r:id="rId4"/>
    <p:sldId id="289" r:id="rId5"/>
    <p:sldId id="291" r:id="rId6"/>
    <p:sldId id="264" r:id="rId7"/>
    <p:sldId id="265" r:id="rId8"/>
    <p:sldId id="266" r:id="rId9"/>
    <p:sldId id="267" r:id="rId10"/>
    <p:sldId id="268" r:id="rId11"/>
    <p:sldId id="269" r:id="rId12"/>
    <p:sldId id="275" r:id="rId13"/>
    <p:sldId id="292" r:id="rId14"/>
    <p:sldId id="274" r:id="rId15"/>
    <p:sldId id="270" r:id="rId16"/>
    <p:sldId id="271" r:id="rId17"/>
    <p:sldId id="272" r:id="rId18"/>
    <p:sldId id="273" r:id="rId19"/>
    <p:sldId id="276" r:id="rId20"/>
    <p:sldId id="279" r:id="rId21"/>
    <p:sldId id="278" r:id="rId22"/>
    <p:sldId id="280" r:id="rId23"/>
    <p:sldId id="282" r:id="rId24"/>
    <p:sldId id="283" r:id="rId25"/>
    <p:sldId id="285" r:id="rId26"/>
    <p:sldId id="286" r:id="rId27"/>
    <p:sldId id="284" r:id="rId28"/>
    <p:sldId id="287" r:id="rId29"/>
    <p:sldId id="288" r:id="rId30"/>
    <p:sldId id="290" r:id="rId31"/>
    <p:sldId id="28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755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549C9-F1F2-A344-9318-AC3AB4654B7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A1D9D-B5FD-8C44-B376-87A4AA126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95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9D1C4-10C4-2E9F-5F3B-D835D4DB9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6E4F2-7FDB-77A9-4AB5-8E20E70E5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B6177-5485-5E7E-ABD3-81FAB3262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B731F-7F54-EF4E-BC14-D4454C95FF4D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A4E5E-A7BD-3EBE-B8D5-7A666231C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16BEE-CE7C-86EE-2914-ABE5BBD5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6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689C-316C-BAC8-0C60-4D6FE59E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B9673-CFFC-4707-B781-2DC3EACF2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F6D07-2657-BE71-5260-9287F1DA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3121-CDD1-174D-9095-06B3974B3CC1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E4C41-BB70-1FCC-8578-1360ADC5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C362-7B0A-F33A-D6DC-567128B9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3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AE0D-CFBB-0F53-A2AD-692FBC4BD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EE5BC-34D8-9D68-FE7D-A0D2546A1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F4AD3-7289-D5CB-2A5C-6D306ABA8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2BAF9-EAD3-1641-87AF-ADC71D8222CD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BA442-AC0E-C1C3-3308-FFAFBC78D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EA799-1610-8A6B-77E0-A40B49B0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1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01B37-CD3C-31C5-04C9-76079E4F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C19E3-EF27-A09D-99C4-A09F83757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45470-D1AC-A09D-7550-4360D6773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DF9F5-F533-F729-C898-7B1E13C6B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7A49D-4C23-6A49-AF9D-C0E1C1130921}" type="datetime1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4E930-A44F-BD91-5CF5-8961F49D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3436D-9139-45AE-EEE3-BE76C6A32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65E3F-6BE9-7D78-DCA4-B0726064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79DA6-881E-5DDD-EAC7-66A8251F0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0D745-6E3C-AFE3-6184-A162F7AF3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AC8FBD-C24D-C01E-AADB-C4F55CB0C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BCF2A7-7431-1439-2261-2A41DF6F9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1166D-85F0-EB57-9657-7D5E74543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6F59-8951-4749-B49C-6C88C0B4B6BD}" type="datetime1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9DD5C-5F82-A1B0-7384-5495581E5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27FAB2-DD68-52EC-029D-D14A48E5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8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7281-6A9B-0939-7E18-80A3A800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46B42E-DF40-D4B0-ABC7-C980F99E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BBDF-C485-174D-8051-FF3ED3DF33C6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79666-1FC2-D7B9-01A0-0EB0BF65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DA989-73AE-785D-FC4B-CE591A0D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40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EEB0E-1A66-665C-2816-8906616DB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16C8-35EA-C448-A7DB-295F753FB635}" type="datetime1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96B52-794F-DF33-0D29-76E7E8C0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D5823-189C-2040-1358-6D61F414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7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5DD4-4B4A-3455-8C21-E3BF4A50C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3D71E-B5FF-CD05-E327-1A6DE200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11B76-22F9-3979-2199-DB800AA2A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931D2-9E23-78EB-9A41-01A4326F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6818-685C-B142-BE10-A6D54A85D7FF}" type="datetime1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873F4-4FD5-6F46-BA13-0A9FDDA5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D0AC0-F263-C2B0-FA4B-E6D26281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7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45D0-04F7-A504-95F3-804098D41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C9E57-E525-B44B-DFFF-53EA7B26E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3A571-088E-6D99-68E4-2984A1282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9C560-F853-5059-139B-804BFC97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D57B-5B66-2F49-AB7C-362DD22B45D8}" type="datetime1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3660A-A890-E4DA-6D80-79662762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A0F3A-753B-BC76-6F55-8CEC7CC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1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9EF6-E576-0A12-CB1C-7E493A738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47DB6-223C-7733-A4F7-AA5625963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6927A-7D51-301B-AF38-CE551C01C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AAEB-F940-CA44-B742-2110711973A7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16AEE-F89E-A77B-9530-F4F63AA5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07B94-A394-D3CF-25AB-74C40FF4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8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E8D4DA-0738-22C4-1450-507823704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99744-1523-C7A9-D865-F99F5095A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CB5F3-603B-CB21-555E-448030D8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C7EA-A73C-4146-9B14-54C11597AA40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CD49F-9F4B-37C1-1165-9DCA9750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622E-8639-E6AB-8BDE-2B7F55B88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7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C971F1-6481-4050-00C9-A33D33CE4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08A0F-5D53-2152-E470-49923B10E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70612-6EE7-86AA-99AA-8B3E14093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5DC53-D744-A54C-8957-51F9F93FF803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70635-6FA9-E3DF-44DA-1BA068D05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35928-0209-EEAC-4AA5-B6BCB7B43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7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F2190-C2B0-E47F-55A3-6BBBE700A2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6000"/>
              <a:t>網路民意調查的</a:t>
            </a:r>
            <a:br>
              <a:rPr lang="en-US" altLang="ja-JP" sz="6000" dirty="0"/>
            </a:br>
            <a:r>
              <a:rPr lang="ja-JP" altLang="en-US" sz="6000"/>
              <a:t>理論與實際</a:t>
            </a: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82A46-16E0-1D53-EF0E-D6580A739E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3/18/2025</a:t>
            </a:r>
          </a:p>
        </p:txBody>
      </p:sp>
    </p:spTree>
    <p:extLst>
      <p:ext uri="{BB962C8B-B14F-4D97-AF65-F5344CB8AC3E}">
        <p14:creationId xmlns:p14="http://schemas.microsoft.com/office/powerpoint/2010/main" val="515373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B62F-DCD4-57B2-B6B1-93F7FFB5A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sz="4400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課程目標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D5CCB-B0EE-E4AC-9EFC-B45819986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30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kern="1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網路調查的特色</a:t>
            </a:r>
            <a:endParaRPr lang="en-US" altLang="zh-TW" kern="100" dirty="0"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0" marR="0" indent="30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kern="1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網路調查的形式</a:t>
            </a:r>
            <a:endParaRPr lang="en-US" altLang="zh-TW" kern="100" dirty="0"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0" marR="0" indent="30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網路調查的</a:t>
            </a:r>
            <a:r>
              <a:rPr lang="zh-TW" altLang="en-US" kern="1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加權</a:t>
            </a:r>
            <a:endParaRPr lang="en-US" altLang="zh-TW" sz="2000" kern="100" dirty="0">
              <a:effectLst/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0" marR="0" indent="304800" algn="just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B3FC9-8666-6C80-0610-26E10A33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36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網路調查的特色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E529-29DD-AB2C-94BF-694DBD41A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sz="2000" dirty="0" err="1"/>
              <a:t>網路普及之後，研究者可以利用email寄問</a:t>
            </a:r>
            <a:r>
              <a:rPr lang="zh-TW" altLang="en-US" sz="2000" dirty="0"/>
              <a:t>卷給受訪者</a:t>
            </a:r>
            <a:r>
              <a:rPr lang="en-US" sz="2000" dirty="0"/>
              <a:t>，</a:t>
            </a:r>
            <a:r>
              <a:rPr lang="en-US" sz="2000" dirty="0" err="1"/>
              <a:t>或者請受訪者直接登入網路介面回答問題</a:t>
            </a:r>
            <a:r>
              <a:rPr lang="en-US" sz="2000" dirty="0"/>
              <a:t>。</a:t>
            </a: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sz="2000" dirty="0" err="1"/>
              <a:t>出現越來越多方法克服非機率抽樣的問題，使網路調查的結果更接近電話調查或者面對面調查</a:t>
            </a:r>
            <a:r>
              <a:rPr lang="en-US" sz="2000" dirty="0"/>
              <a:t>。</a:t>
            </a: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sz="2000" dirty="0" err="1"/>
              <a:t>網路調查有許多優點，主要可以克服透過訪員接觸受訪者的問題，改由受訪者自己填寫</a:t>
            </a:r>
            <a:r>
              <a:rPr lang="en-US" sz="2000" dirty="0"/>
              <a:t>。</a:t>
            </a: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sz="2000" dirty="0" err="1"/>
              <a:t>網路調查加上實驗設計，受到研究者的歡迎</a:t>
            </a:r>
            <a:r>
              <a:rPr lang="en-US" sz="2000" dirty="0"/>
              <a:t>。</a:t>
            </a:r>
          </a:p>
          <a:p>
            <a:pPr>
              <a:buFont typeface="Wingdings" pitchFamily="2" charset="2"/>
              <a:buChar char="l"/>
            </a:pPr>
            <a:endParaRPr lang="en-US" sz="2000" dirty="0"/>
          </a:p>
          <a:p>
            <a:pPr>
              <a:buFont typeface="Wingdings" pitchFamily="2" charset="2"/>
              <a:buChar char="l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166A0-0716-0F20-CCC6-258987145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6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90D3-7117-F717-333F-D13FF3F7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網路調查的形式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2E987-B646-D0E2-C981-9F208294A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 err="1"/>
              <a:t>網路調查可以透過桌上型電腦</a:t>
            </a:r>
            <a:r>
              <a:rPr lang="en-US" sz="2000" dirty="0"/>
              <a:t>(laptop)、</a:t>
            </a:r>
            <a:r>
              <a:rPr lang="en-US" sz="2000" dirty="0" err="1"/>
              <a:t>手機</a:t>
            </a:r>
            <a:r>
              <a:rPr lang="en-US" sz="2000" dirty="0"/>
              <a:t>(smartphone)、</a:t>
            </a:r>
            <a:r>
              <a:rPr lang="en-US" sz="2000" dirty="0" err="1"/>
              <a:t>平板</a:t>
            </a:r>
            <a:r>
              <a:rPr lang="en-US" sz="2000" dirty="0"/>
              <a:t>(tablet)</a:t>
            </a:r>
            <a:r>
              <a:rPr lang="en-US" sz="2000" dirty="0" err="1"/>
              <a:t>等三種裝置填寫</a:t>
            </a:r>
            <a:r>
              <a:rPr lang="en-US" sz="2000" dirty="0"/>
              <a:t>。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因為帶著手機隨時可以填寫問卷，有可能受到周遭環境的影響</a:t>
            </a:r>
            <a:r>
              <a:rPr lang="en-US" sz="2000" dirty="0"/>
              <a:t>。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桌機的螢幕最大，有利於呈現比較多的資訊。研究者發現，使用桌機填寫有較低的測量誤差</a:t>
            </a:r>
            <a:r>
              <a:rPr lang="en-US" sz="2000" dirty="0"/>
              <a:t>(measurement error)。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考慮螢幕大小可能影響受訪者的回答，網路調查的題目最好不要太長</a:t>
            </a:r>
            <a:r>
              <a:rPr lang="en-US" sz="2000" dirty="0"/>
              <a:t>。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目前還沒有研究顯示，不同的人口背景的受訪者會選擇不同的裝置</a:t>
            </a:r>
            <a:r>
              <a:rPr lang="en-US" sz="2000" dirty="0"/>
              <a:t>。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3020D-3BF9-9CE1-7286-F7E75BDC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39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90D3-7117-F717-333F-D13FF3F7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測量效應</a:t>
            </a:r>
            <a:r>
              <a:rPr lang="en-US" dirty="0"/>
              <a:t>(measurement effect)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2E987-B646-D0E2-C981-9F208294A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ja-JP" altLang="en-US" sz="2000"/>
              <a:t>測量效應指的是在調查過程中，由於「測量工具」或「環境因素」導致受訪者提供的答案偏離其「真實值」的現象。常見的測量效應來源包括：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/>
              <a:t>問卷設計：</a:t>
            </a:r>
            <a:r>
              <a:rPr lang="ja-JP" altLang="en-US" sz="2000"/>
              <a:t> 問題的措辭（</a:t>
            </a:r>
            <a:r>
              <a:rPr lang="en-US" sz="2000" dirty="0"/>
              <a:t>Wording）、</a:t>
            </a:r>
            <a:r>
              <a:rPr lang="ja-JP" altLang="en-US" sz="2000"/>
              <a:t>選項的順序（</a:t>
            </a:r>
            <a:r>
              <a:rPr lang="en-US" sz="2000" dirty="0"/>
              <a:t>Order effects）。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/>
              <a:t>受訪者負擔：</a:t>
            </a:r>
            <a:r>
              <a:rPr lang="ja-JP" altLang="en-US" sz="2000"/>
              <a:t> 問卷太長導致後期隨便亂填（</a:t>
            </a:r>
            <a:r>
              <a:rPr lang="en-US" sz="2000" dirty="0"/>
              <a:t>Fatigue effects）。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/>
              <a:t>社會期許偏差 </a:t>
            </a:r>
            <a:r>
              <a:rPr lang="en-US" altLang="ja-JP" sz="2000" b="1" dirty="0"/>
              <a:t>(</a:t>
            </a:r>
            <a:r>
              <a:rPr lang="en-US" sz="2000" b="1" dirty="0"/>
              <a:t>Social Desirability Bias)：</a:t>
            </a:r>
            <a:r>
              <a:rPr lang="en-US" sz="2000" dirty="0"/>
              <a:t> </a:t>
            </a:r>
            <a:r>
              <a:rPr lang="ja-JP" altLang="en-US" sz="2000"/>
              <a:t>受訪者傾向於給出「社會公認正確」的答案（例如：聲稱自己有投票、沒抽菸）。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/>
              <a:t>訪員影響：</a:t>
            </a:r>
            <a:r>
              <a:rPr lang="ja-JP" altLang="en-US" sz="2000"/>
              <a:t> 訪員的語氣、性別或種族影響了受訪者的回答。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/>
              <a:t>訪問模式</a:t>
            </a:r>
            <a:r>
              <a:rPr lang="ja-JP" altLang="en-US" sz="2000"/>
              <a:t>：自填或者非自填問卷、視覺</a:t>
            </a:r>
            <a:r>
              <a:rPr lang="en-US" altLang="ja-JP" sz="2000" dirty="0"/>
              <a:t>(visual)</a:t>
            </a:r>
            <a:r>
              <a:rPr lang="ja-JP" altLang="en-US" sz="2000"/>
              <a:t>或者聽覺</a:t>
            </a:r>
            <a:r>
              <a:rPr lang="en-US" altLang="ja-JP" sz="2000" dirty="0"/>
              <a:t>(aural)</a:t>
            </a:r>
            <a:r>
              <a:rPr lang="ja-JP" altLang="en-US" sz="2000"/>
              <a:t>可能影響受訪者回答。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3020D-3BF9-9CE1-7286-F7E75BDC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446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機率抽樣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8E529-29DD-AB2C-94BF-694DBD41AB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000"/>
                  <a:t>如果母體中的每一個成員都有一個大於零且已知的被選中機會，稱為機率抽樣。</a:t>
                </a: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000"/>
                  <a:t>由於遵循隨機原則，研究者可以使用統計公式計算信心水準與誤差範圍，使得樣本特徵可以推論至整個母體。</a:t>
                </a: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000"/>
                  <a:t>假設我們進行了一次網路調查，回收了 </a:t>
                </a:r>
                <a:r>
                  <a:rPr lang="en-US" altLang="ja-JP" sz="2000" dirty="0"/>
                  <a:t>1,067 </a:t>
                </a:r>
                <a:r>
                  <a:rPr lang="ja-JP" altLang="en-US" sz="2000"/>
                  <a:t>份 有效問卷，假設得到結果如下：</a:t>
                </a: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000"/>
                  <a:t>樣本平均值 </a:t>
                </a:r>
                <a:r>
                  <a:rPr lang="en-US" altLang="ja-JP" sz="2000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sz="2000" dirty="0"/>
                  <a:t>)</a:t>
                </a:r>
                <a:r>
                  <a:rPr lang="ja-JP" altLang="en-US" sz="2000"/>
                  <a:t>：</a:t>
                </a:r>
                <a:r>
                  <a:rPr lang="en-US" altLang="ja-JP" sz="2000" dirty="0"/>
                  <a:t>5.5 </a:t>
                </a:r>
                <a:r>
                  <a:rPr lang="ja-JP" altLang="en-US" sz="2000"/>
                  <a:t>分，</a:t>
                </a: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000"/>
                  <a:t>樣本標準差 </a:t>
                </a:r>
                <a:r>
                  <a:rPr lang="en-US" altLang="ja-JP" sz="2000" dirty="0"/>
                  <a:t>(s )</a:t>
                </a:r>
                <a:r>
                  <a:rPr lang="ja-JP" altLang="en-US" sz="2000"/>
                  <a:t>： </a:t>
                </a:r>
                <a:r>
                  <a:rPr lang="en-US" altLang="ja-JP" sz="2000" dirty="0"/>
                  <a:t>2.5 </a:t>
                </a:r>
                <a:r>
                  <a:rPr lang="ja-JP" altLang="en-US" sz="2000"/>
                  <a:t>分</a:t>
                </a: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000"/>
                  <a:t>信心水準：</a:t>
                </a:r>
                <a:r>
                  <a:rPr lang="en-US" altLang="ja-JP" sz="2000" dirty="0"/>
                  <a:t>95% (</a:t>
                </a:r>
                <a:r>
                  <a:rPr lang="en-US" altLang="ja-JP" sz="2000" i="1" dirty="0"/>
                  <a:t>z</a:t>
                </a:r>
                <a:r>
                  <a:rPr lang="en-US" altLang="ja-JP" sz="2000" dirty="0"/>
                  <a:t> = 1.96)</a:t>
                </a:r>
                <a:r>
                  <a:rPr lang="ja-JP" altLang="en-US" sz="2000"/>
                  <a:t> </a:t>
                </a: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000"/>
                  <a:t>標準誤 </a:t>
                </a:r>
                <a:r>
                  <a:rPr lang="en-US" altLang="ja-JP" sz="2000" dirty="0"/>
                  <a:t>(Standard Error)</a:t>
                </a:r>
                <a:r>
                  <a:rPr lang="ja-JP" altLang="en-US" sz="2000"/>
                  <a:t>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2.5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1067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ja-JP" sz="20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ja-JP" sz="2000" dirty="0"/>
                  <a:t> 0.0766</a:t>
                </a:r>
                <a:endParaRPr lang="en-US" sz="2000" dirty="0"/>
              </a:p>
              <a:p>
                <a:pPr>
                  <a:buFont typeface="Wingdings" pitchFamily="2" charset="2"/>
                  <a:buChar char="l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8E529-29DD-AB2C-94BF-694DBD41A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085D9-FBDD-C940-3F14-8994BAC3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1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0E2491-AA9A-BF63-9395-E47BB3443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5C55C-39ED-D1E3-ADBC-6F08C2F7E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158" y="0"/>
            <a:ext cx="7771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17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非機率抽樣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E529-29DD-AB2C-94BF-694DBD41A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非機率抽樣並非基於隨機原則，而是根據研究者的便利性、判斷或特定標準來選取樣本。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缺乏代表性， 可能集中在少數人，無法推論至全體母體。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抽樣機率不明，無法計算精確的抽樣誤差。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便利抽樣、判斷抽樣（專家抽樣）、滾雪球抽樣、配額抽樣都屬於非機率抽樣。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endParaRPr lang="en-US" sz="2000" dirty="0"/>
          </a:p>
          <a:p>
            <a:pPr>
              <a:buFont typeface="Wingdings" pitchFamily="2" charset="2"/>
              <a:buChar char="l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085D9-FBDD-C940-3F14-8994BAC3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2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9EBEF9-A064-EC8F-F179-60480554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825AB-9123-046E-5144-047BBDB4F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405" y="993274"/>
            <a:ext cx="7772400" cy="509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86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網路調查的非機率抽樣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E529-29DD-AB2C-94BF-694DBD41A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自願參與偏差 </a:t>
            </a:r>
            <a:r>
              <a:rPr lang="en-US" altLang="ja-JP" sz="2000" dirty="0"/>
              <a:t>(Self-Selection Bias)</a:t>
            </a:r>
            <a:r>
              <a:rPr lang="ja-JP" altLang="en-US" sz="2000"/>
              <a:t>：由對該主題感興趣、有強烈意見，或單純想領取獎勵的人自行決定加入。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涵蓋誤差 </a:t>
            </a:r>
            <a:r>
              <a:rPr lang="en-US" altLang="ja-JP" sz="2000" dirty="0"/>
              <a:t>(Coverage Error)</a:t>
            </a:r>
            <a:r>
              <a:rPr lang="ja-JP" altLang="en-US" sz="2000"/>
              <a:t>：並非所有人都有同等的機會上網或看到調查連結。例如高齡族群、低收入者的上網頻率較低。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非隨機的「便利性」：研究者通常將連結發布在自己能觸及的社群媒體、論壇或 </a:t>
            </a:r>
            <a:r>
              <a:rPr lang="en-US" altLang="ja-JP" sz="2000" dirty="0"/>
              <a:t>LINE </a:t>
            </a:r>
            <a:r>
              <a:rPr lang="ja-JP" altLang="en-US" sz="2000"/>
              <a:t>群組中。受限於研究者的「同溫層」。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樣本性質難以驗證：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ja-JP" altLang="en-US" sz="2000"/>
              <a:t>重複填答： 同一人可能為了獎品多次填寫。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ja-JP" altLang="en-US" sz="2000"/>
              <a:t>機器人與無效樣本： </a:t>
            </a:r>
            <a:r>
              <a:rPr lang="en-US" altLang="ja-JP" sz="2000" dirty="0"/>
              <a:t>AI </a:t>
            </a:r>
            <a:r>
              <a:rPr lang="ja-JP" altLang="en-US" sz="2000"/>
              <a:t>或自動化程式可能產生大量垃圾數據。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ja-JP" altLang="en-US" sz="2000"/>
              <a:t>身分造假： 受訪者可能為了領取獎勵而虛報符合填答問卷條件的年齡或職業。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endParaRPr lang="en-US" sz="2000" dirty="0"/>
          </a:p>
          <a:p>
            <a:pPr>
              <a:buFont typeface="Wingdings" pitchFamily="2" charset="2"/>
              <a:buChar char="l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085D9-FBDD-C940-3F14-8994BAC3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27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如何修正網路調查的非機率抽樣？（一）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E529-29DD-AB2C-94BF-694DBD41A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ja-JP" altLang="en-US" sz="2000"/>
              <a:t>配額抽樣 </a:t>
            </a:r>
            <a:r>
              <a:rPr lang="en-US" altLang="ja-JP" sz="2000" dirty="0"/>
              <a:t>(Quota Sampling)</a:t>
            </a:r>
            <a:r>
              <a:rPr lang="ja-JP" altLang="en-US" sz="2000"/>
              <a:t>： 如果資料庫中有足夠的樣本，可以設定性別、年齡比例，一旦某族群收滿足夠的樣本，就停止發送給受訪者。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ja-JP" altLang="en-US" sz="2000"/>
              <a:t>加權校正 </a:t>
            </a:r>
            <a:r>
              <a:rPr lang="en-US" altLang="ja-JP" sz="2000" dirty="0"/>
              <a:t>(Weighting)</a:t>
            </a:r>
            <a:r>
              <a:rPr lang="ja-JP" altLang="en-US" sz="2000"/>
              <a:t>： 根據人口普查數據，對受訪者進行事後數學調整。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altLang="ja-JP" sz="2000" dirty="0"/>
          </a:p>
          <a:p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endParaRPr lang="en-US" sz="2000" dirty="0"/>
          </a:p>
          <a:p>
            <a:pPr>
              <a:buFont typeface="Wingdings" pitchFamily="2" charset="2"/>
              <a:buChar char="l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085D9-FBDD-C940-3F14-8994BAC3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97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如何修正網路調查的非機率抽樣？（二）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8E529-29DD-AB2C-94BF-694DBD41AB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ja-JP" altLang="en-US" sz="2000"/>
                  <a:t>假設真實母體：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ja-JP" altLang="en-US" sz="200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q"/>
                </a:pP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ja-JP" altLang="en-US" sz="2000"/>
                  <a:t>但線上樣本：</a:t>
                </a:r>
                <a:endParaRPr lang="en-US" altLang="ja-JP" sz="2000" dirty="0"/>
              </a:p>
              <a:p>
                <a:pPr marL="0" algn="l" rtl="0" eaLnBrk="1" fontAlgn="t" latinLnBrk="0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b="1" i="0" u="none" strike="noStrike" kern="1200" dirty="0" err="1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</a:rPr>
                  <a:t>類型</a:t>
                </a:r>
                <a:endParaRPr lang="en-US" altLang="ja-JP" sz="2000" dirty="0"/>
              </a:p>
              <a:p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q"/>
                </a:pPr>
                <a:endParaRPr lang="en-US" altLang="ja-JP" sz="2000" dirty="0"/>
              </a:p>
              <a:p>
                <a:r>
                  <a:rPr lang="ja-JP" altLang="en-US" sz="2000"/>
                  <a:t>權重：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𝑝𝑜𝑝𝑢𝑙𝑎𝑡𝑖𝑜𝑛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𝑝𝑟𝑜𝑝𝑜𝑟𝑡𝑖𝑜𝑛</m:t>
                        </m:r>
                      </m:num>
                      <m:den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𝑠𝑎𝑚𝑝𝑙𝑒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𝑝𝑟𝑜𝑝𝑜𝑟𝑡𝑖𝑜𝑛</m:t>
                        </m:r>
                      </m:den>
                    </m:f>
                  </m:oMath>
                </a14:m>
                <a:endParaRPr lang="ja-JP" altLang="en-US" sz="200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2000" dirty="0"/>
                  <a:t>W(</a:t>
                </a:r>
                <a:r>
                  <a:rPr lang="ja-JP" altLang="en-US" sz="2000"/>
                  <a:t>高興趣</a:t>
                </a:r>
                <a:r>
                  <a:rPr lang="en-US" altLang="ja-JP" sz="2000" dirty="0"/>
                  <a:t>)</a:t>
                </a:r>
                <a:r>
                  <a:rPr lang="ja-JP" altLang="en-US" sz="2000"/>
                  <a:t>：</a:t>
                </a:r>
                <a:r>
                  <a:rPr lang="en-US" altLang="ja-JP" sz="2000" dirty="0"/>
                  <a:t>0.3/0.8=0.375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2000" dirty="0"/>
                  <a:t>W(</a:t>
                </a:r>
                <a:r>
                  <a:rPr lang="ja-JP" altLang="en-US" sz="2000"/>
                  <a:t>低興趣</a:t>
                </a:r>
                <a:r>
                  <a:rPr lang="en-US" altLang="ja-JP" sz="2000" dirty="0"/>
                  <a:t>)</a:t>
                </a:r>
                <a:r>
                  <a:rPr lang="ja-JP" altLang="en-US" sz="2000"/>
                  <a:t>：</a:t>
                </a:r>
                <a:r>
                  <a:rPr lang="en-US" altLang="ja-JP" sz="2000" dirty="0"/>
                  <a:t>0.7/0.2=3.5</a:t>
                </a:r>
              </a:p>
              <a:p>
                <a:r>
                  <a:rPr lang="ja-JP" altLang="en-US" sz="2000" b="0" dirty="0"/>
                  <a:t>加權：</a:t>
                </a:r>
                <a14:m>
                  <m:oMath xmlns:m="http://schemas.openxmlformats.org/officeDocument/2006/math">
                    <m:r>
                      <a:rPr lang="ja-JP" altLang="en-US" sz="2000" b="0" i="1" dirty="0">
                        <a:latin typeface="Cambria Math" panose="02040503050406030204" pitchFamily="18" charset="0"/>
                      </a:rPr>
                      <m:t>高興趣</m:t>
                    </m:r>
                    <m:r>
                      <a:rPr lang="ja-JP" altLang="en-US" sz="2000" i="1" dirty="0" smtClean="0">
                        <a:latin typeface="Cambria Math" panose="02040503050406030204" pitchFamily="18" charset="0"/>
                      </a:rPr>
                      <m:t>的樣本</m:t>
                    </m:r>
                    <m:r>
                      <a:rPr lang="ja-JP" altLang="en-US" sz="2000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0.8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37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0.3</m:t>
                    </m:r>
                    <m:r>
                      <a:rPr lang="zh-TW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</m:t>
                    </m:r>
                    <m:r>
                      <a:rPr lang="zh-TW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低</m:t>
                    </m:r>
                    <m:r>
                      <a:rPr lang="ja-JP" altLang="en-US" sz="2000" i="1" dirty="0">
                        <a:latin typeface="Cambria Math" panose="02040503050406030204" pitchFamily="18" charset="0"/>
                      </a:rPr>
                      <m:t>興趣的樣本：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.2</m:t>
                    </m:r>
                    <m:r>
                      <a:rPr lang="en-US" altLang="ja-JP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</m:t>
                    </m:r>
                    <m:r>
                      <a:rPr lang="en-US" altLang="ja-JP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0.7</m:t>
                    </m:r>
                  </m:oMath>
                </a14:m>
                <a:r>
                  <a:rPr lang="ja-JP" altLang="en-US" sz="2000" dirty="0"/>
                  <a:t>，符合母體的比例。</a:t>
                </a:r>
                <a:endParaRPr lang="en-US" altLang="ja-JP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endParaRPr lang="en-US" sz="2000" dirty="0"/>
              </a:p>
              <a:p>
                <a:pPr>
                  <a:buFont typeface="Wingdings" pitchFamily="2" charset="2"/>
                  <a:buChar char="l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8E529-29DD-AB2C-94BF-694DBD41A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085D9-FBDD-C940-3F14-8994BAC3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95B452-B5A2-AA2F-5DCA-705F873AE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519260"/>
              </p:ext>
            </p:extLst>
          </p:nvPr>
        </p:nvGraphicFramePr>
        <p:xfrm>
          <a:off x="4108862" y="2331720"/>
          <a:ext cx="348606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034">
                  <a:extLst>
                    <a:ext uri="{9D8B030D-6E8A-4147-A177-3AD203B41FA5}">
                      <a16:colId xmlns:a16="http://schemas.microsoft.com/office/drawing/2014/main" val="1459308878"/>
                    </a:ext>
                  </a:extLst>
                </a:gridCol>
                <a:gridCol w="1743034">
                  <a:extLst>
                    <a:ext uri="{9D8B030D-6E8A-4147-A177-3AD203B41FA5}">
                      <a16:colId xmlns:a16="http://schemas.microsoft.com/office/drawing/2014/main" val="980495549"/>
                    </a:ext>
                  </a:extLst>
                </a:gridCol>
              </a:tblGrid>
              <a:tr h="222128">
                <a:tc>
                  <a:txBody>
                    <a:bodyPr/>
                    <a:lstStyle/>
                    <a:p>
                      <a:r>
                        <a:rPr lang="en-US" dirty="0" err="1"/>
                        <a:t>類型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比例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48685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ja-JP" altLang="en-US" sz="1800"/>
                        <a:t>高政治興趣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903938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ja-JP" altLang="en-US" sz="1800"/>
                        <a:t>低政治興趣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18441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691A0C-65FA-B2FD-474A-DBC43A923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029013"/>
              </p:ext>
            </p:extLst>
          </p:nvPr>
        </p:nvGraphicFramePr>
        <p:xfrm>
          <a:off x="4108862" y="3684005"/>
          <a:ext cx="3486068" cy="1118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034">
                  <a:extLst>
                    <a:ext uri="{9D8B030D-6E8A-4147-A177-3AD203B41FA5}">
                      <a16:colId xmlns:a16="http://schemas.microsoft.com/office/drawing/2014/main" val="2198280680"/>
                    </a:ext>
                  </a:extLst>
                </a:gridCol>
                <a:gridCol w="1743034">
                  <a:extLst>
                    <a:ext uri="{9D8B030D-6E8A-4147-A177-3AD203B41FA5}">
                      <a16:colId xmlns:a16="http://schemas.microsoft.com/office/drawing/2014/main" val="3632971567"/>
                    </a:ext>
                  </a:extLst>
                </a:gridCol>
              </a:tblGrid>
              <a:tr h="377296">
                <a:tc>
                  <a:txBody>
                    <a:bodyPr/>
                    <a:lstStyle/>
                    <a:p>
                      <a:r>
                        <a:rPr lang="en-US" dirty="0" err="1"/>
                        <a:t>類型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比例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948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sz="1800"/>
                        <a:t>高政治興趣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175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sz="1800"/>
                        <a:t>低政治興趣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148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208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F290D-4C3C-1711-9B9C-61B4EB78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61BE-AA9A-4EFE-6B56-EED4211D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如何修正網路調查的非機率抽樣？（三）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93E38-7841-925C-BFC9-14185BED87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ja-JP" altLang="en-US" sz="2000"/>
                  <a:t>假設網路調查顯示：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ja-JP" altLang="en-US" sz="2000"/>
                  <a:t>加權之前的投票意願：</a:t>
                </a:r>
                <a:endParaRPr lang="en-US" altLang="ja-JP" sz="2000" dirty="0"/>
              </a:p>
              <a:p>
                <a:pPr marL="0" indent="0" algn="ctr" rtl="0" eaLnBrk="1" fontAlgn="t" latinLnBrk="0" hangingPunct="1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0.8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×90%</m:t>
                        </m:r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+(0.2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×10%)</m:t>
                    </m:r>
                  </m:oMath>
                </a14:m>
                <a:r>
                  <a:rPr lang="en-US" altLang="ja-JP" sz="2000" dirty="0"/>
                  <a:t>=78%</a:t>
                </a: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ja-JP" altLang="en-US" sz="2000"/>
                  <a:t>加權之後的投票意願：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altLang="ja-JP" sz="2000" dirty="0"/>
                  <a:t>0%</a:t>
                </a:r>
                <a14:m>
                  <m:oMath xmlns:m="http://schemas.openxmlformats.org/officeDocument/2006/math">
                    <m:r>
                      <a:rPr lang="en-US" altLang="ja-JP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0.8×0.375</m:t>
                        </m:r>
                      </m:e>
                    </m:d>
                    <m:r>
                      <a:rPr lang="en-US" altLang="ja-JP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+10%×</m:t>
                    </m:r>
                    <m:d>
                      <m:dPr>
                        <m:ctrlPr>
                          <a:rPr lang="en-US" altLang="ja-JP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0.2×3.5</m:t>
                        </m:r>
                      </m:e>
                    </m:d>
                    <m:r>
                      <a:rPr lang="en-US" altLang="ja-JP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=48%</m:t>
                    </m:r>
                  </m:oMath>
                </a14:m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000" dirty="0"/>
                  <a:t>我們透過 </a:t>
                </a:r>
                <a:r>
                  <a:rPr lang="en-US" altLang="zh-TW" sz="2000" dirty="0"/>
                  <a:t>3.5 </a:t>
                </a:r>
                <a:r>
                  <a:rPr lang="zh-TW" altLang="en-US" sz="2000" dirty="0"/>
                  <a:t>倍的權重 放大</a:t>
                </a:r>
                <a:r>
                  <a:rPr lang="en-US" altLang="zh-TW" sz="2000" dirty="0"/>
                  <a:t>20% </a:t>
                </a:r>
                <a:r>
                  <a:rPr lang="zh-TW" altLang="en-US" sz="2000" dirty="0"/>
                  <a:t>低興趣者的聲音，同時透過 </a:t>
                </a:r>
                <a:r>
                  <a:rPr lang="en-US" altLang="zh-TW" sz="2000" dirty="0"/>
                  <a:t>0.375 </a:t>
                </a:r>
                <a:r>
                  <a:rPr lang="zh-TW" altLang="en-US" sz="2000" dirty="0"/>
                  <a:t>倍的權重 縮小高興趣者的意見，最終結果從 </a:t>
                </a:r>
                <a:r>
                  <a:rPr lang="en-US" altLang="zh-TW" sz="2000" dirty="0"/>
                  <a:t>78% </a:t>
                </a:r>
                <a:r>
                  <a:rPr lang="zh-TW" altLang="en-US" sz="2000" dirty="0"/>
                  <a:t>修正回 </a:t>
                </a:r>
                <a:r>
                  <a:rPr lang="en-US" altLang="zh-TW" sz="2000" dirty="0"/>
                  <a:t>48%</a:t>
                </a:r>
                <a:r>
                  <a:rPr lang="zh-TW" altLang="en-US" sz="2000" dirty="0"/>
                  <a:t>。</a:t>
                </a:r>
                <a:endParaRPr lang="en-US" altLang="zh-TW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TW" altLang="en-US" sz="2000" dirty="0"/>
                  <a:t>實務上我們用母體資料中有的性別、年齡、教育程度做加權。</a:t>
                </a: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endParaRPr lang="en-US" sz="2000" dirty="0"/>
              </a:p>
              <a:p>
                <a:pPr>
                  <a:buFont typeface="Wingdings" pitchFamily="2" charset="2"/>
                  <a:buChar char="l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93E38-7841-925C-BFC9-14185BED87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FF1E7-E322-21A1-6294-CC4E877BA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E15306-01FD-43DA-5871-5DFAE34D0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846717"/>
              </p:ext>
            </p:extLst>
          </p:nvPr>
        </p:nvGraphicFramePr>
        <p:xfrm>
          <a:off x="4436853" y="2063927"/>
          <a:ext cx="4458669" cy="1118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223">
                  <a:extLst>
                    <a:ext uri="{9D8B030D-6E8A-4147-A177-3AD203B41FA5}">
                      <a16:colId xmlns:a16="http://schemas.microsoft.com/office/drawing/2014/main" val="2198280680"/>
                    </a:ext>
                  </a:extLst>
                </a:gridCol>
                <a:gridCol w="1486223">
                  <a:extLst>
                    <a:ext uri="{9D8B030D-6E8A-4147-A177-3AD203B41FA5}">
                      <a16:colId xmlns:a16="http://schemas.microsoft.com/office/drawing/2014/main" val="3632971567"/>
                    </a:ext>
                  </a:extLst>
                </a:gridCol>
                <a:gridCol w="1486223">
                  <a:extLst>
                    <a:ext uri="{9D8B030D-6E8A-4147-A177-3AD203B41FA5}">
                      <a16:colId xmlns:a16="http://schemas.microsoft.com/office/drawing/2014/main" val="3549734281"/>
                    </a:ext>
                  </a:extLst>
                </a:gridCol>
              </a:tblGrid>
              <a:tr h="377296">
                <a:tc>
                  <a:txBody>
                    <a:bodyPr/>
                    <a:lstStyle/>
                    <a:p>
                      <a:r>
                        <a:rPr lang="en-US" dirty="0" err="1"/>
                        <a:t>類型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比例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投票意願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948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sz="1800"/>
                        <a:t>高政治興趣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175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sz="1800"/>
                        <a:t>低政治興趣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148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990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3B381-AADF-A517-1FDA-0779313EA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網路調查的</a:t>
            </a:r>
            <a:r>
              <a:rPr lang="en-US" dirty="0" err="1"/>
              <a:t>加權（一</a:t>
            </a:r>
            <a:r>
              <a:rPr lang="en-US" dirty="0"/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C97CC7-B9FA-04C8-1299-5314BA2E87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ja-JP" altLang="en-US" sz="2000"/>
                  <a:t>例如：如果用電話訪問招募受訪者，然後寄同意書給受訪者，最後寄問卷給受訪者。這一套過程，有三次的選擇偏誤。</a:t>
                </a:r>
                <a:endParaRPr lang="en-US" altLang="ja-JP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：</a:t>
                </a:r>
                <a:r>
                  <a:rPr lang="ja-JP" altLang="en-US"/>
                  <a:t>電話樣本「被抽到且完成訪問」（</a:t>
                </a:r>
                <a:r>
                  <a:rPr lang="en-US" dirty="0"/>
                  <a:t>reference sample）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dirty="0"/>
                  <a:t>：</a:t>
                </a:r>
                <a:r>
                  <a:rPr lang="ja-JP" altLang="en-US"/>
                  <a:t>在電話訪問後「同意加入 </a:t>
                </a:r>
                <a:r>
                  <a:rPr lang="en-US" dirty="0"/>
                  <a:t>panel」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dirty="0"/>
                  <a:t>：</a:t>
                </a:r>
                <a:r>
                  <a:rPr lang="ja-JP" altLang="en-US"/>
                  <a:t>在同意加入後「實際完成線上問卷」</a:t>
                </a:r>
              </a:p>
              <a:p>
                <a:r>
                  <a:rPr lang="ja-JP" altLang="en-US" sz="2000"/>
                  <a:t>最後資料的集合是：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ja-JP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altLang="ja-JP" sz="2000" dirty="0"/>
              </a:p>
              <a:p>
                <a:r>
                  <a:rPr lang="ja-JP" altLang="en-US" sz="2000"/>
                  <a:t> 例如：</a:t>
                </a:r>
                <a:r>
                  <a:rPr lang="en-US" altLang="ja-JP" sz="2000" dirty="0"/>
                  <a:t>100 </a:t>
                </a:r>
                <a:r>
                  <a:rPr lang="ja-JP" altLang="en-US" sz="2000"/>
                  <a:t>人接電話</a:t>
                </a:r>
                <a14:m>
                  <m:oMath xmlns:m="http://schemas.openxmlformats.org/officeDocument/2006/math">
                    <m:r>
                      <a:rPr lang="zh-TW" alt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ja-JP" altLang="en-US" sz="2000"/>
                  <a:t> </a:t>
                </a:r>
                <a:r>
                  <a:rPr lang="en" altLang="ja-JP" sz="2000" dirty="0"/>
                  <a:t>20 </a:t>
                </a:r>
                <a:r>
                  <a:rPr lang="ja-JP" altLang="en-US" sz="2000"/>
                  <a:t>人同意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" altLang="ja-JP" sz="2000" dirty="0"/>
                  <a:t> 5 </a:t>
                </a:r>
                <a:r>
                  <a:rPr lang="ja-JP" altLang="en-US" sz="2000"/>
                  <a:t>人填完 。為了推論母體，最後留下的這 </a:t>
                </a:r>
                <a:r>
                  <a:rPr lang="en-US" altLang="ja-JP" sz="2000" dirty="0"/>
                  <a:t>5 </a:t>
                </a:r>
                <a:r>
                  <a:rPr lang="ja-JP" altLang="en-US" sz="2000"/>
                  <a:t>個人，每個人都要代表原本那 </a:t>
                </a:r>
                <a:r>
                  <a:rPr lang="en-US" altLang="ja-JP" sz="2000" dirty="0"/>
                  <a:t>100 </a:t>
                </a:r>
                <a:r>
                  <a:rPr lang="ja-JP" altLang="en-US" sz="2000"/>
                  <a:t>人的份量 。</a:t>
                </a:r>
              </a:p>
              <a:p>
                <a:r>
                  <a:rPr lang="zh-TW" altLang="en-US" sz="2000" dirty="0"/>
                  <a:t>所以，權值</a:t>
                </a:r>
                <a:r>
                  <a:rPr lang="en-US" altLang="zh-TW" sz="2000" dirty="0"/>
                  <a:t>=</a:t>
                </a:r>
                <a:r>
                  <a:rPr lang="zh-TW" altLang="en-US" sz="2000" dirty="0"/>
                  <a:t>電話抽樣權重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/>
                  <a:t> </a:t>
                </a:r>
                <a:r>
                  <a:rPr lang="zh-TW" altLang="en-US" sz="2000" dirty="0"/>
                  <a:t>加入資料庫機率的倒數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TW" altLang="en-US" sz="2000" dirty="0"/>
                  <a:t>完成問卷機率的倒數 。</a:t>
                </a: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C97CC7-B9FA-04C8-1299-5314BA2E87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CAABB-2C93-9A83-3F20-00511F754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57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43FC3-4047-4A6A-6B74-C624EA38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網路調查的</a:t>
            </a:r>
            <a:r>
              <a:rPr lang="en-US" dirty="0" err="1"/>
              <a:t>加權（二</a:t>
            </a:r>
            <a:r>
              <a:rPr lang="en-US" dirty="0"/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CE2E6-2E15-4EE8-1671-5A91A471F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ja-JP" altLang="en-US" sz="2000"/>
                  <a:t>在電話樣本內，完成線上問卷的條件機率為：</a:t>
                </a:r>
                <a:endParaRPr lang="en-US" altLang="ja-JP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𝐽𝑅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=1,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altLang="ja-JP" sz="2000" b="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000"/>
                  <a:t>在「已經完成電話訪問（</a:t>
                </a:r>
                <a:r>
                  <a:rPr lang="en-US" sz="2000" i="1" dirty="0"/>
                  <a:t>S</a:t>
                </a:r>
                <a:r>
                  <a:rPr lang="en-US" sz="2000" dirty="0"/>
                  <a:t>=1）」</a:t>
                </a:r>
                <a:r>
                  <a:rPr lang="ja-JP" altLang="en-US" sz="2000"/>
                  <a:t>且給定特徵 </a:t>
                </a:r>
                <a:r>
                  <a:rPr lang="en-US" altLang="ja-JP" sz="2000" dirty="0"/>
                  <a:t>X</a:t>
                </a:r>
                <a:r>
                  <a:rPr lang="en-US" sz="2000" dirty="0"/>
                  <a:t> </a:t>
                </a:r>
                <a:r>
                  <a:rPr lang="ja-JP" altLang="en-US" sz="2000"/>
                  <a:t>的情況下，一個人同時會「加入資料庫」且「完成線上問卷」的機率等於：</a:t>
                </a:r>
                <a:r>
                  <a:rPr lang="en-US" sz="2000" dirty="0"/>
                  <a:t>「</a:t>
                </a:r>
                <a:r>
                  <a:rPr lang="ja-JP" altLang="en-US" sz="2000"/>
                  <a:t>加入網路調查資料庫的機率」</a:t>
                </a:r>
                <a:r>
                  <a:rPr lang="en-US" altLang="ja-JP" sz="2000" dirty="0"/>
                  <a:t>×</a:t>
                </a:r>
                <a:r>
                  <a:rPr lang="ja-JP" altLang="en-US" sz="2000"/>
                  <a:t>「加入後完成的機率」</a:t>
                </a:r>
                <a:endParaRPr lang="en-US" altLang="ja-JP" sz="20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000"/>
                  <a:t>「線上完成者」的總權重可以寫成：</a:t>
                </a:r>
                <a:endParaRPr lang="en-US" altLang="ja-JP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000"/>
                  <a:t>用「機率的倒數」去加權時，被選進樣本的隨機過程會被「抵消掉」。所以加權後能回到母體平均。</a:t>
                </a: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CE2E6-2E15-4EE8-1671-5A91A471F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26EBF-36D7-2773-E645-6C866621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44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7E66D-9F36-5B97-5623-15693772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網路調查的</a:t>
            </a:r>
            <a:r>
              <a:rPr lang="en-US" dirty="0" err="1"/>
              <a:t>加權（三</a:t>
            </a:r>
            <a:r>
              <a:rPr lang="en-US" dirty="0"/>
              <a:t>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6EA0F-9F78-1203-E782-0F8EC7D2F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ja-JP" altLang="en-US" sz="2000"/>
              <a:t>因為觀察到的資料</a:t>
            </a:r>
            <a:r>
              <a:rPr lang="en-US" altLang="ja-JP" sz="2000" dirty="0"/>
              <a:t>=</a:t>
            </a:r>
            <a:r>
              <a:rPr lang="ja-JP" altLang="en-US" sz="2000"/>
              <a:t>真實資料</a:t>
            </a:r>
            <a:r>
              <a:rPr lang="en-US" altLang="ja-JP" sz="2000" dirty="0"/>
              <a:t>×</a:t>
            </a:r>
            <a:r>
              <a:rPr lang="ja-JP" altLang="en-US" sz="2000"/>
              <a:t>被抽中的機率，所以修正後資料</a:t>
            </a:r>
            <a:r>
              <a:rPr lang="en-US" altLang="ja-JP" sz="2000" dirty="0"/>
              <a:t>=</a:t>
            </a:r>
            <a:r>
              <a:rPr lang="ja-JP" altLang="en-US" sz="2000"/>
              <a:t>觀察到的資料​</a:t>
            </a:r>
            <a:r>
              <a:rPr lang="en-US" altLang="ja-JP" sz="2000" dirty="0"/>
              <a:t>/</a:t>
            </a:r>
            <a:r>
              <a:rPr lang="ja-JP" altLang="en-US" sz="2000"/>
              <a:t>被抽中的機率，稱為</a:t>
            </a:r>
            <a:r>
              <a:rPr lang="en-US" altLang="ja-JP" sz="2000" dirty="0"/>
              <a:t>Inversed Probability Weighting (IPW)</a:t>
            </a:r>
            <a:r>
              <a:rPr lang="ja-JP" altLang="en-US" sz="2000"/>
              <a:t>。</a:t>
            </a:r>
            <a:endParaRPr lang="en-US" altLang="ja-JP" sz="2000" dirty="0"/>
          </a:p>
          <a:p>
            <a:pPr>
              <a:lnSpc>
                <a:spcPct val="150000"/>
              </a:lnSpc>
            </a:pPr>
            <a:r>
              <a:rPr lang="ja-JP" altLang="en-US" sz="2000"/>
              <a:t>這一套程序的前提是加入資料以及最後的預測（例如：投票）只依賴於我們觀察到的 𝑋</a:t>
            </a:r>
          </a:p>
          <a:p>
            <a:pPr>
              <a:lnSpc>
                <a:spcPct val="150000"/>
              </a:lnSpc>
            </a:pPr>
            <a:r>
              <a:rPr lang="ja-JP" altLang="en-US" sz="2000"/>
              <a:t>如果有 </a:t>
            </a:r>
            <a:r>
              <a:rPr lang="en-US" sz="2000" dirty="0"/>
              <a:t>unobserved trait（</a:t>
            </a:r>
            <a:r>
              <a:rPr lang="ja-JP" altLang="en-US" sz="2000"/>
              <a:t>例如「隱性政治熱情」）同時影響：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ja-JP" altLang="en-US" sz="2000"/>
              <a:t>上網填問卷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ja-JP" altLang="en-US" sz="2000"/>
              <a:t>投票意向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👉 </a:t>
            </a:r>
            <a:r>
              <a:rPr lang="ja-JP" altLang="en-US" sz="2000"/>
              <a:t>那麼 </a:t>
            </a:r>
            <a:r>
              <a:rPr lang="en-US" sz="2000" dirty="0"/>
              <a:t>IPW </a:t>
            </a:r>
            <a:r>
              <a:rPr lang="ja-JP" altLang="en-US" sz="2000"/>
              <a:t>不能完全修正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34A1A-6A41-BD1C-EF90-321E7BAE7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10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7296C-20CB-E09A-16CC-99A289B6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網路調查的</a:t>
            </a:r>
            <a:r>
              <a:rPr lang="en-US" dirty="0" err="1"/>
              <a:t>加權（四</a:t>
            </a:r>
            <a:r>
              <a:rPr lang="en-US" dirty="0"/>
              <a:t>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E2529-124E-4C1E-A46F-EA482C25D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ja-JP" altLang="en-US" sz="2000"/>
              <a:t>回顧剛剛的三階段加權過程，第一層：電話樣本根據母體加權</a:t>
            </a:r>
          </a:p>
          <a:p>
            <a:pPr>
              <a:lnSpc>
                <a:spcPct val="150000"/>
              </a:lnSpc>
            </a:pPr>
            <a:r>
              <a:rPr lang="ja-JP" altLang="en-US" sz="2000"/>
              <a:t>電話樣本雖然比較接近 </a:t>
            </a:r>
            <a:r>
              <a:rPr lang="en-US" sz="2000" dirty="0"/>
              <a:t>probability sample，</a:t>
            </a:r>
            <a:r>
              <a:rPr lang="ja-JP" altLang="en-US" sz="2000"/>
              <a:t>但還是會有：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2000"/>
              <a:t>拒訪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frame coverage </a:t>
            </a:r>
            <a:r>
              <a:rPr lang="ja-JP" altLang="en-US" sz="2000"/>
              <a:t>問題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2000"/>
              <a:t>市話</a:t>
            </a:r>
            <a:r>
              <a:rPr lang="en-US" altLang="ja-JP" sz="2000" dirty="0"/>
              <a:t>/</a:t>
            </a:r>
            <a:r>
              <a:rPr lang="ja-JP" altLang="en-US" sz="2000"/>
              <a:t>手機混合抽樣偏誤</a:t>
            </a:r>
          </a:p>
          <a:p>
            <a:pPr>
              <a:lnSpc>
                <a:spcPct val="150000"/>
              </a:lnSpc>
            </a:pPr>
            <a:r>
              <a:rPr lang="ja-JP" altLang="en-US" sz="2000"/>
              <a:t>所以要用母體已知分布（例如年齡、性別、區域、教育）去校準電話樣本。</a:t>
            </a:r>
          </a:p>
          <a:p>
            <a:pPr>
              <a:lnSpc>
                <a:spcPct val="150000"/>
              </a:lnSpc>
            </a:pPr>
            <a:r>
              <a:rPr lang="ja-JP" altLang="en-US" sz="2000"/>
              <a:t>這時母體資料的作用是：把電話樣本修正成更接近母體的 </a:t>
            </a:r>
            <a:r>
              <a:rPr lang="en-US" sz="2000" dirty="0"/>
              <a:t>reference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EB2DB-3B3B-5073-A0E6-CC69741A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02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7296C-20CB-E09A-16CC-99A289B6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網路調查的</a:t>
            </a:r>
            <a:r>
              <a:rPr lang="en-US" dirty="0" err="1"/>
              <a:t>加權（五</a:t>
            </a:r>
            <a:r>
              <a:rPr lang="en-US" dirty="0"/>
              <a:t>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E2529-124E-4C1E-A46F-EA482C25D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ja-JP" altLang="en-US" sz="2000"/>
              <a:t>第二層：線上樣本對電話</a:t>
            </a:r>
            <a:r>
              <a:rPr lang="en-US" altLang="ja-JP" sz="2000" dirty="0"/>
              <a:t>/</a:t>
            </a:r>
            <a:r>
              <a:rPr lang="ja-JP" altLang="en-US" sz="2000"/>
              <a:t>母體加權</a:t>
            </a:r>
          </a:p>
          <a:p>
            <a:pPr>
              <a:lnSpc>
                <a:spcPct val="150000"/>
              </a:lnSpc>
            </a:pPr>
            <a:r>
              <a:rPr lang="ja-JP" altLang="en-US" sz="2000"/>
              <a:t>因為線上樣本不是直接從母體抽出來，而是從電話樣本中篩選：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2000"/>
              <a:t>願不願意加入 </a:t>
            </a:r>
            <a:r>
              <a:rPr lang="en-US" altLang="ja-JP" sz="2000" dirty="0"/>
              <a:t>panel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2000"/>
              <a:t>會不會真的完成線上問卷</a:t>
            </a:r>
          </a:p>
          <a:p>
            <a:pPr>
              <a:lnSpc>
                <a:spcPct val="150000"/>
              </a:lnSpc>
            </a:pPr>
            <a:r>
              <a:rPr lang="ja-JP" altLang="en-US" sz="2000"/>
              <a:t>所以我們用電話樣本估計「誰比較容易上線」，然後用機率的倒數加權。更好的方式是用 </a:t>
            </a:r>
            <a:r>
              <a:rPr lang="en" altLang="ja-JP" sz="2000" dirty="0"/>
              <a:t>logistic regression </a:t>
            </a:r>
            <a:r>
              <a:rPr lang="ja-JP" altLang="en-US" sz="2000"/>
              <a:t>這種模型，估計每種特徵組合的留下機率。</a:t>
            </a:r>
          </a:p>
          <a:p>
            <a:pPr>
              <a:lnSpc>
                <a:spcPct val="150000"/>
              </a:lnSpc>
            </a:pPr>
            <a:r>
              <a:rPr lang="ja-JP" altLang="en-US" sz="2000"/>
              <a:t>整體來說，這一套過程是：母體資料校正好電話樣本；再由電話樣本作為橋樑，把線上樣本代表母體。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EB2DB-3B3B-5073-A0E6-CC69741A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45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E537B-C4AE-0BF8-E9D6-45951B9AF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C553-0DB6-FAF8-C31F-2B4753D9E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入選機率調整法</a:t>
            </a:r>
            <a:r>
              <a:rPr lang="en-US" dirty="0"/>
              <a:t>（</a:t>
            </a:r>
            <a:r>
              <a:rPr lang="en-US" dirty="0" err="1"/>
              <a:t>一</a:t>
            </a:r>
            <a:r>
              <a:rPr lang="en-US" dirty="0"/>
              <a:t>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D7A7D-2D91-0425-975E-AAA6C5AE3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kumimoji="1" lang="zh-TW" altLang="en-US" sz="2000" dirty="0"/>
              <a:t>「入選機率調整法」（</a:t>
            </a:r>
            <a:r>
              <a:rPr kumimoji="1" lang="en-US" altLang="zh-TW" sz="2000" dirty="0"/>
              <a:t>Propensity Score Adjustment, PSA</a:t>
            </a:r>
            <a:r>
              <a:rPr kumimoji="1" lang="zh-TW" altLang="en-US" sz="2000" dirty="0"/>
              <a:t>）是處理非機率樣本（如網路自願調查）偏誤的核心統計技術。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ja-JP" altLang="en-US" sz="2000"/>
              <a:t>學者建議電話訪問與網路調查同時進行，並且詢問受訪者一些生活上的問題，用這些題目預測哪些人更容易成為網路調查的受訪者。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ja-JP" altLang="en-US" sz="2000"/>
              <a:t>例如：詢問受訪者起床時間、就寢時間、上次是否投票、是否可以在家上網、以前有沒有接受過訪問等等。</a:t>
            </a:r>
            <a:endParaRPr lang="en-US" altLang="ja-JP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起床時間：晚起床的人比較可能接觸網路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就寢時間：晚睡的人比較可能接觸網路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2000"/>
              <a:t>上次是否投票</a:t>
            </a:r>
            <a:r>
              <a:rPr lang="en-US" sz="2000" dirty="0"/>
              <a:t>：</a:t>
            </a:r>
            <a:r>
              <a:rPr lang="en-US" sz="2000" dirty="0" err="1"/>
              <a:t>上次投票的人比較可能願意參加網路調查</a:t>
            </a:r>
            <a:endParaRPr lang="ja-JP" altLang="en-US" sz="2000"/>
          </a:p>
          <a:p>
            <a:r>
              <a:rPr lang="ja-JP" altLang="en-US" sz="2000"/>
              <a:t>合併這兩筆樣本之後，可以用這三個題目預測受訪者成為網路樣本的機率。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49232-4471-01C1-446B-ED966910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86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3EE3C2-DDD8-7A06-09FA-3DA3575D4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入選機率調整法</a:t>
            </a:r>
            <a:r>
              <a:rPr lang="en-US" altLang="zh-TW" dirty="0"/>
              <a:t>（</a:t>
            </a:r>
            <a:r>
              <a:rPr lang="zh-TW" altLang="en-US" dirty="0"/>
              <a:t>二</a:t>
            </a:r>
            <a:r>
              <a:rPr lang="en-US" altLang="zh-TW" dirty="0"/>
              <a:t>）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D1E07AE-ED5B-6F60-8C27-C97012B8AC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zh-TW" altLang="en-US" sz="2000" dirty="0"/>
                  <a:t>為了處理非機率樣本（如網路自願調查）偏誤，我們同時進行網路與電話訪問調查。</a:t>
                </a:r>
                <a:endParaRPr kumimoji="1" lang="en-US" altLang="zh-TW" sz="20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zh-TW" altLang="en-US" sz="2000" dirty="0"/>
                  <a:t>合併與標記將兩份數據合併。給予一個標籤變數 </a:t>
                </a:r>
                <a:r>
                  <a:rPr kumimoji="1" lang="en" altLang="zh-TW" sz="2000" dirty="0"/>
                  <a:t>Y</a:t>
                </a:r>
                <a:r>
                  <a:rPr kumimoji="1" lang="zh-TW" altLang="en" sz="2000" dirty="0"/>
                  <a:t>：</a:t>
                </a:r>
                <a:r>
                  <a:rPr kumimoji="1" lang="zh-TW" altLang="en-US" sz="2000" dirty="0"/>
                  <a:t>如果是來自網路問卷， </a:t>
                </a:r>
                <a:r>
                  <a:rPr kumimoji="1" lang="en" altLang="zh-TW" sz="2000" dirty="0"/>
                  <a:t>Y = 1</a:t>
                </a:r>
                <a:r>
                  <a:rPr kumimoji="1" lang="zh-TW" altLang="en-US" sz="2000" dirty="0"/>
                  <a:t>。如果是來自隨機樣本， </a:t>
                </a:r>
                <a:r>
                  <a:rPr kumimoji="1" lang="en" altLang="zh-TW" sz="2000" dirty="0"/>
                  <a:t>Y = 0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zh-TW" altLang="en-US" sz="2000" dirty="0"/>
                  <a:t>建立勝算對數迴歸模型 </a:t>
                </a:r>
                <a:r>
                  <a:rPr kumimoji="1" lang="en-US" altLang="zh-TW" sz="2000" dirty="0"/>
                  <a:t>(</a:t>
                </a:r>
                <a:r>
                  <a:rPr kumimoji="1" lang="en" altLang="zh-TW" sz="2000" dirty="0"/>
                  <a:t>Logistic Regression)</a:t>
                </a:r>
                <a:r>
                  <a:rPr kumimoji="1" lang="zh-TW" altLang="en-US" sz="2000" dirty="0"/>
                  <a:t>，利用兩組樣本中都有的共通變數（如：年齡、性別、</a:t>
                </a:r>
                <a:r>
                  <a:rPr kumimoji="1" lang="en" altLang="zh-TW" sz="2000" dirty="0" err="1"/>
                  <a:t>Webographics</a:t>
                </a:r>
                <a:r>
                  <a:rPr kumimoji="1" lang="en" altLang="zh-TW" sz="2000" dirty="0"/>
                  <a:t> </a:t>
                </a:r>
                <a:r>
                  <a:rPr kumimoji="1" lang="zh-TW" altLang="en-US" sz="2000" dirty="0"/>
                  <a:t>網路行為）作為自變數 </a:t>
                </a:r>
                <a:r>
                  <a:rPr kumimoji="1" lang="en-US" altLang="zh-TW" sz="2000" dirty="0"/>
                  <a:t>(</a:t>
                </a:r>
                <a:r>
                  <a:rPr kumimoji="1" lang="en" altLang="zh-TW" sz="2000" dirty="0"/>
                  <a:t>X)</a:t>
                </a:r>
                <a:r>
                  <a:rPr kumimoji="1" lang="zh-TW" altLang="en" sz="2000" dirty="0"/>
                  <a:t>，</a:t>
                </a:r>
                <a:r>
                  <a:rPr kumimoji="1" lang="zh-TW" altLang="en-US" sz="2000" dirty="0"/>
                  <a:t>去預測每一個人屬於 </a:t>
                </a:r>
                <a:r>
                  <a:rPr kumimoji="1" lang="en" altLang="zh-TW" sz="2000" dirty="0"/>
                  <a:t>Y=1 </a:t>
                </a:r>
                <a:r>
                  <a:rPr kumimoji="1" lang="zh-TW" altLang="en-US" sz="2000" dirty="0"/>
                  <a:t>的機率。這個計算出來的機率值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zh-TW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kumimoji="1" lang="zh-TW" altLang="en" sz="2000" dirty="0"/>
                  <a:t>，</a:t>
                </a:r>
                <a:r>
                  <a:rPr kumimoji="1" lang="zh-TW" altLang="en-US" sz="2000" dirty="0"/>
                  <a:t>就是傾向分數 </a:t>
                </a:r>
                <a:r>
                  <a:rPr kumimoji="1" lang="en-US" altLang="zh-TW" sz="2000" dirty="0"/>
                  <a:t>(</a:t>
                </a:r>
                <a:r>
                  <a:rPr kumimoji="1" lang="en" altLang="zh-TW" sz="2000" dirty="0"/>
                  <a:t>Propensity Score)</a:t>
                </a:r>
                <a:r>
                  <a:rPr kumimoji="1" lang="zh-TW" altLang="en" sz="2000" dirty="0"/>
                  <a:t>。</a:t>
                </a:r>
                <a:r>
                  <a:rPr kumimoji="1" lang="zh-TW" altLang="en-US" sz="2000" dirty="0"/>
                  <a:t>分數越高：代表這個特徵的人在網路上極端活躍，過度代表（</a:t>
                </a:r>
                <a:r>
                  <a:rPr kumimoji="1" lang="en" altLang="zh-TW" sz="2000" dirty="0"/>
                  <a:t>Over-represented</a:t>
                </a:r>
                <a:r>
                  <a:rPr kumimoji="1" lang="zh-TW" altLang="en" sz="2000" dirty="0"/>
                  <a:t>）。</a:t>
                </a:r>
                <a:r>
                  <a:rPr kumimoji="1" lang="zh-TW" altLang="en-US" sz="2000" dirty="0"/>
                  <a:t>分數越低：代表這個特徵的人很少出現在網路調查中（</a:t>
                </a:r>
                <a:r>
                  <a:rPr kumimoji="1" lang="en" altLang="zh-TW" sz="2000" dirty="0"/>
                  <a:t>Under-represented</a:t>
                </a:r>
                <a:r>
                  <a:rPr kumimoji="1" lang="zh-TW" altLang="en" sz="2000" dirty="0"/>
                  <a:t>）。</a:t>
                </a:r>
                <a:endParaRPr kumimoji="1" lang="en-US" altLang="zh-TW" sz="20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zh-TW" altLang="en-US" sz="2000" dirty="0"/>
                  <a:t>根據傾向分數，給予非機率樣本不同的權重。公式通常為：</a:t>
                </a:r>
                <a:r>
                  <a:rPr kumimoji="1" lang="en" altLang="zh-TW" sz="2000" dirty="0"/>
                  <a:t>W = (1 - </a:t>
                </a:r>
                <a:r>
                  <a:rPr kumimoji="1" lang="zh-TW" alt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zh-TW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kumimoji="1" lang="en-US" altLang="zh-TW" sz="2000" b="0" i="0" smtClean="0">
                        <a:latin typeface="Cambria Math" panose="02040503050406030204" pitchFamily="18" charset="0"/>
                      </a:rPr>
                      <m:t>)/</m:t>
                    </m:r>
                  </m:oMath>
                </a14:m>
                <a:r>
                  <a:rPr kumimoji="1" lang="zh-TW" alt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zh-TW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kumimoji="1" lang="zh-TW" altLang="en-US" sz="2000" dirty="0"/>
                  <a:t>如果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zh-TW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kumimoji="1" lang="en" altLang="zh-TW" sz="2000" dirty="0"/>
                  <a:t> </a:t>
                </a:r>
                <a:r>
                  <a:rPr kumimoji="1" lang="zh-TW" altLang="en-US" sz="2000" dirty="0"/>
                  <a:t>很大（如 </a:t>
                </a:r>
                <a:r>
                  <a:rPr kumimoji="1" lang="en-US" altLang="zh-TW" sz="2000" dirty="0"/>
                  <a:t>0.9</a:t>
                </a:r>
                <a:r>
                  <a:rPr kumimoji="1" lang="zh-TW" altLang="en-US" sz="2000" dirty="0"/>
                  <a:t>）： 權重會變得很小，降低該樣本的影響力。如果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zh-TW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kumimoji="1" lang="zh-TW" altLang="en-US" sz="2000" dirty="0"/>
                  <a:t>很小（如 </a:t>
                </a:r>
                <a:r>
                  <a:rPr kumimoji="1" lang="en-US" altLang="zh-TW" sz="2000" dirty="0"/>
                  <a:t>0.1</a:t>
                </a:r>
                <a:r>
                  <a:rPr kumimoji="1" lang="zh-TW" altLang="en-US" sz="2000" dirty="0"/>
                  <a:t>）： 權重會變大，放大該樣本的發言權。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D1E07AE-ED5B-6F60-8C27-C97012B8AC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3" r="-10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477EDC-9A39-CFFD-2F6B-8CBAED49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23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B25333-FA00-DAC2-008C-F9F92142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入選機率調整法</a:t>
            </a:r>
            <a:r>
              <a:rPr lang="en-US" altLang="zh-TW" dirty="0"/>
              <a:t>（</a:t>
            </a:r>
            <a:r>
              <a:rPr lang="zh-TW" altLang="en-US" dirty="0"/>
              <a:t>三</a:t>
            </a:r>
            <a:r>
              <a:rPr lang="en-US" altLang="zh-TW" dirty="0"/>
              <a:t>）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57172E-4746-788F-EAED-46AA41DEF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" altLang="zh-TW" sz="2000" dirty="0" err="1"/>
              <a:t>Webographics</a:t>
            </a:r>
            <a:r>
              <a:rPr kumimoji="1" lang="zh-TW" altLang="en-US" sz="2000" dirty="0"/>
              <a:t>有如下的可能問題：</a:t>
            </a:r>
            <a:endParaRPr kumimoji="1" lang="en-US" altLang="zh-TW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/>
              <a:t>變數選擇的主觀性：哪些 指標最關鍵？（是上網時數？還是是否使用網銀？）目前並沒有統一標準。選錯變數可能導致加權無效，甚至增加統計噪訊。</a:t>
            </a:r>
            <a:endParaRPr kumimoji="1" lang="en-US" altLang="zh-TW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/>
              <a:t>可能導致樣本權值過大：如果某個特定網路行為族群在你的樣本中極少（例如：很少上網的高齡者），為了補齊權重，該樣本的權值會被放大到極端（如 </a:t>
            </a:r>
            <a:r>
              <a:rPr kumimoji="1" lang="en-US" altLang="zh-TW" sz="2000" dirty="0"/>
              <a:t>1 </a:t>
            </a:r>
            <a:r>
              <a:rPr kumimoji="1" lang="zh-TW" altLang="en-US" sz="2000" dirty="0"/>
              <a:t>個人代表 </a:t>
            </a:r>
            <a:r>
              <a:rPr kumimoji="1" lang="en-US" altLang="zh-TW" sz="2000" dirty="0"/>
              <a:t>500 </a:t>
            </a:r>
            <a:r>
              <a:rPr kumimoji="1" lang="zh-TW" altLang="en-US" sz="2000" dirty="0"/>
              <a:t>個人）。這會導致標準誤（</a:t>
            </a:r>
            <a:r>
              <a:rPr kumimoji="1" lang="en" altLang="zh-TW" sz="2000" dirty="0"/>
              <a:t>Standard Error</a:t>
            </a:r>
            <a:r>
              <a:rPr kumimoji="1" lang="zh-TW" altLang="en" sz="2000" dirty="0"/>
              <a:t>）</a:t>
            </a:r>
            <a:r>
              <a:rPr kumimoji="1" lang="zh-TW" altLang="en-US" sz="2000" dirty="0"/>
              <a:t>暴增，讓調查結果不穩定。</a:t>
            </a:r>
            <a:endParaRPr kumimoji="1" lang="en-US" altLang="zh-TW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/>
              <a:t>無法處理「未觀測到的差異」：即使網路行為一樣，自願填問卷的人與被動受訪的人在「性格（如熱衷程度）」上仍有本質區別，這是 </a:t>
            </a:r>
            <a:r>
              <a:rPr kumimoji="1" lang="en" altLang="zh-TW" sz="2000" dirty="0" err="1"/>
              <a:t>Webographics</a:t>
            </a:r>
            <a:r>
              <a:rPr kumimoji="1" lang="en" altLang="zh-TW" sz="2000" dirty="0"/>
              <a:t> </a:t>
            </a:r>
            <a:r>
              <a:rPr kumimoji="1" lang="zh-TW" altLang="en-US" sz="2000" dirty="0"/>
              <a:t>數據無法完全消除的殘餘偏差。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3EC6B7-9114-0FA4-6CAB-B58ECE6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13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6B50-8148-E70C-37D0-8D64E7AF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87CC88-554C-2C96-ADDE-E298EF1A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入選機率調整法</a:t>
            </a:r>
            <a:r>
              <a:rPr lang="en-US" altLang="zh-TW" dirty="0"/>
              <a:t>（</a:t>
            </a:r>
            <a:r>
              <a:rPr lang="zh-TW" altLang="en-US" dirty="0"/>
              <a:t>四</a:t>
            </a:r>
            <a:r>
              <a:rPr lang="en-US" altLang="zh-TW" dirty="0"/>
              <a:t>）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B18FE7-5730-D4EA-75C6-EA6800479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sz="2000" dirty="0"/>
              <a:t>假設網路調查發現「</a:t>
            </a:r>
            <a:r>
              <a:rPr kumimoji="1" lang="en-US" altLang="zh-TW" sz="2000" dirty="0"/>
              <a:t>20-29 </a:t>
            </a:r>
            <a:r>
              <a:rPr kumimoji="1" lang="zh-TW" altLang="en-US" sz="2000" dirty="0"/>
              <a:t>歲、每天上網 </a:t>
            </a:r>
            <a:r>
              <a:rPr kumimoji="1" lang="en-US" altLang="zh-TW" sz="2000" dirty="0"/>
              <a:t>5 </a:t>
            </a:r>
            <a:r>
              <a:rPr kumimoji="1" lang="zh-TW" altLang="en-US" sz="2000" dirty="0"/>
              <a:t>小時以上」的人滿意台北市長的程度極高，且這群人在問卷中佔了 </a:t>
            </a:r>
            <a:r>
              <a:rPr kumimoji="1" lang="en-US" altLang="zh-TW" sz="2000" dirty="0"/>
              <a:t>80%</a:t>
            </a:r>
            <a:r>
              <a:rPr kumimoji="1" lang="zh-TW" altLang="en-US" sz="2000" dirty="0"/>
              <a:t>。</a:t>
            </a:r>
          </a:p>
          <a:p>
            <a:endParaRPr kumimoji="1" lang="zh-TW" altLang="en-US" sz="2000" dirty="0"/>
          </a:p>
          <a:p>
            <a:r>
              <a:rPr kumimoji="1" lang="zh-TW" altLang="en-US" sz="2000" dirty="0"/>
              <a:t>但是根據「隨機抽樣」的基準樣本顯示，這群人在真實社會中其實只佔 </a:t>
            </a:r>
            <a:r>
              <a:rPr kumimoji="1" lang="en-US" altLang="zh-TW" sz="2000" dirty="0"/>
              <a:t>20%</a:t>
            </a:r>
            <a:r>
              <a:rPr kumimoji="1" lang="zh-TW" altLang="en-US" sz="2000" dirty="0"/>
              <a:t>。</a:t>
            </a:r>
          </a:p>
          <a:p>
            <a:endParaRPr kumimoji="1" lang="zh-TW" altLang="en-US" sz="2000" dirty="0"/>
          </a:p>
          <a:p>
            <a:r>
              <a:rPr kumimoji="1" lang="en" altLang="zh-TW" sz="2000" dirty="0"/>
              <a:t>PSA </a:t>
            </a:r>
            <a:r>
              <a:rPr kumimoji="1" lang="zh-TW" altLang="en-US" sz="2000" dirty="0"/>
              <a:t>會算出這群人的傾向分數極高。</a:t>
            </a:r>
          </a:p>
          <a:p>
            <a:endParaRPr kumimoji="1" lang="zh-TW" altLang="en-US" sz="2000" dirty="0"/>
          </a:p>
          <a:p>
            <a:r>
              <a:rPr kumimoji="1" lang="zh-TW" altLang="en-US" sz="2000" dirty="0"/>
              <a:t>模型會自動調低這群人的權重。</a:t>
            </a:r>
          </a:p>
          <a:p>
            <a:endParaRPr kumimoji="1" lang="zh-TW" altLang="en-US" sz="2000" dirty="0"/>
          </a:p>
          <a:p>
            <a:r>
              <a:rPr kumimoji="1" lang="zh-TW" altLang="en-US" sz="2000" dirty="0"/>
              <a:t>最終計算總平均滿意度時，結果會向「真實母體」靠攏。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988104-9334-8792-9756-F36D63F9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49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A122E-5965-FA9D-75FD-B513B52AE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CEF2A7-A3B4-8748-11CD-087DCD76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混合式調查</a:t>
            </a:r>
            <a:r>
              <a:rPr lang="en-US" altLang="zh-TW" dirty="0"/>
              <a:t>（</a:t>
            </a:r>
            <a:r>
              <a:rPr lang="zh-TW" altLang="en-US" dirty="0"/>
              <a:t>一</a:t>
            </a:r>
            <a:r>
              <a:rPr lang="en-US" altLang="zh-TW" dirty="0"/>
              <a:t>）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EA9404-CED0-1FC4-5487-8BC4946AF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000" dirty="0"/>
              <a:t>為了降低訪問成本，但是收集到一定數量的樣本，並且維持資料的品質，學者提出混合式調查</a:t>
            </a:r>
            <a:r>
              <a:rPr kumimoji="1" lang="en-US" altLang="zh-TW" sz="2000" dirty="0"/>
              <a:t>(mixed-mode survey)</a:t>
            </a:r>
            <a:r>
              <a:rPr kumimoji="1" lang="zh-TW" altLang="en-US" sz="2000" dirty="0"/>
              <a:t>。</a:t>
            </a:r>
            <a:endParaRPr kumimoji="1" lang="en-US" altLang="zh-TW" sz="2000" dirty="0"/>
          </a:p>
          <a:p>
            <a:pPr>
              <a:lnSpc>
                <a:spcPct val="150000"/>
              </a:lnSpc>
            </a:pPr>
            <a:r>
              <a:rPr kumimoji="1" lang="zh-TW" altLang="en-US" sz="2000" dirty="0"/>
              <a:t>混合式調查的主要特點是讓受訪者自填</a:t>
            </a:r>
            <a:r>
              <a:rPr kumimoji="1" lang="en-US" altLang="zh-TW" sz="2000" dirty="0"/>
              <a:t>(self-administered)</a:t>
            </a:r>
            <a:r>
              <a:rPr kumimoji="1" lang="zh-TW" altLang="en-US" sz="2000" dirty="0"/>
              <a:t>，所以電話訪問與面訪調查可以結合郵寄問卷、網路問卷等等。</a:t>
            </a:r>
            <a:endParaRPr kumimoji="1" lang="en-US" altLang="zh-TW" sz="2000" dirty="0"/>
          </a:p>
          <a:p>
            <a:pPr>
              <a:lnSpc>
                <a:spcPct val="150000"/>
              </a:lnSpc>
            </a:pPr>
            <a:r>
              <a:rPr kumimoji="1" lang="zh-TW" altLang="en-US" sz="2000" dirty="0"/>
              <a:t>可以分為同時進行</a:t>
            </a:r>
            <a:r>
              <a:rPr kumimoji="1" lang="en-US" altLang="zh-TW" sz="2000" dirty="0"/>
              <a:t>(concurrent)</a:t>
            </a:r>
            <a:r>
              <a:rPr kumimoji="1" lang="zh-TW" altLang="en-US" sz="2000" dirty="0"/>
              <a:t>以及依序進行</a:t>
            </a:r>
            <a:r>
              <a:rPr kumimoji="1" lang="en-US" altLang="zh-TW" sz="2000" dirty="0"/>
              <a:t>(sequential)</a:t>
            </a:r>
            <a:r>
              <a:rPr kumimoji="1" lang="zh-TW" altLang="en-US" sz="2000" dirty="0"/>
              <a:t>兩種。有些「同時進行式」混合調查允許受訪者選擇要用哪一種調查模式。例如受訪者可以選擇電訪或者自填網路問卷，提高受訪者接受調查的意願。不過，要限制某些特徵的受訪者，例如可能沒辦法上網或者沒辦法接電話（例如在國外），他們的選擇權利。</a:t>
            </a:r>
            <a:endParaRPr kumimoji="1" lang="en-US" altLang="zh-TW" sz="2000" dirty="0"/>
          </a:p>
          <a:p>
            <a:endParaRPr kumimoji="1"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330523-6286-D0B3-E9E4-7AB59F7C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21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3E8A9C4-7ACB-3C55-7D5B-D0873F0A9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z="4400" dirty="0"/>
              <a:t>同時進行</a:t>
            </a:r>
            <a:r>
              <a:rPr kumimoji="1" lang="en-US" altLang="zh-TW" sz="4400" dirty="0"/>
              <a:t>(concurrent)</a:t>
            </a:r>
            <a:r>
              <a:rPr kumimoji="1" lang="zh-TW" altLang="en-US" sz="4400" dirty="0"/>
              <a:t>混合式調查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A51D1FF-4BBD-B68D-1613-D8AF52983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24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1E7E73F-BA88-71FE-D867-82A376591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1714500"/>
            <a:ext cx="7772400" cy="316523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A654AAB-9100-E7E3-BAD4-41162A12769A}"/>
              </a:ext>
            </a:extLst>
          </p:cNvPr>
          <p:cNvSpPr txBox="1"/>
          <p:nvPr/>
        </p:nvSpPr>
        <p:spPr>
          <a:xfrm>
            <a:off x="1736862" y="5294874"/>
            <a:ext cx="79214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000" dirty="0">
                <a:solidFill>
                  <a:schemeClr val="tx1"/>
                </a:solidFill>
              </a:rPr>
              <a:t>Source: </a:t>
            </a:r>
            <a:r>
              <a:rPr lang="en" altLang="zh-TW" sz="2000" dirty="0" err="1">
                <a:solidFill>
                  <a:schemeClr val="tx1"/>
                </a:solidFill>
              </a:rPr>
              <a:t>Biffignandi</a:t>
            </a:r>
            <a:r>
              <a:rPr lang="en-US" altLang="zh-TW" sz="2000" dirty="0">
                <a:solidFill>
                  <a:schemeClr val="tx1"/>
                </a:solidFill>
              </a:rPr>
              <a:t> and </a:t>
            </a:r>
            <a:r>
              <a:rPr lang="en" altLang="zh-TW" sz="2000" dirty="0">
                <a:solidFill>
                  <a:schemeClr val="tx1"/>
                </a:solidFill>
              </a:rPr>
              <a:t>Bethlehem (2021) Handbook of Web Survey, p. 344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962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0E86C1C-C9CC-7306-F445-3C98D7EAD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25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CB0FDF4-6ABC-B3DE-9954-3316BF12F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165" y="516834"/>
            <a:ext cx="7056783" cy="634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36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AEBBD-5339-E43A-AE0C-9BBC816DE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14C032-FC26-D38F-4787-1446CD4D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混合式調查（二</a:t>
            </a:r>
            <a:r>
              <a:rPr lang="ja-JP" altLang="en-US" dirty="0"/>
              <a:t>）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99AEBD-DD6E-B612-911E-4BC4B49F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000" dirty="0"/>
              <a:t>依序進行式混合調查則是先用一種模式接觸受訪者，如果受訪者沒有回應，再改用另一種模式。</a:t>
            </a:r>
            <a:endParaRPr kumimoji="1" lang="en-US" altLang="zh-TW" sz="2000" dirty="0"/>
          </a:p>
          <a:p>
            <a:pPr>
              <a:lnSpc>
                <a:spcPct val="150000"/>
              </a:lnSpc>
            </a:pPr>
            <a:r>
              <a:rPr kumimoji="1" lang="zh-TW" altLang="en-US" sz="2000" dirty="0"/>
              <a:t>如果用成本比較低的調查模式接觸受訪者，例如郵寄問卷給被抽中的加戶，再用面對面模式接觸沒有反應的受訪者，可以控制訪問的成本。</a:t>
            </a:r>
            <a:endParaRPr kumimoji="1" lang="en-US" altLang="zh-TW" sz="2000" dirty="0"/>
          </a:p>
          <a:p>
            <a:pPr>
              <a:lnSpc>
                <a:spcPct val="150000"/>
              </a:lnSpc>
            </a:pPr>
            <a:r>
              <a:rPr kumimoji="1" lang="zh-TW" altLang="en-US" sz="2000" dirty="0"/>
              <a:t>如果用成功率比較高的調查模式接觸受訪者，例如面對面訪問，再郵寄問卷給不在家的受訪者，可以提高訪問成功率。</a:t>
            </a:r>
            <a:endParaRPr kumimoji="1" lang="en-US" altLang="zh-TW" sz="2000" dirty="0"/>
          </a:p>
          <a:p>
            <a:pPr>
              <a:lnSpc>
                <a:spcPct val="150000"/>
              </a:lnSpc>
            </a:pPr>
            <a:r>
              <a:rPr kumimoji="1" lang="zh-TW" altLang="en-US" sz="2000" dirty="0"/>
              <a:t>如果是固定追蹤樣本調查，一般先用面對面訪問，再用電話訪問追蹤。</a:t>
            </a:r>
            <a:endParaRPr kumimoji="1" lang="en-US" altLang="zh-TW" sz="2000" dirty="0"/>
          </a:p>
          <a:p>
            <a:pPr>
              <a:lnSpc>
                <a:spcPct val="150000"/>
              </a:lnSpc>
            </a:pPr>
            <a:r>
              <a:rPr kumimoji="1" lang="zh-TW" altLang="en-US" sz="2000" dirty="0">
                <a:solidFill>
                  <a:srgbClr val="FF0000"/>
                </a:solidFill>
              </a:rPr>
              <a:t>問題：還有其他的混合方式嗎？</a:t>
            </a:r>
            <a:endParaRPr kumimoji="1" lang="en-US" altLang="zh-TW" sz="2000" dirty="0">
              <a:solidFill>
                <a:srgbClr val="FF0000"/>
              </a:solidFill>
            </a:endParaRPr>
          </a:p>
          <a:p>
            <a:endParaRPr kumimoji="1"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7706C6-633A-80F1-0099-93B0F911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22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A4FB4-0EC4-1867-247A-36106B8A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354E6CC-8C0B-4BE9-E33D-E8DC952E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依序</a:t>
            </a:r>
            <a:r>
              <a:rPr kumimoji="1" lang="zh-TW" altLang="en-US" sz="4400" dirty="0"/>
              <a:t>進行</a:t>
            </a:r>
            <a:r>
              <a:rPr kumimoji="1" lang="en-US" altLang="zh-TW" sz="4400" dirty="0"/>
              <a:t>(</a:t>
            </a:r>
            <a:r>
              <a:rPr kumimoji="1" lang="en-US" altLang="zh-TW" dirty="0"/>
              <a:t>sequential</a:t>
            </a:r>
            <a:r>
              <a:rPr kumimoji="1" lang="en-US" altLang="zh-TW" sz="4400" dirty="0"/>
              <a:t>)</a:t>
            </a:r>
            <a:r>
              <a:rPr kumimoji="1" lang="zh-TW" altLang="en-US" sz="4400" dirty="0"/>
              <a:t>混合式調查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7145AF-F9A3-D54F-256C-D68600F6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27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BB14411-C73F-0729-F115-E53316A1F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411" y="2124213"/>
            <a:ext cx="7772400" cy="352738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A4F262E-F515-D8DE-FAF6-5DEFDFD5B2D9}"/>
              </a:ext>
            </a:extLst>
          </p:cNvPr>
          <p:cNvSpPr txBox="1"/>
          <p:nvPr/>
        </p:nvSpPr>
        <p:spPr>
          <a:xfrm>
            <a:off x="1726922" y="5651593"/>
            <a:ext cx="82519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000" dirty="0">
                <a:solidFill>
                  <a:schemeClr val="tx1"/>
                </a:solidFill>
              </a:rPr>
              <a:t>Source: </a:t>
            </a:r>
            <a:r>
              <a:rPr lang="en" altLang="zh-TW" sz="2000" dirty="0" err="1">
                <a:solidFill>
                  <a:schemeClr val="tx1"/>
                </a:solidFill>
              </a:rPr>
              <a:t>Biffignandi</a:t>
            </a:r>
            <a:r>
              <a:rPr lang="en-US" altLang="zh-TW" sz="2000" dirty="0">
                <a:solidFill>
                  <a:schemeClr val="tx1"/>
                </a:solidFill>
              </a:rPr>
              <a:t> and </a:t>
            </a:r>
            <a:r>
              <a:rPr lang="en" altLang="zh-TW" sz="2000" dirty="0">
                <a:solidFill>
                  <a:schemeClr val="tx1"/>
                </a:solidFill>
              </a:rPr>
              <a:t>Bethlehem (2021) Handbook of Web Survey, p. </a:t>
            </a:r>
            <a:r>
              <a:rPr lang="en" altLang="zh-TW" sz="2000" dirty="0"/>
              <a:t>345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DD3D27D-A48B-D422-7BD7-3FF3E2901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411" y="2046598"/>
            <a:ext cx="7772400" cy="352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981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F384-211A-E45A-CA80-675CF1B5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混合式調查（三）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FF12E-D9A6-7583-B906-7EBC4F3E4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混合式跟其他調查一樣要考慮以下幾點</a:t>
            </a:r>
            <a:r>
              <a:rPr lang="en-US" dirty="0"/>
              <a:t>：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需要收集的資料的複雜程度</a:t>
            </a:r>
            <a:r>
              <a:rPr lang="en-US" dirty="0"/>
              <a:t>；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問卷的長度以及可以訪問的時間</a:t>
            </a:r>
            <a:r>
              <a:rPr lang="en-US" dirty="0"/>
              <a:t>；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問題的敏感程度</a:t>
            </a:r>
            <a:r>
              <a:rPr lang="en-US" dirty="0"/>
              <a:t>；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過去問卷採用的格式</a:t>
            </a:r>
            <a:r>
              <a:rPr lang="en-US" dirty="0"/>
              <a:t>；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計畫的預算，特別是面對面訪問</a:t>
            </a:r>
            <a:r>
              <a:rPr lang="en-US" dirty="0"/>
              <a:t>。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CC761-38B2-7397-58CF-06F15D99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63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CA17-C87D-DA08-A880-2C7AFEAB8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自填問卷調查的比較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5F28D88-1F0C-CF31-482C-991E168759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8696421"/>
              </p:ext>
            </p:extLst>
          </p:nvPr>
        </p:nvGraphicFramePr>
        <p:xfrm>
          <a:off x="838200" y="1825625"/>
          <a:ext cx="10515600" cy="182880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231232">
                  <a:extLst>
                    <a:ext uri="{9D8B030D-6E8A-4147-A177-3AD203B41FA5}">
                      <a16:colId xmlns:a16="http://schemas.microsoft.com/office/drawing/2014/main" val="2748985122"/>
                    </a:ext>
                  </a:extLst>
                </a:gridCol>
                <a:gridCol w="3380873">
                  <a:extLst>
                    <a:ext uri="{9D8B030D-6E8A-4147-A177-3AD203B41FA5}">
                      <a16:colId xmlns:a16="http://schemas.microsoft.com/office/drawing/2014/main" val="1517892162"/>
                    </a:ext>
                  </a:extLst>
                </a:gridCol>
                <a:gridCol w="3274595">
                  <a:extLst>
                    <a:ext uri="{9D8B030D-6E8A-4147-A177-3AD203B41FA5}">
                      <a16:colId xmlns:a16="http://schemas.microsoft.com/office/drawing/2014/main" val="17401080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662637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拒訪</a:t>
                      </a:r>
                      <a:r>
                        <a:rPr lang="en-US" sz="2400" dirty="0"/>
                        <a:t>(Unit </a:t>
                      </a:r>
                      <a:r>
                        <a:rPr lang="en-US" sz="2400" dirty="0" err="1"/>
                        <a:t>Nonrespnse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拒答</a:t>
                      </a:r>
                      <a:r>
                        <a:rPr lang="en-US" sz="2400" dirty="0"/>
                        <a:t>(Item </a:t>
                      </a:r>
                      <a:r>
                        <a:rPr lang="en-US" sz="2400" dirty="0" err="1"/>
                        <a:t>Nonrespnse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社會期待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133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最好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73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最好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最好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772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61025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E0FE6-00EE-77EF-2280-2BD31CAF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29</a:t>
            </a:fld>
            <a:endParaRPr lang="en-US"/>
          </a:p>
        </p:txBody>
      </p:sp>
      <p:sp>
        <p:nvSpPr>
          <p:cNvPr id="6" name="文字方塊 7">
            <a:extLst>
              <a:ext uri="{FF2B5EF4-FFF2-40B4-BE49-F238E27FC236}">
                <a16:creationId xmlns:a16="http://schemas.microsoft.com/office/drawing/2014/main" id="{E08548B5-373F-99A0-9635-FFECEAE384C1}"/>
              </a:ext>
            </a:extLst>
          </p:cNvPr>
          <p:cNvSpPr txBox="1"/>
          <p:nvPr/>
        </p:nvSpPr>
        <p:spPr>
          <a:xfrm>
            <a:off x="1726922" y="5651593"/>
            <a:ext cx="82519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000" dirty="0">
                <a:solidFill>
                  <a:schemeClr val="tx1"/>
                </a:solidFill>
              </a:rPr>
              <a:t>Source: Knapp, H. &amp; Kirk, S. 2003. ”Using Pencil and Paper, Internet and </a:t>
            </a:r>
            <a:r>
              <a:rPr lang="en" altLang="zh-TW" sz="2000" dirty="0" err="1">
                <a:solidFill>
                  <a:schemeClr val="tx1"/>
                </a:solidFill>
              </a:rPr>
              <a:t>Toouch</a:t>
            </a:r>
            <a:r>
              <a:rPr lang="en" altLang="zh-TW" sz="2000" dirty="0">
                <a:solidFill>
                  <a:schemeClr val="tx1"/>
                </a:solidFill>
              </a:rPr>
              <a:t>-tone Phones for Self-administered Surveys: Does Methodology Matter? </a:t>
            </a:r>
            <a:r>
              <a:rPr lang="en" altLang="zh-TW" sz="2000" i="1" dirty="0">
                <a:solidFill>
                  <a:schemeClr val="tx1"/>
                </a:solidFill>
              </a:rPr>
              <a:t>Computers in Human Behavior</a:t>
            </a:r>
            <a:r>
              <a:rPr lang="en" altLang="zh-TW" sz="2000" dirty="0">
                <a:solidFill>
                  <a:schemeClr val="tx1"/>
                </a:solidFill>
              </a:rPr>
              <a:t> 19:117-134. 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718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2DDB-1A65-C440-A75A-47943A729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調查模式效應</a:t>
            </a:r>
            <a:r>
              <a:rPr lang="en-US" dirty="0"/>
              <a:t>(mode effect)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E5D90-A2ED-CC33-84F3-2D40397B8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 err="1"/>
              <a:t>為了避免因為不同的調查模式影響受訪者的回答，有以下做法</a:t>
            </a:r>
            <a:r>
              <a:rPr lang="en-US" sz="2000" dirty="0"/>
              <a:t>：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/>
              <a:t>不同的模式應該使用相同的問卷</a:t>
            </a:r>
            <a:endParaRPr lang="en-US" sz="2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/>
              <a:t>封閉式問題的選項不要太多</a:t>
            </a:r>
            <a:endParaRPr lang="en-US" sz="2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/>
              <a:t>封閉式問題的選項的文字一致</a:t>
            </a:r>
            <a:endParaRPr lang="en-US" sz="2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/>
              <a:t>封閉式問題的選項的順序隨機</a:t>
            </a:r>
            <a:endParaRPr lang="en-US" sz="2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/>
              <a:t>題目應該呈現選項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FDA49-893E-59B4-3CA4-FF0F4190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71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788B51-F32E-8A34-0FC4-F4C0663E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推薦文獻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B30E3B-4B36-E992-92C2-61F8D3F0A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sz="2000" dirty="0"/>
              <a:t>杜素豪、羅婉云、洪永泰，</a:t>
            </a:r>
            <a:r>
              <a:rPr kumimoji="1" lang="en-US" altLang="zh-TW" sz="2000" dirty="0"/>
              <a:t>2009</a:t>
            </a:r>
            <a:r>
              <a:rPr kumimoji="1" lang="zh-TW" altLang="en-US" sz="2000" dirty="0"/>
              <a:t>，</a:t>
            </a:r>
            <a:r>
              <a:rPr lang="zh-TW" altLang="zh-TW" sz="2000" dirty="0">
                <a:effectLst/>
                <a:ea typeface="Hiragino Mincho Pro W3" panose="02020300000000000000" pitchFamily="18" charset="-128"/>
                <a:cs typeface="Times New Roman (本文 CS 字型)"/>
              </a:rPr>
              <a:t> 〈</a:t>
            </a:r>
            <a:r>
              <a:rPr kumimoji="1" lang="zh-TW" altLang="en-US" sz="2000" dirty="0"/>
              <a:t>以入選機率調整法修正調查推估偏差的成效評估</a:t>
            </a:r>
            <a:r>
              <a:rPr lang="zh-TW" altLang="zh-TW" sz="2000" dirty="0">
                <a:effectLst/>
                <a:ea typeface="Hiragino Mincho Pro W3" panose="02020300000000000000" pitchFamily="18" charset="-128"/>
                <a:cs typeface="Times New Roman (本文 CS 字型)"/>
              </a:rPr>
              <a:t>〉</a:t>
            </a:r>
            <a:endParaRPr lang="en-US" altLang="zh-TW" sz="2000" dirty="0">
              <a:effectLst/>
              <a:ea typeface="Hiragino Mincho Pro W3" panose="02020300000000000000" pitchFamily="18" charset="-128"/>
              <a:cs typeface="Times New Roman (本文 CS 字型)"/>
            </a:endParaRPr>
          </a:p>
          <a:p>
            <a:r>
              <a:rPr lang="en" altLang="zh-TW" sz="2000" dirty="0">
                <a:effectLst/>
              </a:rPr>
              <a:t>AAPOR 2020, Transitions from Telephone Surveys to Self-Administered and Mixed-Mode Surveys, AAPOR.</a:t>
            </a:r>
          </a:p>
          <a:p>
            <a:r>
              <a:rPr lang="en" altLang="zh-TW" sz="2000" dirty="0">
                <a:effectLst/>
              </a:rPr>
              <a:t>Sanders, D., Clarke, H.D., Stewart, M.C., Whiteley, P. 2007. “Does mode matter for modeling political choice: evidence from the British election study.” Polit. Anal. 15, 257–285.</a:t>
            </a:r>
          </a:p>
          <a:p>
            <a:r>
              <a:rPr lang="en" altLang="zh-TW" sz="2000" dirty="0">
                <a:effectLst/>
              </a:rPr>
              <a:t>Malhotra, N., Krosnick, J.A. 2007. “The effect of survey mode on inferences about political attitudes and behavior: comparing the 2000 and 2004 ANES to internet surveys with non-probability samples.” Polit. Anal. 15, 286–323.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3E2320-A6CE-591D-7B3D-AAA8B0A65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21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4155</TotalTime>
  <Words>2214</Words>
  <Application>Microsoft Macintosh PowerPoint</Application>
  <PresentationFormat>寬螢幕</PresentationFormat>
  <Paragraphs>233</Paragraphs>
  <Slides>31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41" baseType="lpstr">
      <vt:lpstr>Hiragino Mincho Pro W3</vt:lpstr>
      <vt:lpstr>Angsana New</vt:lpstr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網路民意調查的 理論與實際</vt:lpstr>
      <vt:lpstr>課程目標</vt:lpstr>
      <vt:lpstr>網路調查的特色</vt:lpstr>
      <vt:lpstr>網路調查的形式</vt:lpstr>
      <vt:lpstr>測量效應(measurement effect)</vt:lpstr>
      <vt:lpstr>機率抽樣</vt:lpstr>
      <vt:lpstr>PowerPoint 簡報</vt:lpstr>
      <vt:lpstr>非機率抽樣</vt:lpstr>
      <vt:lpstr>PowerPoint 簡報</vt:lpstr>
      <vt:lpstr>網路調查的非機率抽樣</vt:lpstr>
      <vt:lpstr>如何修正網路調查的非機率抽樣？（一）</vt:lpstr>
      <vt:lpstr>如何修正網路調查的非機率抽樣？（二）</vt:lpstr>
      <vt:lpstr>如何修正網路調查的非機率抽樣？（三）</vt:lpstr>
      <vt:lpstr>網路調查的加權（一）</vt:lpstr>
      <vt:lpstr>網路調查的加權（二）</vt:lpstr>
      <vt:lpstr>網路調查的加權（三）</vt:lpstr>
      <vt:lpstr>網路調查的加權（四）</vt:lpstr>
      <vt:lpstr>網路調查的加權（五）</vt:lpstr>
      <vt:lpstr>入選機率調整法（一）</vt:lpstr>
      <vt:lpstr>入選機率調整法（二）</vt:lpstr>
      <vt:lpstr>入選機率調整法（三）</vt:lpstr>
      <vt:lpstr>入選機率調整法（四）</vt:lpstr>
      <vt:lpstr>混合式調查（一）</vt:lpstr>
      <vt:lpstr>同時進行(concurrent)混合式調查</vt:lpstr>
      <vt:lpstr>PowerPoint 簡報</vt:lpstr>
      <vt:lpstr>混合式調查（二）</vt:lpstr>
      <vt:lpstr>依序進行(sequential)混合式調查</vt:lpstr>
      <vt:lpstr>混合式調查（三）</vt:lpstr>
      <vt:lpstr>自填問卷調查的比較</vt:lpstr>
      <vt:lpstr>調查模式效應(mode effect)</vt:lpstr>
      <vt:lpstr>推薦文獻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民意與調查</dc:title>
  <dc:creator>Chia-hung Tsai</dc:creator>
  <cp:lastModifiedBy>CHT</cp:lastModifiedBy>
  <cp:revision>52</cp:revision>
  <cp:lastPrinted>2026-03-25T06:17:24Z</cp:lastPrinted>
  <dcterms:created xsi:type="dcterms:W3CDTF">2025-11-29T03:50:16Z</dcterms:created>
  <dcterms:modified xsi:type="dcterms:W3CDTF">2026-03-25T07:34:54Z</dcterms:modified>
</cp:coreProperties>
</file>