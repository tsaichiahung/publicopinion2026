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9" r:id="rId3"/>
    <p:sldId id="260" r:id="rId4"/>
    <p:sldId id="271" r:id="rId5"/>
    <p:sldId id="264" r:id="rId6"/>
    <p:sldId id="273" r:id="rId7"/>
    <p:sldId id="281" r:id="rId8"/>
    <p:sldId id="274" r:id="rId9"/>
    <p:sldId id="282" r:id="rId10"/>
    <p:sldId id="275" r:id="rId11"/>
    <p:sldId id="276" r:id="rId12"/>
    <p:sldId id="277" r:id="rId13"/>
    <p:sldId id="278" r:id="rId14"/>
    <p:sldId id="279" r:id="rId15"/>
    <p:sldId id="280" r:id="rId16"/>
    <p:sldId id="283" r:id="rId17"/>
    <p:sldId id="284" r:id="rId18"/>
    <p:sldId id="285" r:id="rId19"/>
    <p:sldId id="287" r:id="rId20"/>
    <p:sldId id="288" r:id="rId21"/>
    <p:sldId id="286" r:id="rId22"/>
    <p:sldId id="289" r:id="rId23"/>
    <p:sldId id="290" r:id="rId24"/>
    <p:sldId id="291" r:id="rId25"/>
    <p:sldId id="294" r:id="rId26"/>
    <p:sldId id="292" r:id="rId27"/>
    <p:sldId id="293" r:id="rId28"/>
    <p:sldId id="29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755"/>
  </p:normalViewPr>
  <p:slideViewPr>
    <p:cSldViewPr snapToGrid="0">
      <p:cViewPr varScale="1">
        <p:scale>
          <a:sx n="107" d="100"/>
          <a:sy n="107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3/25/2026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為何要抽樣？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抽樣方法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推論統計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為何要抽樣？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早在巴比倫時代，當時的人想要對農耕的方式與面積進行調查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工業革命之前，人口不多，可以把全國分成若干區域進行全體人口的調查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(census)。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人口增加之後，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調查全體母體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變得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不可行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。因此從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1895年到1934年，學者開始討論抽樣調查的方法，包括立意抽樣，也就是根據普查把全國一直細分到街道進行抽樣。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到了1940年代，機率抽樣成為主流，政府與民調公司從母體中抽取部分的樣本，透過電話、面對面、郵寄問卷進行調查。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到了1970年代，以電腦輔助的電話訪問(CATI)開始流行。1982年出現網際網路，開始有人使用email進行調查。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251C1C1-BCDC-0FFC-A3C6-ACED3BC6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69BFB84-0026-A6D9-C983-8B4284284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630984"/>
            <a:ext cx="10515600" cy="763708"/>
          </a:xfrm>
        </p:spPr>
        <p:txBody>
          <a:bodyPr>
            <a:normAutofit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Source: </a:t>
            </a:r>
            <a:r>
              <a:rPr lang="en" altLang="zh-TW" dirty="0" err="1">
                <a:solidFill>
                  <a:schemeClr val="tx1"/>
                </a:solidFill>
              </a:rPr>
              <a:t>Biffignandi</a:t>
            </a:r>
            <a:r>
              <a:rPr lang="en-US" altLang="zh-TW" dirty="0">
                <a:solidFill>
                  <a:schemeClr val="tx1"/>
                </a:solidFill>
              </a:rPr>
              <a:t> and </a:t>
            </a:r>
            <a:r>
              <a:rPr lang="en" altLang="zh-TW" dirty="0">
                <a:solidFill>
                  <a:schemeClr val="tx1"/>
                </a:solidFill>
              </a:rPr>
              <a:t>Bethlehem (2021) Handbook of Web Survey, p. 111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9B96B5E-71A0-1AB2-9C3C-172ABD68F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1BC76C-E4A5-129F-7659-C25E3860C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641229"/>
            <a:ext cx="7772400" cy="48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3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Bowley(1906)</a:t>
                </a:r>
                <a:r>
                  <a:rPr lang="ja-JP" altLang="en-US" sz="2000"/>
                  <a:t>提出大數法則：只要樣本量足夠大且具備隨機性，樣本的平均值就會趨近於母體的平均值。抽樣調查的精確度是可以透過數學公式（標準誤）來衡量的。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 (1926)</a:t>
                </a:r>
                <a:r>
                  <a:rPr lang="ja-JP" altLang="en-US" sz="2000"/>
                  <a:t>提出</a:t>
                </a:r>
                <a:r>
                  <a:rPr lang="zh-TW" altLang="en-US" sz="2000" dirty="0"/>
                  <a:t>分層抽樣理論：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將母體依照已知特徵（如地區、職業）分成若干「層」（</a:t>
                </a:r>
                <a:r>
                  <a:rPr lang="en-US" altLang="ja-JP" sz="2000" dirty="0"/>
                  <a:t>Strata</a:t>
                </a:r>
                <a:r>
                  <a:rPr lang="ja-JP" altLang="en-US" sz="2000"/>
                  <a:t>）。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在每一層內進行隨機抽樣。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等比例分配 </a:t>
                </a:r>
                <a:r>
                  <a:rPr lang="en-US" altLang="zh-TW" sz="2000" dirty="0"/>
                  <a:t>(</a:t>
                </a:r>
                <a:r>
                  <a:rPr lang="en-US" altLang="ja-JP" sz="2000" dirty="0"/>
                  <a:t>Proportional Allocation)</a:t>
                </a:r>
                <a:r>
                  <a:rPr lang="ja-JP" altLang="en-US" sz="2000"/>
                  <a:t>： </a:t>
                </a:r>
                <a:r>
                  <a:rPr lang="zh-TW" altLang="en-US" sz="2000" dirty="0"/>
                  <a:t>各層抽取的樣本數應與該層在母體中的比例一致，以確保樣本結構與母體完全相同。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000"/>
                  <a:t>母體平均數：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ja-JP" sz="2000" dirty="0"/>
                  <a:t> 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ja-JP" altLang="en-US" sz="2000"/>
                  <a:t>是</a:t>
                </a:r>
                <a:r>
                  <a:rPr lang="en-US" altLang="ja-JP" sz="2000" dirty="0"/>
                  <a:t>h</a:t>
                </a:r>
                <a:r>
                  <a:rPr lang="ja-JP" altLang="en-US" sz="2000"/>
                  <a:t>層的</a:t>
                </a:r>
                <a:r>
                  <a:rPr lang="en-US" altLang="ja-JP" sz="2000" dirty="0"/>
                  <a:t>y</a:t>
                </a:r>
                <a:r>
                  <a:rPr lang="ja-JP" altLang="en-US" sz="2000"/>
                  <a:t>的平均數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121" b="-133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00A7CD4-8BCE-CB26-0945-784DFDC0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等比例分配抽樣（一）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9B38302-3344-5246-4FF4-E49ADEAD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F5D712-AF58-8E6E-1CE2-D7DAE492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3CDD0B-B711-97A5-2078-238874EDA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857" y="1825625"/>
            <a:ext cx="777240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845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72734-D2C9-0C65-A2E0-CD4C641AB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等比例分配抽樣（二）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92E5-C8AF-75C8-8D00-780C5863A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/>
              <a:t>自我加權 </a:t>
            </a:r>
            <a:r>
              <a:rPr lang="en-US" altLang="ja-JP" sz="2000" dirty="0"/>
              <a:t>(Self-weighting)</a:t>
            </a:r>
            <a:r>
              <a:rPr lang="ja-JP" altLang="en-US" sz="2000"/>
              <a:t>：因為每一層的抽樣機率 都一樣（例如都是 </a:t>
            </a:r>
            <a:r>
              <a:rPr lang="en-US" altLang="ja-JP" sz="2000" dirty="0"/>
              <a:t>1%</a:t>
            </a:r>
            <a:r>
              <a:rPr lang="ja-JP" altLang="en-US" sz="2000"/>
              <a:t>），所以每個樣本的權重也都一樣 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如果母體中某些族群比例極低（例如：</a:t>
            </a:r>
            <a:r>
              <a:rPr lang="en-US" altLang="ja-JP" sz="2000" dirty="0"/>
              <a:t>80 </a:t>
            </a:r>
            <a:r>
              <a:rPr lang="ja-JP" altLang="en-US" sz="2000"/>
              <a:t>歲以上長者僅佔 </a:t>
            </a:r>
            <a:r>
              <a:rPr lang="en-US" altLang="ja-JP" sz="2000" dirty="0"/>
              <a:t>2%</a:t>
            </a:r>
            <a:r>
              <a:rPr lang="ja-JP" altLang="en-US" sz="2000"/>
              <a:t>），在總樣本 </a:t>
            </a:r>
            <a:r>
              <a:rPr lang="en-US" altLang="ja-JP" sz="2000" dirty="0"/>
              <a:t>1000 </a:t>
            </a:r>
            <a:r>
              <a:rPr lang="ja-JP" altLang="en-US" sz="2000"/>
              <a:t>人的情況下，該族群只會分配到 </a:t>
            </a:r>
            <a:r>
              <a:rPr lang="en-US" altLang="ja-JP" sz="2000" dirty="0"/>
              <a:t>20 </a:t>
            </a:r>
            <a:r>
              <a:rPr lang="ja-JP" altLang="en-US" sz="2000"/>
              <a:t>人 ，訪問這些少數人，有可能出現誤差。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等比例分配假設每個人被抽中的機率是均等的，但現實中不同族群「被找到」與「願意回答」的機率可能差異很大。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zh-TW" altLang="en-US" sz="2000" dirty="0"/>
              <a:t>等比例分配抽樣沒有考慮不同群體內部的變異程度，而是假設每個群體內部的變異程度相同。因此無法降低抽樣的誤差。</a:t>
            </a:r>
            <a:endParaRPr lang="en-US" altLang="zh-TW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因此，即使一開始設計是等比例抽樣，最終得到的有效樣本結構依然會與母體嚴重脫節。</a:t>
            </a:r>
            <a:endParaRPr lang="en-US" altLang="ja-JP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29AD5-D53A-396D-419C-76DD8804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3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04DDB-15EC-29FF-ECB8-4B888946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11805-6F04-E425-0D4E-A3915F73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Jerzy </a:t>
                </a: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提出雖然我們無法得知母體參數，但可以建立一個區間，並宣稱：「如果我們重複抽樣 </a:t>
                </a:r>
                <a:r>
                  <a:rPr lang="en-US" altLang="zh-TW" sz="2000" dirty="0"/>
                  <a:t>100 </a:t>
                </a:r>
                <a:r>
                  <a:rPr lang="zh-TW" altLang="en-US" sz="2000" dirty="0"/>
                  <a:t>次，有 </a:t>
                </a:r>
                <a:r>
                  <a:rPr lang="en-US" altLang="zh-TW" sz="2000" dirty="0"/>
                  <a:t>95 </a:t>
                </a:r>
                <a:r>
                  <a:rPr lang="zh-TW" altLang="en-US" sz="2000" dirty="0"/>
                  <a:t>次這個區間會包含真實的母體參數。」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主張推論的有效性來自於抽樣設計（</a:t>
                </a:r>
                <a:r>
                  <a:rPr lang="en-US" altLang="ja-JP" sz="2000" dirty="0"/>
                  <a:t>Sampling Design</a:t>
                </a:r>
                <a:r>
                  <a:rPr lang="ja-JP" altLang="en-US" sz="2000"/>
                  <a:t>）</a:t>
                </a:r>
                <a:r>
                  <a:rPr lang="zh-TW" altLang="en-US" sz="2000" dirty="0"/>
                  <a:t>本身，而不是對母體分佈的假設。只要抽樣過程是機率導向的，不論母體是什麼分佈，我們都能得到不偏的估計值（</a:t>
                </a:r>
                <a:r>
                  <a:rPr lang="en-US" altLang="ja-JP" sz="2000" dirty="0"/>
                  <a:t>Unbiased Estimator</a:t>
                </a:r>
                <a:r>
                  <a:rPr lang="ja-JP" altLang="en-US" sz="2000"/>
                  <a:t>）。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最優分配法 </a:t>
                </a:r>
                <a:r>
                  <a:rPr lang="en-US" altLang="zh-TW" sz="2000" dirty="0"/>
                  <a:t>(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Allocation)</a:t>
                </a:r>
                <a:r>
                  <a:rPr lang="ja-JP" altLang="en-US" sz="2000"/>
                  <a:t>：如果某一「層」（例如高收入戶）的內部變異非常大，而另一層（例如固定薪資族）的變異很小，我們應該在變異大的那一層抽取更多樣本。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決定每一層的樣本數的公式：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651AA-21FF-3A73-E78A-CABF3C989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28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A50E9-273A-656E-EAB1-480C40C71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Neyman最適分配</a:t>
            </a:r>
            <a:r>
              <a:rPr lang="en-US" dirty="0"/>
              <a:t>(</a:t>
            </a:r>
            <a:r>
              <a:rPr lang="en-US" dirty="0" err="1"/>
              <a:t>Neyman</a:t>
            </a:r>
            <a:r>
              <a:rPr lang="en-US" dirty="0"/>
              <a:t> allocation)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等比例抽樣考慮的是「各層的大小」；而 </a:t>
                </a:r>
                <a:r>
                  <a:rPr lang="en-US" sz="2000" dirty="0" err="1"/>
                  <a:t>Neyman</a:t>
                </a:r>
                <a:r>
                  <a:rPr lang="en-US" sz="2000" dirty="0"/>
                  <a:t> </a:t>
                </a:r>
                <a:r>
                  <a:rPr lang="ja-JP" altLang="en-US" sz="2000"/>
                  <a:t>最適分配同時考慮了「各層的大小」與「各層內部的變異程度（標準差）」。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根據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最適分配公式，每一層應分配的樣本數是：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 err="1"/>
                  <a:t>代表第h層母體的標準差。母體平均數估計式</a:t>
                </a:r>
                <a:r>
                  <a:rPr lang="en-US" sz="2000" dirty="0"/>
                  <a:t>：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/>
                  <a:t>。</a:t>
                </a:r>
                <a:r>
                  <a:rPr lang="en-US" sz="2000" dirty="0" err="1"/>
                  <a:t>類似等比例分配抽樣的估計式</a:t>
                </a:r>
                <a:r>
                  <a:rPr lang="en-US" sz="2000" dirty="0"/>
                  <a:t>。</a:t>
                </a: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因為我們通常事先不知道各層的真實標準差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所以常會用「事前調查（</a:t>
                </a:r>
                <a:r>
                  <a:rPr lang="en-US" sz="2000" dirty="0"/>
                  <a:t>Pilot Survey）」</a:t>
                </a:r>
                <a:r>
                  <a:rPr lang="ja-JP" altLang="en-US" sz="2000"/>
                  <a:t>或過去的資料來預估。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3A207-C8D9-1CB0-9A5C-DF9B18AB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37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106E1-CF63-3145-5A92-C69BD20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78C6F-211A-7AA3-0C69-B61C040A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Horvitz &amp; Thompson (1952)</a:t>
                </a:r>
                <a:r>
                  <a:rPr lang="zh-TW" altLang="en-US" sz="2000" dirty="0"/>
                  <a:t>提出不論抽樣設計多麼複雜，只要我們計算出每個樣本的入選機率或者權重，都能得到母體總和的不偏估計。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</m:oMath>
                </a14:m>
                <a:r>
                  <a:rPr lang="en-US" altLang="zh-TW" sz="2000" dirty="0"/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r>
                  <a:rPr lang="en-US" altLang="zh-TW" sz="2000" dirty="0"/>
                  <a:t> </a:t>
                </a:r>
                <a:r>
                  <a:rPr lang="zh-TW" altLang="en-US" sz="2000" dirty="0"/>
                  <a:t>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sz="2000" dirty="0"/>
                  <a:t>是被抽中的機率。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例如有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人，已知有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萬，</a:t>
                </a:r>
                <a:r>
                  <a:rPr lang="en-US" altLang="zh-TW" sz="2000" dirty="0"/>
                  <a:t>2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20</a:t>
                </a:r>
                <a:r>
                  <a:rPr lang="zh-TW" altLang="en-US" sz="2000" dirty="0"/>
                  <a:t>萬，如果只能抽出一位，請問年薪的估計是多少？如果抽中年薪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萬的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個人其中之一，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萬雖然是無偏估計，卻不如用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=1000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。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如果抽中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年薪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萬，則是</m:t>
                    </m:r>
                    <m:f>
                      <m:f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=200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萬。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期望值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0.8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0.2×200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萬。</m:t>
                    </m:r>
                  </m:oMath>
                </a14:m>
                <a:r>
                  <a:rPr lang="en-US" altLang="zh-TW" sz="2000" dirty="0"/>
                  <a:t> 840</a:t>
                </a:r>
                <a:r>
                  <a:rPr lang="zh-TW" altLang="en-US" sz="2000" dirty="0"/>
                  <a:t>萬剛好是這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個人的總年薪。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入選機率只要不是 </a:t>
                </a:r>
                <a:r>
                  <a:rPr lang="en-US" altLang="zh-TW" sz="2000" dirty="0"/>
                  <a:t>0</a:t>
                </a:r>
                <a:r>
                  <a:rPr lang="zh-TW" altLang="en-US" sz="2000" dirty="0"/>
                  <a:t>，在計算時除回正確的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" sz="2000" dirty="0"/>
                  <a:t>，</a:t>
                </a:r>
                <a:r>
                  <a:rPr lang="zh-TW" altLang="en-US" sz="2000" dirty="0"/>
                  <a:t>算出的總收入會等於母體。期望值寫成：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r="-603" b="-8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B54FE-2AC9-E283-7F28-80727A4E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800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EB92D8-39C7-1636-8E9E-421E55492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機率抽樣的元素（四）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如果已經知道收入高的人的中選機率是收入低的人的</a:t>
                </a:r>
                <a:r>
                  <a:rPr kumimoji="1" lang="en-US" altLang="zh-TW" sz="2000" dirty="0"/>
                  <a:t>4</a:t>
                </a:r>
                <a:r>
                  <a:rPr kumimoji="1" lang="zh-TW" altLang="en-US" sz="2000" dirty="0"/>
                  <a:t>倍，只抽出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人，也可以用</a:t>
                </a:r>
                <a:r>
                  <a:rPr kumimoji="1" lang="en-US" altLang="zh-TW" sz="2000" dirty="0"/>
                  <a:t>H-T</a:t>
                </a:r>
                <a:r>
                  <a:rPr kumimoji="1" lang="zh-TW" altLang="en-US" sz="2000" dirty="0"/>
                  <a:t>估計式。先計算每個人的中選機率：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×4+2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期望值：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4×</m:t>
                            </m:r>
                            <m:f>
                              <m:fPr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f>
                              <m:f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=800+40=840=</m:t>
                    </m:r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如果樣本從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人增加到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人，其他條件不變，那麼每個人中選機率變成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kumimoji="1" lang="en-US" altLang="zh-TW" sz="2000" b="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抽出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人可能是一個高薪一個低薪、兩個高薪、兩個低薪，分別計算這三種組合的期望值，</a:t>
                </a:r>
                <a:r>
                  <a:rPr kumimoji="1" lang="zh-TW" altLang="en-US" sz="2000"/>
                  <a:t>然後再加權平均</a:t>
                </a:r>
                <a:r>
                  <a:rPr kumimoji="1" lang="zh-TW" altLang="en-US" sz="2000" dirty="0"/>
                  <a:t>，會得到</a:t>
                </a:r>
                <a:r>
                  <a:rPr kumimoji="1" lang="en-US" altLang="zh-TW" sz="2000" dirty="0"/>
                  <a:t>840</a:t>
                </a:r>
                <a:r>
                  <a:rPr kumimoji="1" lang="zh-TW" altLang="en-US" sz="2000" dirty="0"/>
                  <a:t>萬（為什麼？）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比起只抽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人，如果抽中組合是一個高薪一個低薪，會更接近最後的期望值。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1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4C5D14-5932-A53B-6231-86CE0BBF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48C4BE4-7B96-743F-FB37-78B98C65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機率抽樣的元素（五）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46C7FE0-E2B6-85E4-2700-04A06C4B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8E739CE-D578-4E0C-7CD3-E1A196D8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8ABDC07-D2D8-76EB-255B-5B03BE0D1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962315"/>
              </p:ext>
            </p:extLst>
          </p:nvPr>
        </p:nvGraphicFramePr>
        <p:xfrm>
          <a:off x="1425039" y="2553494"/>
          <a:ext cx="9262754" cy="3048000"/>
        </p:xfrm>
        <a:graphic>
          <a:graphicData uri="http://schemas.openxmlformats.org/drawingml/2006/table">
            <a:tbl>
              <a:tblPr/>
              <a:tblGrid>
                <a:gridCol w="1967260">
                  <a:extLst>
                    <a:ext uri="{9D8B030D-6E8A-4147-A177-3AD203B41FA5}">
                      <a16:colId xmlns:a16="http://schemas.microsoft.com/office/drawing/2014/main" val="1092537034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4071730486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555145253"/>
                    </a:ext>
                  </a:extLst>
                </a:gridCol>
                <a:gridCol w="2266024">
                  <a:extLst>
                    <a:ext uri="{9D8B030D-6E8A-4147-A177-3AD203B41FA5}">
                      <a16:colId xmlns:a16="http://schemas.microsoft.com/office/drawing/2014/main" val="30592928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組合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H-T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估計值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發生機率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加權結果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Y^×P)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181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850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0.8784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746.64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083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 </a:t>
                      </a:r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765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0.1197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91.57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357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680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0.0018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1.22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020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總計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1.0000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839.43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35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60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機率抽樣的元素（六）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前面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估計式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計算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總和。計算平均數的公式為：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 err="1"/>
                  <a:t>代表有沒有被抽中，k</a:t>
                </a:r>
                <a:r>
                  <a:rPr lang="en-US" sz="2000" dirty="0"/>
                  <a:t>=0或是1.</a:t>
                </a:r>
              </a:p>
              <a:p>
                <a:r>
                  <a:rPr lang="en-US" sz="2000" dirty="0" err="1"/>
                  <a:t>以剛剛的例子</a:t>
                </a:r>
                <a:r>
                  <a:rPr lang="en-US" sz="2000" dirty="0"/>
                  <a:t>，</a:t>
                </a:r>
                <a:r>
                  <a:rPr lang="ja-JP" altLang="en-US" sz="2000"/>
                  <a:t> 抽到富人 </a:t>
                </a:r>
                <a:r>
                  <a:rPr lang="en-US" sz="2000" dirty="0">
                    <a:effectLst/>
                    <a:latin typeface="Google Sans Text"/>
                  </a:rPr>
                  <a:t>k=1</a:t>
                </a:r>
                <a:r>
                  <a:rPr lang="en-US" sz="2000" dirty="0"/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其他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ja-JP" sz="2000" b="0" dirty="0">
                  <a:ea typeface="Cambria Math" panose="02040503050406030204" pitchFamily="18" charset="0"/>
                </a:endParaRPr>
              </a:p>
              <a:p>
                <a:r>
                  <a:rPr lang="en-US" sz="2000" dirty="0" err="1"/>
                  <a:t>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萬，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lang="en-US" sz="2000" dirty="0"/>
                  <a:t>=0.1176（因為富人中選機率是其他人的4倍）</a:t>
                </a:r>
              </a:p>
              <a:p>
                <a:r>
                  <a:rPr lang="en-US" sz="2000" dirty="0" err="1"/>
                  <a:t>代入公式</a:t>
                </a:r>
                <a:r>
                  <a:rPr lang="en-US" sz="2000" dirty="0"/>
                  <a:t>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1×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0.1176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×850=85</m:t>
                    </m:r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的倒數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8.5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，就是富人的權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重。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窮人的權重則是34。如果抽到窮人，平均值就是34x20=680萬。</a:t>
                </a:r>
              </a:p>
              <a:p>
                <a:r>
                  <a:rPr lang="en-US" sz="20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這兩種人的期望值加權會等於總和</a:t>
                </a:r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34</m:t>
                        </m:r>
                      </m:den>
                    </m:f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850+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×680=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840</a:t>
                </a:r>
              </a:p>
              <a:p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一般研究會設定權重低於5，避免抽中一些不容易中選的族群卻因為權重太大而得到錯誤的結論，但是這種主觀的設定違反了H-T的不偏估計的理論。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0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35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機率抽樣的元素（七）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變異數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表示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資料的離散程度。計算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變異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數的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估計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式為：</m:t>
                    </m:r>
                  </m:oMath>
                </a14:m>
                <a:endParaRPr lang="en-US" altLang="zh-TW" sz="20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這是個體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和個體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同時被抽中進入樣本的機率。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ja-JP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ja-JP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000"/>
                  <a:t>：如果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/>
                  <a:t> </a:t>
                </a:r>
                <a:r>
                  <a:rPr lang="ja-JP" altLang="en-US" sz="2000"/>
                  <a:t>和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/>
                  <a:t> </a:t>
                </a:r>
                <a:r>
                  <a:rPr lang="ja-JP" altLang="en-US" sz="2000"/>
                  <a:t>是獨立被抽中的，這是他們同時入選的機率。</a:t>
                </a:r>
                <a:endParaRPr lang="en-US" altLang="ja-JP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是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與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樣本的</a:t>
                </a:r>
                <a:r>
                  <a:rPr lang="ja-JP" altLang="en-US" sz="2000" b="1">
                    <a:effectLst/>
                    <a:latin typeface="Google Sans Text"/>
                  </a:rPr>
                  <a:t>共變異數 </a:t>
                </a:r>
                <a:r>
                  <a:rPr lang="en-US" altLang="ja-JP" sz="2000" b="1" dirty="0">
                    <a:effectLst/>
                    <a:latin typeface="Google Sans Text"/>
                  </a:rPr>
                  <a:t>(</a:t>
                </a:r>
                <a:r>
                  <a:rPr lang="en-US" sz="2000" b="1" dirty="0">
                    <a:effectLst/>
                    <a:latin typeface="Google Sans Text"/>
                  </a:rPr>
                  <a:t>Covariance)</a:t>
                </a:r>
                <a:r>
                  <a:rPr lang="en-US" sz="2000" dirty="0">
                    <a:latin typeface="Google Sans Text"/>
                  </a:rPr>
                  <a:t>，</a:t>
                </a:r>
                <a:r>
                  <a:rPr lang="en-US" sz="2000" dirty="0" err="1">
                    <a:latin typeface="Google Sans Text"/>
                  </a:rPr>
                  <a:t>代表</a:t>
                </a:r>
                <a:r>
                  <a:rPr lang="ja-JP" altLang="en-US" sz="2000">
                    <a:effectLst/>
                    <a:latin typeface="Google Sans Text"/>
                  </a:rPr>
                  <a:t>個體之間入選機率的「相關性」。</a:t>
                </a:r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ja-JP" altLang="en-US" sz="2000">
                    <a:effectLst/>
                    <a:latin typeface="Google Sans Text"/>
                  </a:rPr>
                  <a:t>如果這個值是負的，代表抽到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就不容易抽到 </a:t>
                </a:r>
                <a:r>
                  <a:rPr lang="en-US" altLang="ja-JP" sz="2000" i="1" dirty="0">
                    <a:latin typeface="Google Sans Text"/>
                  </a:rPr>
                  <a:t>l</a:t>
                </a:r>
                <a:r>
                  <a:rPr lang="ja-JP" altLang="en-US" sz="2000" i="1">
                    <a:latin typeface="Google Sans Text"/>
                  </a:rPr>
                  <a:t>。</a:t>
                </a:r>
                <a:r>
                  <a:rPr lang="ja-JP" altLang="en-US" sz="2000">
                    <a:effectLst/>
                    <a:latin typeface="Google Sans Text"/>
                  </a:rPr>
                  <a:t>例如：簡單隨機抽樣就是只會抽到</a:t>
                </a:r>
                <a:r>
                  <a:rPr lang="en-US" altLang="ja-JP" sz="2000" dirty="0">
                    <a:latin typeface="Google Sans Text"/>
                  </a:rPr>
                  <a:t>k</a:t>
                </a:r>
                <a:r>
                  <a:rPr lang="ja-JP" altLang="en-US" sz="2000">
                    <a:latin typeface="Google Sans Text"/>
                  </a:rPr>
                  <a:t>或是</a:t>
                </a:r>
                <a:r>
                  <a:rPr lang="en-US" altLang="ja-JP" sz="2000" dirty="0">
                    <a:latin typeface="Google Sans Text"/>
                  </a:rPr>
                  <a:t>l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sz="2000" dirty="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408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機率抽樣的元素（八）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200" dirty="0">
                    <a:latin typeface="Google Sans Text"/>
                  </a:rPr>
                  <a:t>H-T </a:t>
                </a:r>
                <a:r>
                  <a:rPr lang="ja-JP" altLang="en-US" sz="2200">
                    <a:effectLst/>
                    <a:latin typeface="Google Sans Text"/>
                  </a:rPr>
                  <a:t>估計值的穩定性取決於兩件事：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個體權重的大小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如果某個人的中選機率非常小（窮人），權重會變大。會直接增加變異數。這是「抽到窮人會跟母體真相差很大」的數學原因。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抽樣設計的策略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如果設計一種抽樣方式，使得數值相似的個體（例如兩個都是富人）盡量不要同時被抽中（負相關），那麼這個公式算出來的變異數就會變小，調查就更精確。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281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機率抽樣的元素（九）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000" dirty="0">
                    <a:latin typeface="Google Sans Text"/>
                  </a:rPr>
                  <a:t>當估計式得出無偏估計後，我們建立一個有95%機率包含母體真正平均值的信賴區間</a:t>
                </a:r>
                <a:r>
                  <a:rPr lang="ja-JP" altLang="en-US" sz="2000">
                    <a:latin typeface="Google Sans Text"/>
                    <a:sym typeface="Wingdings" pitchFamily="2" charset="2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[</m:t>
                    </m:r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]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95%</a:t>
                </a:r>
                <a:r>
                  <a:rPr lang="ja-JP" altLang="en-US" sz="2000">
                    <a:latin typeface="Google Sans Text"/>
                  </a:rPr>
                  <a:t>又可表示為</a:t>
                </a:r>
                <a:r>
                  <a:rPr lang="en-US" altLang="ja-JP" sz="2000" dirty="0">
                    <a:latin typeface="Google Sans Text"/>
                  </a:rPr>
                  <a:t>1-5%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被稱為</a:t>
                </a:r>
                <a14:m>
                  <m:oMath xmlns:m="http://schemas.openxmlformats.org/officeDocument/2006/math">
                    <m:r>
                      <a:rPr lang="ja-JP" alt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，也就是容許有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的機會，這個區間沒有包括母體真正的平均值。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雖然我們不知道母體的變異數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但是可以用樣本的變異數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000">
                    <a:latin typeface="Google Sans Text"/>
                  </a:rPr>
                  <a:t>估計母體的變異數。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834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在一個包含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ja-JP" altLang="en-US" sz="2000">
                    <a:latin typeface="Google Sans Text"/>
                  </a:rPr>
                  <a:t>個個體的母體中，</a:t>
                </a:r>
                <a:r>
                  <a:rPr lang="ja-JP" altLang="en-US" sz="2000"/>
                  <a:t>若每一組大小為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ja-JP" altLang="en-US" sz="2000"/>
                  <a:t>的可能樣本被抽中的機率都相等，</a:t>
                </a:r>
                <a:r>
                  <a:rPr lang="ja-JP" altLang="en-US" sz="2000">
                    <a:latin typeface="Google Sans Text"/>
                  </a:rPr>
                  <a:t>每一個體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的被抽中的機率都相等，稱為簡單隨機抽樣</a:t>
                </a:r>
                <a:r>
                  <a:rPr lang="en-US" altLang="ja-JP" sz="2000" dirty="0">
                    <a:latin typeface="Google Sans Text"/>
                  </a:rPr>
                  <a:t>(SRS)</a:t>
                </a:r>
                <a:r>
                  <a:rPr lang="ja-JP" altLang="en-US" sz="2000">
                    <a:latin typeface="Google Sans Text"/>
                  </a:rPr>
                  <a:t>。</a:t>
                </a:r>
                <a:r>
                  <a:rPr lang="ja-JP" altLang="en-US" sz="2000"/>
                  <a:t> 對於所有個體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ja-JP" altLang="en-US" sz="2000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包含機率是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ja-JP" altLang="en-US" sz="2000" dirty="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假設某大學有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=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名學生，我們想估計全校學生的月平均生活費。我們決定隨機抽取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altLang="ja-JP" sz="2000" dirty="0">
                    <a:latin typeface="Google Sans Text"/>
                  </a:rPr>
                  <a:t> = 100 </a:t>
                </a:r>
                <a:r>
                  <a:rPr lang="ja-JP" altLang="en-US" sz="2000">
                    <a:latin typeface="Google Sans Text"/>
                  </a:rPr>
                  <a:t>名學生。根據 </a:t>
                </a:r>
                <a:r>
                  <a:rPr lang="en-US" altLang="ja-JP" sz="2000" dirty="0">
                    <a:latin typeface="Google Sans Text"/>
                  </a:rPr>
                  <a:t>SRS</a:t>
                </a:r>
                <a:r>
                  <a:rPr lang="ja-JP" altLang="en-US" sz="2000">
                    <a:latin typeface="Google Sans Text"/>
                  </a:rPr>
                  <a:t>，每位同學被抽中的機率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邏輯，每位被抽中同學的權重為機率的倒數：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03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位同學的生活費總和為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1,200,000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元（平均每人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12,000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元）。使用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公式計算全校總生活費。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=1,200,000×100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=120,000,000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計算全校學生的月平均生活費：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120000000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0" smtClean="0">
                        <a:latin typeface="Cambria Math" panose="02040503050406030204" pitchFamily="18" charset="0"/>
                      </a:rPr>
                      <m:t>12,000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假設生活費的樣本標準差為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2,000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元，因為標準誤 </a:t>
                </a:r>
                <a:r>
                  <a:rPr lang="en-US" altLang="ja-JP" sz="2000" dirty="0"/>
                  <a:t>(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是估計值的標準差，計算方式為樣本標準差除以樣本數的平方根，所以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</m:e>
                      <m:sub/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=200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因此，生活費的信賴區間估計為：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40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當我們要估計全校一萬名大學生的「平均生活費」。因為不可能問完每一個人，所以假設抽了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個人。要把這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人的結果推回全校。在簡單隨機抽樣中，每個人被抽中的機率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0.01</a:t>
                </a:r>
                <a:r>
                  <a:rPr lang="ja-JP" altLang="en-US" sz="2000">
                    <a:latin typeface="Google Sans Text"/>
                  </a:rPr>
                  <a:t>代表被抽中的這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個人，每個人身上都背負著另外 </a:t>
                </a:r>
                <a:r>
                  <a:rPr lang="en-US" altLang="ja-JP" sz="2000" dirty="0">
                    <a:latin typeface="Google Sans Text"/>
                  </a:rPr>
                  <a:t>99 </a:t>
                </a:r>
                <a:r>
                  <a:rPr lang="ja-JP" altLang="en-US" sz="2000">
                    <a:latin typeface="Google Sans Text"/>
                  </a:rPr>
                  <a:t>個沒被抽中同學的影子。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</a:t>
                </a:r>
                <a:r>
                  <a:rPr lang="en-US" altLang="ja-JP" sz="2000" dirty="0">
                    <a:latin typeface="Google Sans Text"/>
                  </a:rPr>
                  <a:t>H-T</a:t>
                </a:r>
                <a:r>
                  <a:rPr lang="ja-JP" altLang="en-US" sz="2000">
                    <a:latin typeface="Google Sans Text"/>
                  </a:rPr>
                  <a:t>估計式，每個人的數值都要乘以 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（也就是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） 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個人的生活費加起來，算出平均是 </a:t>
                </a:r>
                <a:r>
                  <a:rPr lang="en-US" altLang="ja-JP" sz="2000" dirty="0">
                    <a:latin typeface="Google Sans Text"/>
                  </a:rPr>
                  <a:t>12,000 </a:t>
                </a:r>
                <a:r>
                  <a:rPr lang="ja-JP" altLang="en-US" sz="2000">
                    <a:latin typeface="Google Sans Text"/>
                  </a:rPr>
                  <a:t>元。這是「最佳猜測」。如果這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人之中有人花 </a:t>
                </a:r>
                <a:r>
                  <a:rPr lang="en-US" altLang="ja-JP" sz="2000" dirty="0">
                    <a:latin typeface="Google Sans Text"/>
                  </a:rPr>
                  <a:t>5,000</a:t>
                </a:r>
                <a:r>
                  <a:rPr lang="ja-JP" altLang="en-US" sz="2000">
                    <a:latin typeface="Google Sans Text"/>
                  </a:rPr>
                  <a:t>，有人花 </a:t>
                </a:r>
                <a:r>
                  <a:rPr lang="en-US" altLang="ja-JP" sz="2000" dirty="0">
                    <a:latin typeface="Google Sans Text"/>
                  </a:rPr>
                  <a:t>50,000</a:t>
                </a:r>
                <a:r>
                  <a:rPr lang="ja-JP" altLang="en-US" sz="2000">
                    <a:latin typeface="Google Sans Text"/>
                  </a:rPr>
                  <a:t>，剛剛的猜測就不太精確，每一次猜測會差別很大。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為了保險起見，用區間估計描述而不是點估計。統計學家告訴我們，通常在平均值左右各加減約 </a:t>
                </a:r>
                <a:r>
                  <a:rPr lang="en-US" altLang="ja-JP" sz="2000" dirty="0"/>
                  <a:t>2 </a:t>
                </a:r>
                <a:r>
                  <a:rPr lang="ja-JP" altLang="en-US" sz="2000"/>
                  <a:t>個標準誤（精確說是 </a:t>
                </a:r>
                <a:r>
                  <a:rPr lang="en-US" altLang="ja-JP" sz="2000" dirty="0"/>
                  <a:t>1.96</a:t>
                </a:r>
                <a:r>
                  <a:rPr lang="ja-JP" altLang="en-US" sz="2000"/>
                  <a:t>），就能涵蓋 </a:t>
                </a:r>
                <a:r>
                  <a:rPr lang="en-US" altLang="ja-JP" sz="2000" dirty="0"/>
                  <a:t>95% </a:t>
                </a:r>
                <a:r>
                  <a:rPr lang="ja-JP" altLang="en-US" sz="2000"/>
                  <a:t>的可能性。如果算出來標準誤是 </a:t>
                </a:r>
                <a:r>
                  <a:rPr lang="en-US" altLang="ja-JP" sz="2000" dirty="0"/>
                  <a:t>200 </a:t>
                </a:r>
                <a:r>
                  <a:rPr lang="ja-JP" altLang="en-US" sz="2000"/>
                  <a:t>元，</a:t>
                </a:r>
                <a:r>
                  <a:rPr lang="ja-JP" altLang="en-US" sz="2000">
                    <a:latin typeface="Google Sans Text"/>
                  </a:rPr>
                  <a:t>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2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38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簡單隨機抽樣（四）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為什麼是「</a:t>
                </a:r>
                <a:r>
                  <a:rPr lang="en-US" altLang="ja-JP" sz="2000" dirty="0">
                    <a:effectLst/>
                    <a:latin typeface="Google Sans Text"/>
                  </a:rPr>
                  <a:t>2</a:t>
                </a:r>
                <a:r>
                  <a:rPr lang="ja-JP" altLang="en-US" sz="2000">
                    <a:effectLst/>
                    <a:latin typeface="Google Sans Text"/>
                  </a:rPr>
                  <a:t>」個標準誤？（</a:t>
                </a:r>
                <a:r>
                  <a:rPr lang="en-US" altLang="ja-JP" sz="2000" dirty="0">
                    <a:effectLst/>
                    <a:latin typeface="Google Sans Text"/>
                  </a:rPr>
                  <a:t>68-95-99.7 </a:t>
                </a:r>
                <a:r>
                  <a:rPr lang="ja-JP" altLang="en-US" sz="2000">
                    <a:effectLst/>
                    <a:latin typeface="Google Sans Text"/>
                  </a:rPr>
                  <a:t>法則）在統計學中，當樣本數夠大時，樣本平均數的分佈會趨近於常態分佈。常態分佈有一個特殊的數學比例：加減 </a:t>
                </a:r>
                <a:r>
                  <a:rPr lang="en-US" altLang="ja-JP" sz="2000" dirty="0">
                    <a:effectLst/>
                    <a:latin typeface="Google Sans Text"/>
                  </a:rPr>
                  <a:t>1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68% </a:t>
                </a:r>
                <a:r>
                  <a:rPr lang="ja-JP" altLang="en-US" sz="2000">
                    <a:effectLst/>
                    <a:latin typeface="Google Sans Text"/>
                  </a:rPr>
                  <a:t>的可能性。加減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95% </a:t>
                </a:r>
                <a:r>
                  <a:rPr lang="ja-JP" altLang="en-US" sz="2000">
                    <a:effectLst/>
                    <a:latin typeface="Google Sans Text"/>
                  </a:rPr>
                  <a:t>的可能性（更精確的數字是 </a:t>
                </a:r>
                <a:r>
                  <a:rPr lang="en-US" altLang="ja-JP" sz="2000" dirty="0">
                    <a:effectLst/>
                    <a:latin typeface="Google Sans Text"/>
                  </a:rPr>
                  <a:t>$1.96$ </a:t>
                </a:r>
                <a:r>
                  <a:rPr lang="ja-JP" altLang="en-US" sz="2000">
                    <a:effectLst/>
                    <a:latin typeface="Google Sans Text"/>
                  </a:rPr>
                  <a:t>倍）。加減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3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99.7% </a:t>
                </a:r>
                <a:r>
                  <a:rPr lang="ja-JP" altLang="en-US" sz="2000">
                    <a:effectLst/>
                    <a:latin typeface="Google Sans Text"/>
                  </a:rPr>
                  <a:t>的可能性。「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個標準誤」之所以成為標準，是因為它在「精確度」與「保險程度」之間取得了一個完美的平衡。它告訴我們：「如果你重複做 </a:t>
                </a:r>
                <a:r>
                  <a:rPr lang="en-US" altLang="ja-JP" sz="2000" dirty="0">
                    <a:effectLst/>
                    <a:latin typeface="Google Sans Text"/>
                  </a:rPr>
                  <a:t>100 </a:t>
                </a:r>
                <a:r>
                  <a:rPr lang="ja-JP" altLang="en-US" sz="2000">
                    <a:effectLst/>
                    <a:latin typeface="Google Sans Text"/>
                  </a:rPr>
                  <a:t>次調查，大約有 </a:t>
                </a:r>
                <a:r>
                  <a:rPr lang="en-US" altLang="ja-JP" sz="2000" dirty="0">
                    <a:effectLst/>
                    <a:latin typeface="Google Sans Text"/>
                  </a:rPr>
                  <a:t>95 </a:t>
                </a:r>
                <a:r>
                  <a:rPr lang="ja-JP" altLang="en-US" sz="2000">
                    <a:effectLst/>
                    <a:latin typeface="Google Sans Text"/>
                  </a:rPr>
                  <a:t>次算出母體真相會落在這個加減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倍的範圍內。」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標準誤（</a:t>
                </a:r>
                <a:r>
                  <a:rPr lang="en-US" altLang="ja-JP" sz="2000" dirty="0">
                    <a:effectLst/>
                    <a:latin typeface="Google Sans Text"/>
                  </a:rPr>
                  <a:t>Standard Error, SE</a:t>
                </a:r>
                <a:r>
                  <a:rPr lang="ja-JP" altLang="en-US" sz="2000">
                    <a:effectLst/>
                    <a:latin typeface="Google Sans Text"/>
                  </a:rPr>
                  <a:t>）是衡量「估計有多準確」的程度。如果抽樣設計很穩定（例如包含機率 </a:t>
                </a:r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很大且平均），</a:t>
                </a:r>
                <a:r>
                  <a:rPr lang="en-US" altLang="ja-JP" sz="2000" dirty="0">
                    <a:effectLst/>
                    <a:latin typeface="Google Sans Text"/>
                  </a:rPr>
                  <a:t>SE </a:t>
                </a:r>
                <a:r>
                  <a:rPr lang="ja-JP" altLang="en-US" sz="2000">
                    <a:effectLst/>
                    <a:latin typeface="Google Sans Text"/>
                  </a:rPr>
                  <a:t>就會很小，代表估計很精確。根據 </a:t>
                </a:r>
                <a:r>
                  <a:rPr lang="en-US" altLang="ja-JP" sz="2000" dirty="0">
                    <a:effectLst/>
                    <a:latin typeface="Google Sans Text"/>
                  </a:rPr>
                  <a:t>H-T </a:t>
                </a:r>
                <a:r>
                  <a:rPr lang="ja-JP" altLang="en-US" sz="2000">
                    <a:effectLst/>
                    <a:latin typeface="Google Sans Text"/>
                  </a:rPr>
                  <a:t>變異數公式，如果你的樣本中出現了「權重極大」的個體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ja-JP" altLang="en-US" sz="2000">
                    <a:effectLst/>
                    <a:latin typeface="Google Sans Text"/>
                  </a:rPr>
                  <a:t>會劇烈拉大變異數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42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69343-5791-A650-E866-2F604E30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常態分佈機率圖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EE3738-3304-B7A0-D842-5AA5ADEB0A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5079" y="1825625"/>
            <a:ext cx="85218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25201-1381-E289-C6CB-2D8BC3788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150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簡單隨機抽樣（五）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生活中經常估計比例，例如考生通過考試的比例、一年之中下雨的比例等等。</a:t>
                </a:r>
                <a:r>
                  <a:rPr lang="ja-JP" altLang="en-US" sz="2000">
                    <a:latin typeface="Google Sans Text"/>
                  </a:rPr>
                  <a:t>或者抽樣出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位受訪者，詢問他們是否支持週休三天的政策。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估計式寫成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，例如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位受訪者中，只有</a:t>
                </a:r>
                <a:r>
                  <a:rPr lang="en-US" altLang="ja-JP" sz="2000" dirty="0">
                    <a:latin typeface="Google Sans Text"/>
                  </a:rPr>
                  <a:t>30</a:t>
                </a:r>
                <a:r>
                  <a:rPr lang="ja-JP" altLang="en-US" sz="2000">
                    <a:latin typeface="Google Sans Text"/>
                  </a:rPr>
                  <a:t>位贊成，記為</a:t>
                </a:r>
                <a:r>
                  <a:rPr lang="en-US" altLang="ja-JP" sz="2000" dirty="0">
                    <a:latin typeface="Google Sans Text"/>
                  </a:rPr>
                  <a:t>1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70</a:t>
                </a:r>
                <a:r>
                  <a:rPr lang="ja-JP" altLang="en-US" sz="2000">
                    <a:latin typeface="Google Sans Text"/>
                  </a:rPr>
                  <a:t>位不贊成的值是</a:t>
                </a:r>
                <a:r>
                  <a:rPr lang="en-US" altLang="ja-JP" sz="2000" dirty="0">
                    <a:latin typeface="Google Sans Text"/>
                  </a:rPr>
                  <a:t>0</a:t>
                </a:r>
                <a:r>
                  <a:rPr lang="ja-JP" altLang="en-US" sz="2000">
                    <a:latin typeface="Google Sans Text"/>
                  </a:rPr>
                  <a:t>，平均值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30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×1+70×0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lang="ja-JP" altLang="en-US" sz="2000" dirty="0">
                    <a:effectLst/>
                    <a:latin typeface="Google Sans Text"/>
                  </a:rPr>
                  <a:t>。</a:t>
                </a:r>
                <a14:m>
                  <m:oMath xmlns:m="http://schemas.openxmlformats.org/officeDocument/2006/math"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∙0.3</m:t>
                        </m:r>
                      </m:e>
                    </m:d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%=30%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。用這個樣本估計值推論母體。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變異數：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(100−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。</a:t>
                </a: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effectLst/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是樣本佔母體的比例，因為比例可能接近</a:t>
                </a:r>
                <a:r>
                  <a:rPr lang="en-US" altLang="zh-TW" sz="2000" dirty="0">
                    <a:effectLst/>
                    <a:latin typeface="Google Sans Text"/>
                  </a:rPr>
                  <a:t>0</a:t>
                </a:r>
                <a:r>
                  <a:rPr lang="zh-TW" altLang="en-US" sz="2000" dirty="0">
                    <a:effectLst/>
                    <a:latin typeface="Google Sans Text"/>
                  </a:rPr>
                  <a:t>，所以可以忽略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23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抽樣數（一）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樣本數越大，樣本估計越準確，但是也需要更多成本。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最小樣本數的計算公式：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(1−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 </a:t>
                </a:r>
                <a:r>
                  <a:rPr lang="ja-JP" altLang="en-US" sz="2000" dirty="0">
                    <a:latin typeface="Google Sans Text"/>
                  </a:rPr>
                  <a:t>。其</a:t>
                </a:r>
                <a:r>
                  <a:rPr lang="ja-JP" altLang="en-US" sz="2000"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代表抽樣誤差，通常設定為</a:t>
                </a:r>
                <a:r>
                  <a:rPr lang="en-US" altLang="ja-JP" sz="2000" dirty="0">
                    <a:latin typeface="Google Sans Text"/>
                  </a:rPr>
                  <a:t>3%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effectLst/>
                    <a:latin typeface="Google Sans Text"/>
                  </a:rPr>
                  <a:t>例如，上一次的調查顯示</a:t>
                </a:r>
                <a:r>
                  <a:rPr lang="en-US" altLang="zh-TW" sz="2000" dirty="0">
                    <a:effectLst/>
                    <a:latin typeface="Google Sans Text"/>
                  </a:rPr>
                  <a:t>21%</a:t>
                </a:r>
                <a:r>
                  <a:rPr lang="zh-TW" altLang="en-US" sz="2000" dirty="0">
                    <a:effectLst/>
                    <a:latin typeface="Google Sans Text"/>
                  </a:rPr>
                  <a:t>的受訪者曾經使用</a:t>
                </a:r>
                <a:r>
                  <a:rPr lang="en-US" altLang="zh-TW" sz="2000" dirty="0">
                    <a:effectLst/>
                    <a:latin typeface="Google Sans Text"/>
                  </a:rPr>
                  <a:t>AI</a:t>
                </a:r>
                <a:r>
                  <a:rPr lang="zh-TW" altLang="en-US" sz="2000" dirty="0">
                    <a:effectLst/>
                    <a:latin typeface="Google Sans Text"/>
                  </a:rPr>
                  <a:t>，那麼如果要做新的民調需要多少樣本數？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21×79=708.1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估計樣本平均值的樣本數需要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 dirty="0">
                    <a:effectLst/>
                    <a:latin typeface="Google Sans Text"/>
                  </a:rPr>
                  <a:t>其</a:t>
                </a:r>
                <a:r>
                  <a:rPr lang="ja-JP" altLang="en-US" sz="2000">
                    <a:effectLst/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代表母體的變異數。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先隨機抽取一小批人（例如 </a:t>
                </a:r>
                <a:r>
                  <a:rPr lang="en-US" altLang="ja-JP" sz="2000" dirty="0">
                    <a:effectLst/>
                    <a:latin typeface="Google Sans Text"/>
                  </a:rPr>
                  <a:t>30~50 </a:t>
                </a:r>
                <a:r>
                  <a:rPr lang="ja-JP" altLang="en-US" sz="2000">
                    <a:effectLst/>
                    <a:latin typeface="Google Sans Text"/>
                  </a:rPr>
                  <a:t>人）進行小規模預測調查，再決定正式調查的樣本數。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3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803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05295-9EAE-0C08-2338-F1412883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A38AA-4092-7A98-23FF-6DFA5DF4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分層抽樣（一）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把母體分成一些群體，群體之間的差異盡可能放大，群體內的差異盡可能縮小，稱為分層</a:t>
                </a:r>
                <a:r>
                  <a:rPr lang="en-US" altLang="ja-JP" sz="2000" dirty="0">
                    <a:latin typeface="Google Sans Text"/>
                  </a:rPr>
                  <a:t>(strata)</a:t>
                </a:r>
                <a:r>
                  <a:rPr lang="ja-JP" altLang="en-US" sz="2000">
                    <a:latin typeface="Google Sans Text"/>
                  </a:rPr>
                  <a:t>。每一層抽出的樣本都可以計算無偏的平均值與變異數，組合起來成為可以推估母體的平均值與變異數。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母體每一層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/>
                  <a:t>的平均數：</a:t>
                </a:r>
                <a:r>
                  <a:rPr lang="en-US" altLang="ja-JP" sz="2000" b="0" dirty="0">
                    <a:effectLst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altLang="ja-JP" sz="2000" dirty="0"/>
                  <a:t> </a:t>
                </a:r>
                <a:r>
                  <a:rPr lang="ja-JP" altLang="en-US" sz="2000"/>
                  <a:t>母體的平均數：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ja-JP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b="0" dirty="0">
                  <a:effectLst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每一層樣本的平均數，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可推估母體平均數。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每一層樣本的平均數的變異程度：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f>
                          <m:f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ja-JP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den>
                        </m:f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ja-JP" altLang="en-US" sz="2000" dirty="0">
                    <a:latin typeface="Google Sans Text"/>
                  </a:rPr>
                  <a:t>代表該分層裡面的變異程度。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需要可抽樣的清單，才能加以分層。例如，把台灣的鄉鎮市區按照都市化程度分層，在中選的層之中，抽出村里。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實務上，一個層之中有比較難進行訪問的鄉鎮市區，可以考慮挑選比較容易訪問的，但是最後要注意區域的均衡。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2FD09-9E03-78BE-CC5C-027BA33D3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808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05295-9EAE-0C08-2338-F1412883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A38AA-4092-7A98-23FF-6DFA5DF4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分層抽樣（二）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分層抽樣可以結合系統抽樣。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第一階段：分層 </a:t>
                </a:r>
                <a:r>
                  <a:rPr lang="en-US" altLang="ja-JP" sz="2000" dirty="0">
                    <a:latin typeface="Google Sans Text"/>
                  </a:rPr>
                  <a:t>(Stratification)</a:t>
                </a:r>
                <a:r>
                  <a:rPr lang="ja-JP" altLang="en-US" sz="2000">
                    <a:latin typeface="Google Sans Text"/>
                  </a:rPr>
                  <a:t>根據母體已知的重要特徵（與調查主題相關的變數），將母體名冊分成不重疊的組別。例子： 若要調查「大學生生活費」，先按「學院」（外語、理、資訊、商、教育、社科、創國）分成</a:t>
                </a:r>
                <a:r>
                  <a:rPr lang="en-US" altLang="ja-JP" sz="2000" dirty="0">
                    <a:latin typeface="Google Sans Text"/>
                  </a:rPr>
                  <a:t>7</a:t>
                </a:r>
                <a:r>
                  <a:rPr lang="ja-JP" altLang="en-US" sz="2000">
                    <a:latin typeface="Google Sans Text"/>
                  </a:rPr>
                  <a:t>層。每一種學院的學生都能按比例被抽到。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第二階段：層內排序 </a:t>
                </a:r>
                <a:r>
                  <a:rPr lang="en-US" altLang="ja-JP" sz="2000" dirty="0">
                    <a:latin typeface="Google Sans Text"/>
                  </a:rPr>
                  <a:t>(Sorting within Strata)</a:t>
                </a:r>
                <a:r>
                  <a:rPr lang="ja-JP" altLang="en-US" sz="2000">
                    <a:latin typeface="Google Sans Text"/>
                  </a:rPr>
                  <a:t> 。在每一層內，將名冊依照某種「次要變數」進行排序（例如：系的人數）， 確保大系的樣本數比較多。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第三階段：系統抽樣 </a:t>
                </a:r>
                <a:r>
                  <a:rPr lang="en-US" altLang="ja-JP" sz="2000" dirty="0">
                    <a:latin typeface="Google Sans Text"/>
                  </a:rPr>
                  <a:t>(Systematic Selection)</a:t>
                </a:r>
                <a:r>
                  <a:rPr lang="ja-JP" altLang="en-US" sz="2000">
                    <a:latin typeface="Google Sans Text"/>
                  </a:rPr>
                  <a:t>在每一層內分別執行系統抽樣：計算抽樣間隔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</m:oMath>
                </a14:m>
                <a:r>
                  <a:rPr lang="ja-JP" altLang="en-US" sz="2000">
                    <a:latin typeface="Google Sans Text"/>
                  </a:rPr>
                  <a:t>（該層總人數 </a:t>
                </a:r>
                <a:r>
                  <a:rPr lang="en-US" altLang="ja-JP" sz="2000" dirty="0">
                    <a:latin typeface="Google Sans Text"/>
                  </a:rPr>
                  <a:t>/ </a:t>
                </a:r>
                <a:r>
                  <a:rPr lang="ja-JP" altLang="en-US" sz="2000">
                    <a:latin typeface="Google Sans Text"/>
                  </a:rPr>
                  <a:t>該層應抽人數）。隨機選取一個起始點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。每隔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個人抽一個，直到完成該層配額。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2FD09-9E03-78BE-CC5C-027BA33D3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421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FFA82-5FF3-F28E-84BF-024BAB71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BCC34-601C-CB89-85AA-CA2D1998D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集群抽樣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5815E-3ECC-D100-8CCB-1C5673521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把母體分成一些群體，但是沒有可抽樣的清單，也不知道群體內的觀察值有多少。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例如：想調查全台灣大學生的政治知識，但是沒辦法取得全台灣所有學生的名冊（底冊）。 集群抽樣將各個大學視為一個個集群（</a:t>
            </a:r>
            <a:r>
              <a:rPr lang="en-US" altLang="ja-JP" sz="2000" dirty="0">
                <a:latin typeface="Google Sans Text"/>
              </a:rPr>
              <a:t>Cluster</a:t>
            </a:r>
            <a:r>
              <a:rPr lang="ja-JP" altLang="en-US" sz="2000">
                <a:latin typeface="Google Sans Text"/>
              </a:rPr>
              <a:t>）。從 </a:t>
            </a:r>
            <a:r>
              <a:rPr lang="en-US" altLang="ja-JP" sz="2000" dirty="0">
                <a:latin typeface="Google Sans Text"/>
              </a:rPr>
              <a:t>150 </a:t>
            </a:r>
            <a:r>
              <a:rPr lang="ja-JP" altLang="en-US" sz="2000">
                <a:latin typeface="Google Sans Text"/>
              </a:rPr>
              <a:t>多所大學中，隨機抽取出 </a:t>
            </a:r>
            <a:r>
              <a:rPr lang="en-US" altLang="ja-JP" sz="2000" dirty="0">
                <a:latin typeface="Google Sans Text"/>
              </a:rPr>
              <a:t>5 </a:t>
            </a:r>
            <a:r>
              <a:rPr lang="ja-JP" altLang="en-US" sz="2000">
                <a:latin typeface="Google Sans Text"/>
              </a:rPr>
              <a:t>所學校。 針對這 </a:t>
            </a:r>
            <a:r>
              <a:rPr lang="en-US" altLang="ja-JP" sz="2000" dirty="0">
                <a:latin typeface="Google Sans Text"/>
              </a:rPr>
              <a:t>5 </a:t>
            </a:r>
            <a:r>
              <a:rPr lang="ja-JP" altLang="en-US" sz="2000">
                <a:latin typeface="Google Sans Text"/>
              </a:rPr>
              <a:t>所學校裡面的「所有學生」進行調查，用這</a:t>
            </a:r>
            <a:r>
              <a:rPr lang="en-US" altLang="ja-JP" sz="2000" dirty="0">
                <a:latin typeface="Google Sans Text"/>
              </a:rPr>
              <a:t>5</a:t>
            </a:r>
            <a:r>
              <a:rPr lang="ja-JP" altLang="en-US" sz="2000">
                <a:latin typeface="Google Sans Text"/>
              </a:rPr>
              <a:t>所學校的學生代表所有的大學生。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例如：想調查手機使用者的體驗，但是沒有手機門號的名冊，也不知道到底有哪些門號，只能將已知的特定的號碼區段視為集群，然後抽出一定的門號特定的號碼區段之後進行調查。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分層抽樣：希望「層內異質性低」（層內越像越好），因為這樣每一層只要抽幾個人就很準。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集群抽樣：希望「層內異質性高」（群體內越雜越好），因為這樣抽中一個群體就能看到整個世界的縮影。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endParaRPr lang="en-US" altLang="ja-JP" sz="2000" dirty="0">
              <a:latin typeface="Google Sans Tex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7DDA-821F-27C1-DE27-756C2096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77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FFA82-5FF3-F28E-84BF-024BAB71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BCC34-601C-CB89-85AA-CA2D1998D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兩階段抽樣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5815E-3ECC-D100-8CCB-1C5673521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集群抽樣的好處是鎖定特定群體，不像分層抽樣，可能要在每一層到處調查。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因此，兩階段抽樣集群以及隨機抽樣，分兩個步驟進行：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第一階段 </a:t>
            </a:r>
            <a:r>
              <a:rPr lang="en-US" altLang="ja-JP" sz="2000" dirty="0">
                <a:latin typeface="Google Sans Text"/>
              </a:rPr>
              <a:t>(First Stage)</a:t>
            </a:r>
            <a:r>
              <a:rPr lang="ja-JP" altLang="en-US" sz="2000">
                <a:latin typeface="Google Sans Text"/>
              </a:rPr>
              <a:t>： 將母體分成多個群體（稱為初級抽樣單位，</a:t>
            </a:r>
            <a:r>
              <a:rPr lang="en-US" altLang="ja-JP" sz="2000" dirty="0">
                <a:latin typeface="Google Sans Text"/>
              </a:rPr>
              <a:t>PSU</a:t>
            </a:r>
            <a:r>
              <a:rPr lang="ja-JP" altLang="en-US" sz="2000">
                <a:latin typeface="Google Sans Text"/>
              </a:rPr>
              <a:t>），並從中隨機抽取一部分群體。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第二階段 </a:t>
            </a:r>
            <a:r>
              <a:rPr lang="en-US" altLang="ja-JP" sz="2000" dirty="0">
                <a:latin typeface="Google Sans Text"/>
              </a:rPr>
              <a:t>(Second Stage)</a:t>
            </a:r>
            <a:r>
              <a:rPr lang="ja-JP" altLang="en-US" sz="2000">
                <a:latin typeface="Google Sans Text"/>
              </a:rPr>
              <a:t>： 從被抽中的每個群體中，再隨機抽取一部分個體（稱為次級抽樣單位，</a:t>
            </a:r>
            <a:r>
              <a:rPr lang="en-US" altLang="ja-JP" sz="2000" dirty="0">
                <a:latin typeface="Google Sans Text"/>
              </a:rPr>
              <a:t>SSU</a:t>
            </a:r>
            <a:r>
              <a:rPr lang="ja-JP" altLang="en-US" sz="2000">
                <a:latin typeface="Google Sans Text"/>
              </a:rPr>
              <a:t>）進行調查。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好處是如果第一階段抽到比較多群，抽樣誤差可能比較小，但是成本也可能比較高。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endParaRPr lang="en-US" altLang="ja-JP" sz="2000" dirty="0">
              <a:latin typeface="Google Sans Tex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7DDA-821F-27C1-DE27-756C2096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7760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DB8A1-2C55-6486-E944-BB963AF7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結論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6E5C1-2BED-73D1-1313-69746A164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/>
              <a:t>樣本數越大，樣本估計</a:t>
            </a:r>
            <a:r>
              <a:rPr lang="en-US" sz="2000" dirty="0"/>
              <a:t>(estimator)</a:t>
            </a:r>
            <a:r>
              <a:rPr lang="en-US" sz="2000" dirty="0" err="1"/>
              <a:t>的變異數越小，也就是越接近母體</a:t>
            </a:r>
            <a:r>
              <a:rPr lang="en-US" sz="2000" dirty="0"/>
              <a:t>。</a:t>
            </a:r>
          </a:p>
          <a:p>
            <a:r>
              <a:rPr lang="en-US" sz="2000" dirty="0" err="1"/>
              <a:t>等比例抽樣只考慮每一層佔全部人數的比例</a:t>
            </a:r>
            <a:r>
              <a:rPr lang="en-US" sz="2000" dirty="0"/>
              <a:t>。</a:t>
            </a:r>
          </a:p>
          <a:p>
            <a:r>
              <a:rPr lang="ja-JP" altLang="en-US" sz="2000"/>
              <a:t>因為每一層的特性不同。最適分配在分配樣本時考慮：</a:t>
            </a:r>
            <a:endParaRPr lang="en-US" altLang="ja-JP" sz="2000" dirty="0"/>
          </a:p>
          <a:p>
            <a:r>
              <a:rPr lang="ja-JP" altLang="en-US" sz="2000"/>
              <a:t>層的大小</a:t>
            </a:r>
            <a:r>
              <a:rPr lang="en-US" sz="2000" dirty="0"/>
              <a:t>：</a:t>
            </a:r>
            <a:r>
              <a:rPr lang="ja-JP" altLang="en-US" sz="2000"/>
              <a:t>母體中這一層的人數愈多，分配到的樣本就愈多。</a:t>
            </a:r>
            <a:endParaRPr lang="en-US" altLang="ja-JP" sz="2000" dirty="0"/>
          </a:p>
          <a:p>
            <a:r>
              <a:rPr lang="ja-JP" altLang="en-US" sz="2000"/>
              <a:t>層內的變異程度</a:t>
            </a:r>
            <a:r>
              <a:rPr lang="en-US" sz="2000" dirty="0"/>
              <a:t>：</a:t>
            </a:r>
            <a:r>
              <a:rPr lang="ja-JP" altLang="en-US" sz="2000"/>
              <a:t>如果這一層內部的意見非常分歧（標準差大），我們需要更多樣本才能</a:t>
            </a:r>
            <a:r>
              <a:rPr lang="en-US" altLang="ja-JP" sz="2000" dirty="0"/>
              <a:t>r</a:t>
            </a:r>
            <a:r>
              <a:rPr lang="ja-JP" altLang="en-US" sz="2000"/>
              <a:t>減少誤差。</a:t>
            </a:r>
            <a:endParaRPr lang="en-US" altLang="ja-JP" sz="2000" dirty="0"/>
          </a:p>
          <a:p>
            <a:r>
              <a:rPr lang="ja-JP" altLang="en-US" sz="2000"/>
              <a:t>抽樣的成本</a:t>
            </a:r>
            <a:r>
              <a:rPr lang="en-US" sz="2000" dirty="0"/>
              <a:t>：</a:t>
            </a:r>
            <a:r>
              <a:rPr lang="ja-JP" altLang="en-US" sz="2000"/>
              <a:t>如果抽某一層的人特別貴（例如需要派訪員去偏鄉），就會少抽一點。</a:t>
            </a:r>
            <a:endParaRPr lang="en-US" altLang="ja-JP" sz="2000" dirty="0"/>
          </a:p>
          <a:p>
            <a:r>
              <a:rPr lang="ja-JP" altLang="en-US" sz="2000"/>
              <a:t>分層抽樣：層內差異性越小越好</a:t>
            </a:r>
            <a:endParaRPr lang="en-US" altLang="ja-JP" sz="2000" dirty="0"/>
          </a:p>
          <a:p>
            <a:r>
              <a:rPr lang="ja-JP" altLang="en-US" sz="2000"/>
              <a:t>集群抽樣：層內差異越大越好</a:t>
            </a:r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11099-E7D7-E12A-B16A-60D9B405F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05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4855</TotalTime>
  <Words>2588</Words>
  <Application>Microsoft Macintosh PowerPoint</Application>
  <PresentationFormat>Widescreen</PresentationFormat>
  <Paragraphs>186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Google Sans Text</vt:lpstr>
      <vt:lpstr>MingLiU</vt:lpstr>
      <vt:lpstr>PMingLiU</vt:lpstr>
      <vt:lpstr>Angsana New</vt:lpstr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抽樣</vt:lpstr>
      <vt:lpstr>課程目標</vt:lpstr>
      <vt:lpstr>為何要抽樣？</vt:lpstr>
      <vt:lpstr>PowerPoint Presentation</vt:lpstr>
      <vt:lpstr>機率抽樣的元素（一）</vt:lpstr>
      <vt:lpstr>等比例分配抽樣（一）</vt:lpstr>
      <vt:lpstr>等比例分配抽樣（二）</vt:lpstr>
      <vt:lpstr>機率抽樣的元素（二）</vt:lpstr>
      <vt:lpstr>Neyman最適分配(Neyman allocation)</vt:lpstr>
      <vt:lpstr>機率抽樣的元素（三）</vt:lpstr>
      <vt:lpstr>機率抽樣的元素（四）</vt:lpstr>
      <vt:lpstr>機率抽樣的元素（五）</vt:lpstr>
      <vt:lpstr>機率抽樣的元素（六）</vt:lpstr>
      <vt:lpstr>機率抽樣的元素（七）</vt:lpstr>
      <vt:lpstr>機率抽樣的元素（八）</vt:lpstr>
      <vt:lpstr>機率抽樣的元素（九）</vt:lpstr>
      <vt:lpstr>簡單隨機抽樣（一）</vt:lpstr>
      <vt:lpstr>簡單隨機抽樣（二）</vt:lpstr>
      <vt:lpstr>簡單隨機抽樣（三）</vt:lpstr>
      <vt:lpstr>簡單隨機抽樣（四）</vt:lpstr>
      <vt:lpstr>常態分佈機率圖</vt:lpstr>
      <vt:lpstr>簡單隨機抽樣（五）</vt:lpstr>
      <vt:lpstr>抽樣數（一）</vt:lpstr>
      <vt:lpstr>分層抽樣（一）</vt:lpstr>
      <vt:lpstr>分層抽樣（二）</vt:lpstr>
      <vt:lpstr>集群抽樣</vt:lpstr>
      <vt:lpstr>兩階段抽樣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63</cp:revision>
  <dcterms:created xsi:type="dcterms:W3CDTF">2025-11-29T03:50:16Z</dcterms:created>
  <dcterms:modified xsi:type="dcterms:W3CDTF">2026-03-31T15:04:57Z</dcterms:modified>
</cp:coreProperties>
</file>