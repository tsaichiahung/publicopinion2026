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9" r:id="rId3"/>
    <p:sldId id="260" r:id="rId4"/>
    <p:sldId id="271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5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755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549C9-F1F2-A344-9318-AC3AB4654B7E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1D9D-B5FD-8C44-B376-87A4AA1261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9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B731F-7F54-EF4E-BC14-D4454C95FF4D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43121-CDD1-174D-9095-06B3974B3CC1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BAF9-EAD3-1641-87AF-ADC71D8222CD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7A49D-4C23-6A49-AF9D-C0E1C1130921}" type="datetime1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16F59-8951-4749-B49C-6C88C0B4B6BD}" type="datetime1">
              <a:rPr lang="en-US" smtClean="0"/>
              <a:t>3/23/26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2BBDF-C485-174D-8051-FF3ED3DF33C6}" type="datetime1">
              <a:rPr lang="en-US" smtClean="0"/>
              <a:t>3/23/26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16C8-35EA-C448-A7DB-295F753FB635}" type="datetime1">
              <a:rPr lang="en-US" smtClean="0"/>
              <a:t>3/23/26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A6818-685C-B142-BE10-A6D54A85D7FF}" type="datetime1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4D57B-5B66-2F49-AB7C-362DD22B45D8}" type="datetime1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AAEB-F940-CA44-B742-2110711973A7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FC7EA-A73C-4146-9B14-54C11597AA40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5DC53-D744-A54C-8957-51F9F93FF803}" type="datetime1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6000"/>
              <a:t>抽樣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</a:t>
            </a:r>
            <a:r>
              <a:rPr lang="en-US"/>
              <a:t>/25/2025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為何要抽樣？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抽樣方法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推論統計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B3FC9-8666-6C80-0610-26E10A33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為何要抽樣？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網路普及之後，研究者可以利用email寄問</a:t>
            </a:r>
            <a:r>
              <a:rPr lang="zh-TW" altLang="en-US" sz="2000" dirty="0"/>
              <a:t>卷給受訪者</a:t>
            </a:r>
            <a:r>
              <a:rPr lang="en-US" sz="2000" dirty="0"/>
              <a:t>，</a:t>
            </a:r>
            <a:r>
              <a:rPr lang="en-US" sz="2000" dirty="0" err="1"/>
              <a:t>或者請受訪者直接登入網路介面回答問題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出現越來越多方法克服非機率抽樣的問題，使網路調查的結果更接近電話調查或者面對面調查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網路調查有許多優點，主要可以克服透過訪員接觸受訪者的問題，改由受訪者自己填寫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網路調查加上實驗設計，受到研究者的歡迎</a:t>
            </a:r>
            <a:r>
              <a:rPr lang="en-US" sz="2000" dirty="0"/>
              <a:t>。</a:t>
            </a:r>
          </a:p>
          <a:p>
            <a:pPr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166A0-0716-0F20-CCC6-25898714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9251C1C1-BCDC-0FFC-A3C6-ACED3BC6A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469BFB84-0026-A6D9-C983-8B4284284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630984"/>
            <a:ext cx="10515600" cy="763708"/>
          </a:xfrm>
        </p:spPr>
        <p:txBody>
          <a:bodyPr>
            <a:normAutofit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Source: </a:t>
            </a:r>
            <a:r>
              <a:rPr lang="en" altLang="zh-TW" dirty="0" err="1">
                <a:solidFill>
                  <a:schemeClr val="tx1"/>
                </a:solidFill>
              </a:rPr>
              <a:t>Biffignandi</a:t>
            </a:r>
            <a:r>
              <a:rPr lang="en-US" altLang="zh-TW" dirty="0">
                <a:solidFill>
                  <a:schemeClr val="tx1"/>
                </a:solidFill>
              </a:rPr>
              <a:t> and </a:t>
            </a:r>
            <a:r>
              <a:rPr lang="en" altLang="zh-TW" dirty="0">
                <a:solidFill>
                  <a:schemeClr val="tx1"/>
                </a:solidFill>
              </a:rPr>
              <a:t>Bethlehem (2021) Handbook of Web Survey, p. 111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9B96B5E-71A0-1AB2-9C3C-172ABD68F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4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1BC76C-E4A5-129F-7659-C25E3860C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641229"/>
            <a:ext cx="7772400" cy="481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83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如果母體中的每一個成員都有一個大於零且已知的被選中機會，稱為機率抽樣。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由於遵循隨機原則，研究者可以使用統計公式計算信心水準與誤差範圍，使得樣本特徵可以推論至整個母體。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假設我們進行了一次網路調查，回收了 </a:t>
                </a:r>
                <a:r>
                  <a:rPr lang="en-US" altLang="ja-JP" sz="2000" dirty="0"/>
                  <a:t>1,067 </a:t>
                </a:r>
                <a:r>
                  <a:rPr lang="ja-JP" altLang="en-US" sz="2000"/>
                  <a:t>份 有效問卷，假設得到結果如下：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樣本平均值 </a:t>
                </a:r>
                <a:r>
                  <a:rPr lang="en-US" altLang="ja-JP" sz="2000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5.5 </a:t>
                </a:r>
                <a:r>
                  <a:rPr lang="ja-JP" altLang="en-US" sz="2000"/>
                  <a:t>分，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樣本標準差 </a:t>
                </a:r>
                <a:r>
                  <a:rPr lang="en-US" altLang="ja-JP" sz="2000" dirty="0"/>
                  <a:t>(s )</a:t>
                </a:r>
                <a:r>
                  <a:rPr lang="ja-JP" altLang="en-US" sz="2000"/>
                  <a:t>： </a:t>
                </a:r>
                <a:r>
                  <a:rPr lang="en-US" altLang="ja-JP" sz="2000" dirty="0"/>
                  <a:t>2.5 </a:t>
                </a:r>
                <a:r>
                  <a:rPr lang="ja-JP" altLang="en-US" sz="2000"/>
                  <a:t>分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信心水準：</a:t>
                </a:r>
                <a:r>
                  <a:rPr lang="en-US" altLang="ja-JP" sz="2000" dirty="0"/>
                  <a:t>95% (</a:t>
                </a:r>
                <a:r>
                  <a:rPr lang="en-US" altLang="ja-JP" sz="2000" i="1" dirty="0"/>
                  <a:t>z</a:t>
                </a:r>
                <a:r>
                  <a:rPr lang="en-US" altLang="ja-JP" sz="2000" dirty="0"/>
                  <a:t> = 1.96)</a:t>
                </a:r>
                <a:r>
                  <a:rPr lang="ja-JP" altLang="en-US" sz="2000"/>
                  <a:t> 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標準誤 </a:t>
                </a:r>
                <a:r>
                  <a:rPr lang="en-US" altLang="ja-JP" sz="2000" dirty="0"/>
                  <a:t>(Standard Error)</a:t>
                </a:r>
                <a:r>
                  <a:rPr lang="ja-JP" altLang="en-US" sz="2000"/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1067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ja-JP" sz="2000" dirty="0"/>
                  <a:t> 0.0766</a:t>
                </a: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1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E2491-AA9A-BF63-9395-E47BB3443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75C55C-39ED-D1E3-ADBC-6F08C2F7E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158" y="0"/>
            <a:ext cx="7771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617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非機率抽樣並非基於隨機原則，而是根據研究者的便利性、判斷或特定標準來選取樣本。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缺乏代表性， 可能集中在少數人，無法推論至全體母體。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抽樣機率不明，無法計算精確的抽樣誤差。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便利抽樣、判斷抽樣（專家抽樣）、滾雪球抽樣、配額抽樣都屬於非機率抽樣。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2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9EBEF9-A064-EC8F-F179-60480554D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7825AB-9123-046E-5144-047BBDB4F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405" y="993274"/>
            <a:ext cx="7772400" cy="509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186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自願參與偏差 </a:t>
            </a:r>
            <a:r>
              <a:rPr lang="en-US" altLang="ja-JP" sz="2000" dirty="0"/>
              <a:t>(Self-Selection Bias)</a:t>
            </a:r>
            <a:r>
              <a:rPr lang="ja-JP" altLang="en-US" sz="2000"/>
              <a:t>：由對該主題感興趣、有強烈意見，或單純想領取獎勵的人自行決定加入。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涵蓋誤差 </a:t>
            </a:r>
            <a:r>
              <a:rPr lang="en-US" altLang="ja-JP" sz="2000" dirty="0"/>
              <a:t>(Coverage Error)</a:t>
            </a:r>
            <a:r>
              <a:rPr lang="ja-JP" altLang="en-US" sz="2000"/>
              <a:t>：並非所有人都有同等的機會上網或看到調查連結。例如高齡族群、低收入者的上網頻率較低。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非隨機的「便利性」：研究者通常將連結發布在自己能觸及的社群媒體、論壇或 </a:t>
            </a:r>
            <a:r>
              <a:rPr lang="en-US" altLang="ja-JP" sz="2000" dirty="0"/>
              <a:t>LINE </a:t>
            </a:r>
            <a:r>
              <a:rPr lang="ja-JP" altLang="en-US" sz="2000"/>
              <a:t>群組中。受限於研究者的「同溫層」。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樣本性質難以驗證：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重複填答： 同一人可能為了獎品多次填寫。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機器人與無效樣本： </a:t>
            </a:r>
            <a:r>
              <a:rPr lang="en-US" altLang="ja-JP" sz="2000" dirty="0"/>
              <a:t>AI </a:t>
            </a:r>
            <a:r>
              <a:rPr lang="ja-JP" altLang="en-US" sz="2000"/>
              <a:t>或自動化程式可能產生大量垃圾數據。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身分造假： 受訪者可能為了領取獎勵而虛報符合填答問卷條件的年齡或職業。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278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如何修正網路調查的非機率抽樣？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配額抽樣 </a:t>
                </a:r>
                <a:r>
                  <a:rPr lang="en-US" altLang="ja-JP" sz="2000" dirty="0"/>
                  <a:t>(Quota Sampling)</a:t>
                </a:r>
                <a:r>
                  <a:rPr lang="ja-JP" altLang="en-US" sz="2000"/>
                  <a:t>： 如果資料庫中有足夠的樣本，可以設定性別、年齡比例，一旦某族群收滿足夠的樣本，就停止發送給受訪者。</a:t>
                </a:r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加權校正 </a:t>
                </a:r>
                <a:r>
                  <a:rPr lang="en-US" altLang="ja-JP" sz="2000" dirty="0"/>
                  <a:t>(Weighting)</a:t>
                </a:r>
                <a:r>
                  <a:rPr lang="ja-JP" altLang="en-US" sz="2000"/>
                  <a:t>： 根據人口普查數據，對受訪者進行事後數學調整。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例如：如果用電話訪問招募受訪者，然後寄同意書給受訪者，最後寄問卷給受訪者。這一套過程，有三次的選擇偏誤。</a:t>
                </a:r>
                <a:endParaRPr lang="en-US" altLang="ja-JP" sz="20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電話樣本「被抽到且完成訪問」（</a:t>
                </a:r>
                <a:r>
                  <a:rPr lang="en-US" dirty="0"/>
                  <a:t>reference sample）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在電話訪問後「同意加入 </a:t>
                </a:r>
                <a:r>
                  <a:rPr lang="en-US" dirty="0"/>
                  <a:t>panel」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在同意加入後「實際完成線上問卷」</a:t>
                </a:r>
              </a:p>
              <a:p>
                <a:r>
                  <a:rPr lang="ja-JP" altLang="en-US" sz="2100"/>
                  <a:t>最後資料的集合是：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ja-JP" sz="21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</m:oMath>
                </a14:m>
                <a:endParaRPr lang="ja-JP" altLang="en-US" sz="2100"/>
              </a:p>
              <a:p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497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43FC3-4047-4A6A-6B74-C624EA38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ja-JP" altLang="en-US" sz="2400"/>
                  <a:t>在電話樣本內，完成線上問卷的條件機率為：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𝐽𝑅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2400" dirty="0"/>
              </a:p>
              <a:p>
                <a:r>
                  <a:rPr lang="ja-JP" altLang="en-US" sz="2400"/>
                  <a:t>「線上完成者」的總權重可以寫成：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ja-JP" sz="2400" dirty="0"/>
              </a:p>
              <a:p>
                <a:r>
                  <a:rPr lang="ja-JP" altLang="en-US" sz="2400"/>
                  <a:t>加權後能回到母體平均</a:t>
                </a: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26EBF-36D7-2773-E645-6C866621B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744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期末報告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為鼓勵團隊合作，期末報告係由學生分組針對民意或者調查的主題進行研究，例如政府是否回應民意？個人的意見如何形成？如何改進問卷的設計或者執行方式等等？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期末進行分組發表報告後，於兩週後繳交完整報告。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每一組最少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2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人，最多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4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報告至少包括：研究問題與可能貢獻、文獻回顧、研究發現與建議以及結論。</a:t>
            </a:r>
            <a:endParaRPr lang="en-US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E27AD-FE49-2E5F-F622-F163350A2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999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3162</TotalTime>
  <Words>497</Words>
  <Application>Microsoft Macintosh PowerPoint</Application>
  <PresentationFormat>寬螢幕</PresentationFormat>
  <Paragraphs>66</Paragraphs>
  <Slides>12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21" baseType="lpstr">
      <vt:lpstr>Angsana New</vt:lpstr>
      <vt:lpstr>Arial</vt:lpstr>
      <vt:lpstr>Calibri</vt:lpstr>
      <vt:lpstr>Calibri Light</vt:lpstr>
      <vt:lpstr>Cambria Math</vt:lpstr>
      <vt:lpstr>Courier New</vt:lpstr>
      <vt:lpstr>Times New Roman</vt:lpstr>
      <vt:lpstr>Wingdings</vt:lpstr>
      <vt:lpstr>Office Theme</vt:lpstr>
      <vt:lpstr>抽樣</vt:lpstr>
      <vt:lpstr>課程目標</vt:lpstr>
      <vt:lpstr>為何要抽樣？</vt:lpstr>
      <vt:lpstr>PowerPoint 簡報</vt:lpstr>
      <vt:lpstr>機率抽樣</vt:lpstr>
      <vt:lpstr>PowerPoint 簡報</vt:lpstr>
      <vt:lpstr>非機率抽樣</vt:lpstr>
      <vt:lpstr>PowerPoint 簡報</vt:lpstr>
      <vt:lpstr>網路調查的非機率抽樣</vt:lpstr>
      <vt:lpstr>如何修正網路調查的非機率抽樣？</vt:lpstr>
      <vt:lpstr>網路調查的加權</vt:lpstr>
      <vt:lpstr>期末報告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CHT</cp:lastModifiedBy>
  <cp:revision>27</cp:revision>
  <dcterms:created xsi:type="dcterms:W3CDTF">2025-11-29T03:50:16Z</dcterms:created>
  <dcterms:modified xsi:type="dcterms:W3CDTF">2026-03-23T08:06:14Z</dcterms:modified>
</cp:coreProperties>
</file>