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9" r:id="rId3"/>
    <p:sldId id="260" r:id="rId4"/>
    <p:sldId id="271" r:id="rId5"/>
    <p:sldId id="264" r:id="rId6"/>
    <p:sldId id="273" r:id="rId7"/>
    <p:sldId id="281" r:id="rId8"/>
    <p:sldId id="274" r:id="rId9"/>
    <p:sldId id="282" r:id="rId10"/>
    <p:sldId id="275" r:id="rId11"/>
    <p:sldId id="276" r:id="rId12"/>
    <p:sldId id="277" r:id="rId13"/>
    <p:sldId id="278" r:id="rId14"/>
    <p:sldId id="279" r:id="rId15"/>
    <p:sldId id="280" r:id="rId16"/>
    <p:sldId id="283" r:id="rId17"/>
    <p:sldId id="284" r:id="rId18"/>
    <p:sldId id="285" r:id="rId19"/>
    <p:sldId id="287" r:id="rId20"/>
    <p:sldId id="288" r:id="rId21"/>
    <p:sldId id="286" r:id="rId22"/>
    <p:sldId id="289" r:id="rId23"/>
    <p:sldId id="290" r:id="rId24"/>
    <p:sldId id="291" r:id="rId25"/>
    <p:sldId id="294" r:id="rId26"/>
    <p:sldId id="292" r:id="rId27"/>
    <p:sldId id="293" r:id="rId28"/>
    <p:sldId id="295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5755"/>
  </p:normalViewPr>
  <p:slideViewPr>
    <p:cSldViewPr snapToGrid="0">
      <p:cViewPr varScale="1">
        <p:scale>
          <a:sx n="128" d="100"/>
          <a:sy n="128" d="100"/>
        </p:scale>
        <p:origin x="4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8549C9-F1F2-A344-9318-AC3AB4654B7E}" type="datetimeFigureOut">
              <a:rPr lang="en-US" smtClean="0"/>
              <a:t>4/8/26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8A1D9D-B5FD-8C44-B376-87A4AA1261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1954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9D1C4-10C4-2E9F-5F3B-D835D4DB92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46E4F2-7FDB-77A9-4AB5-8E20E70E5A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CB6177-5485-5E7E-ABD3-81FAB3262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B731F-7F54-EF4E-BC14-D4454C95FF4D}" type="datetime1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A4E5E-A7BD-3EBE-B8D5-7A666231C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16BEE-CE7C-86EE-2914-ABE5BBD5C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869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8689C-316C-BAC8-0C60-4D6FE59E7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EB9673-CFFC-4707-B781-2DC3EACF26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BF6D07-2657-BE71-5260-9287F1DAF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43121-CDD1-174D-9095-06B3974B3CC1}" type="datetime1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4E4C41-BB70-1FCC-8578-1360ADC59D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0CC362-7B0A-F33A-D6DC-567128B92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3355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1AE0D-CFBB-0F53-A2AD-692FBC4BD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8EE5BC-34D8-9D68-FE7D-A0D2546A15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4F4AD3-7289-D5CB-2A5C-6D306ABA8C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2BAF9-EAD3-1641-87AF-ADC71D8222CD}" type="datetime1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ABA442-AC0E-C1C3-3308-FFAFBC78D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8EA799-1610-8A6B-77E0-A40B49B0A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113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01B37-CD3C-31C5-04C9-76079E4FC2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1C19E3-EF27-A09D-99C4-A09F837576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445470-D1AC-A09D-7550-4360D6773A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BDF9F5-F533-F729-C898-7B1E13C6B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7A49D-4C23-6A49-AF9D-C0E1C1130921}" type="datetime1">
              <a:rPr lang="en-US" smtClean="0"/>
              <a:t>4/8/26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34E930-A44F-BD91-5CF5-8961F49DD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53436D-9139-45AE-EEE3-BE76C6A32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51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65E3F-6BE9-7D78-DCA4-B0726064E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F79DA6-881E-5DDD-EAC7-66A8251F09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E0D745-6E3C-AFE3-6184-A162F7AF3C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AC8FBD-C24D-C01E-AADB-C4F55CB0C5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BCF2A7-7431-1439-2261-2A41DF6F9D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61166D-85F0-EB57-9657-7D5E74543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516F59-8951-4749-B49C-6C88C0B4B6BD}" type="datetime1">
              <a:rPr lang="en-US" smtClean="0"/>
              <a:t>4/8/26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09DD5C-5F82-A1B0-7384-5495581E5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D27FAB2-DD68-52EC-029D-D14A48E52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3847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47281-6A9B-0939-7E18-80A3A800A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46B42E-DF40-D4B0-ABC7-C980F99EB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2BBDF-C485-174D-8051-FF3ED3DF33C6}" type="datetime1">
              <a:rPr lang="en-US" smtClean="0"/>
              <a:t>4/8/26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579666-1FC2-D7B9-01A0-0EB0BF651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4DA989-73AE-785D-FC4B-CE591A0D1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140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0EEB0E-1A66-665C-2816-8906616DB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316C8-35EA-C448-A7DB-295F753FB635}" type="datetime1">
              <a:rPr lang="en-US" smtClean="0"/>
              <a:t>4/8/26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5B96B52-794F-DF33-0D29-76E7E8C0F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4D5823-189C-2040-1358-6D61F4146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2774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35DD4-4B4A-3455-8C21-E3BF4A50C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3D71E-B5FF-CD05-E327-1A6DE20035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111B76-22F9-3979-2199-DB800AA2A9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8931D2-9E23-78EB-9A41-01A4326F0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BA6818-685C-B142-BE10-A6D54A85D7FF}" type="datetime1">
              <a:rPr lang="en-US" smtClean="0"/>
              <a:t>4/8/26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C873F4-4FD5-6F46-BA13-0A9FDDA52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DD0AC0-F263-C2B0-FA4B-E6D26281E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1798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245D0-04F7-A504-95F3-804098D411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1C9E57-E525-B44B-DFFF-53EA7B26EE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B3A571-088E-6D99-68E4-2984A1282E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59C560-F853-5059-139B-804BFC976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44D57B-5B66-2F49-AB7C-362DD22B45D8}" type="datetime1">
              <a:rPr lang="en-US" smtClean="0"/>
              <a:t>4/8/26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3660A-A890-E4DA-6D80-796627628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6A0F3A-753B-BC76-6F55-8CEC7CC43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013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39EF6-E576-0A12-CB1C-7E493A738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647DB6-223C-7733-A4F7-AA5625963A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E6927A-7D51-301B-AF38-CE551C01C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0AAEB-F940-CA44-B742-2110711973A7}" type="datetime1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E16AEE-F89E-A77B-9530-F4F63AA5F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B07B94-A394-D3CF-25AB-74C40FF49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2876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E8D4DA-0738-22C4-1450-507823704C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699744-1523-C7A9-D865-F99F5095AB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9CB5F3-603B-CB21-555E-448030D8D6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FC7EA-A73C-4146-9B14-54C11597AA40}" type="datetime1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7CD49F-9F4B-37C1-1165-9DCA97504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D9622E-8639-E6AB-8BDE-2B7F55B88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8767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C971F1-6481-4050-00C9-A33D33CE4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408A0F-5D53-2152-E470-49923B10E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870612-6EE7-86AA-99AA-8B3E140938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25DC53-D744-A54C-8957-51F9F93FF803}" type="datetime1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970635-6FA9-E3DF-44DA-1BA068D05C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D35928-0209-EEAC-4AA5-B6BCB7B432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6756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F2190-C2B0-E47F-55A3-6BBBE700A25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ja-JP" altLang="en-US" sz="6000"/>
              <a:t>抽樣</a:t>
            </a:r>
            <a:endParaRPr lang="en-US" dirty="0">
              <a:latin typeface="Angsana New" panose="02020603050405020304" pitchFamily="18" charset="-34"/>
              <a:cs typeface="Angsana New" panose="02020603050405020304" pitchFamily="18" charset="-34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782A46-16E0-1D53-EF0E-D6580A739E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3/25/2026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5373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AB62F-DCD4-57B2-B6B1-93F7FFB5A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sz="4400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課程目標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3D5CCB-B0EE-E4AC-9EFC-B45819986D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kern="100" dirty="0"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為何要抽樣？</a:t>
            </a:r>
            <a:endParaRPr lang="en-US" altLang="zh-TW" kern="100" dirty="0"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kern="100" dirty="0"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抽樣方法</a:t>
            </a:r>
            <a:endParaRPr lang="en-US" altLang="zh-TW" kern="100" dirty="0"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kern="100" dirty="0"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推論統計</a:t>
            </a:r>
            <a:endParaRPr lang="en-US" altLang="zh-TW" kern="100" dirty="0"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altLang="zh-TW" sz="2000" kern="100" dirty="0">
              <a:effectLst/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spcBef>
                <a:spcPts val="0"/>
              </a:spcBef>
              <a:spcAft>
                <a:spcPts val="0"/>
              </a:spcAft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5B3FC9-8666-6C80-0610-26E10A33F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1364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為何要抽樣？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8E529-29DD-AB2C-94BF-694DBD41A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 err="1">
                <a:latin typeface="MingLiU" panose="02020509000000000000" pitchFamily="49" charset="-120"/>
                <a:ea typeface="MingLiU" panose="02020509000000000000" pitchFamily="49" charset="-120"/>
              </a:rPr>
              <a:t>早在巴比倫時代，當時的人想要對農耕的方式與面積進行調查</a:t>
            </a:r>
            <a:r>
              <a:rPr 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。</a:t>
            </a:r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 err="1">
                <a:latin typeface="MingLiU" panose="02020509000000000000" pitchFamily="49" charset="-120"/>
                <a:ea typeface="MingLiU" panose="02020509000000000000" pitchFamily="49" charset="-120"/>
              </a:rPr>
              <a:t>工業革命之前，人口不多，可以把全國分成若干區域進行全體人口的調查</a:t>
            </a:r>
            <a:r>
              <a:rPr 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(census)。</a:t>
            </a:r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zh-TW" alt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人口增加之後，</a:t>
            </a:r>
            <a:r>
              <a:rPr lang="en-US" altLang="zh-TW" sz="2000" dirty="0" err="1">
                <a:latin typeface="MingLiU" panose="02020509000000000000" pitchFamily="49" charset="-120"/>
                <a:ea typeface="MingLiU" panose="02020509000000000000" pitchFamily="49" charset="-120"/>
              </a:rPr>
              <a:t>調查全體母體</a:t>
            </a:r>
            <a:r>
              <a:rPr lang="zh-TW" alt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變得</a:t>
            </a:r>
            <a:r>
              <a:rPr lang="en-US" altLang="zh-TW" sz="2000" dirty="0" err="1">
                <a:latin typeface="MingLiU" panose="02020509000000000000" pitchFamily="49" charset="-120"/>
                <a:ea typeface="MingLiU" panose="02020509000000000000" pitchFamily="49" charset="-120"/>
              </a:rPr>
              <a:t>不可行</a:t>
            </a:r>
            <a:r>
              <a:rPr lang="zh-TW" alt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。因此從</a:t>
            </a:r>
            <a:r>
              <a:rPr 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1895年到1934年，學者開始討論抽樣調查的方法，包括立意抽樣，也就是根據普查把全國一直細分到街道進行抽樣。</a:t>
            </a:r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到了1940年代，機率抽樣成為主流，政府與民調公司從母體中抽取部分的樣本，透過電話、面對面、郵寄問卷進行調查。</a:t>
            </a:r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到了1970年代，以電腦輔助的電話訪問(CATI)開始流行。1982年出現網際網路，開始有人使用email進行調查。</a:t>
            </a:r>
          </a:p>
          <a:p>
            <a:pPr>
              <a:buFont typeface="Wingdings" pitchFamily="2" charset="2"/>
              <a:buChar char="l"/>
            </a:pPr>
            <a:endParaRPr lang="en-US" sz="2000" dirty="0"/>
          </a:p>
          <a:p>
            <a:pPr>
              <a:buFont typeface="Wingdings" pitchFamily="2" charset="2"/>
              <a:buChar char="l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C166A0-0716-0F20-CCC6-258987145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3617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9251C1C1-BCDC-0FFC-A3C6-ACED3BC6A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469BFB84-0026-A6D9-C983-8B42842848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5630984"/>
            <a:ext cx="10515600" cy="763708"/>
          </a:xfrm>
        </p:spPr>
        <p:txBody>
          <a:bodyPr>
            <a:normAutofit/>
          </a:bodyPr>
          <a:lstStyle/>
          <a:p>
            <a:r>
              <a:rPr lang="en" altLang="zh-TW" dirty="0">
                <a:solidFill>
                  <a:schemeClr val="tx1"/>
                </a:solidFill>
              </a:rPr>
              <a:t>Source: </a:t>
            </a:r>
            <a:r>
              <a:rPr lang="en" altLang="zh-TW" dirty="0" err="1">
                <a:solidFill>
                  <a:schemeClr val="tx1"/>
                </a:solidFill>
              </a:rPr>
              <a:t>Biffignandi</a:t>
            </a:r>
            <a:r>
              <a:rPr lang="en-US" altLang="zh-TW" dirty="0">
                <a:solidFill>
                  <a:schemeClr val="tx1"/>
                </a:solidFill>
              </a:rPr>
              <a:t> and </a:t>
            </a:r>
            <a:r>
              <a:rPr lang="en" altLang="zh-TW" dirty="0">
                <a:solidFill>
                  <a:schemeClr val="tx1"/>
                </a:solidFill>
              </a:rPr>
              <a:t>Bethlehem (2021) Handbook of Web Survey, p. 111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9B96B5E-71A0-1AB2-9C3C-172ABD68F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4</a:t>
            </a:fld>
            <a:endParaRPr 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5E1BC76C-E4A5-129F-7659-C25E3860C8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950" y="641229"/>
            <a:ext cx="7772400" cy="4818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08375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機率抽樣的元素（一）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08E529-29DD-AB2C-94BF-694DBD41AB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en-US" altLang="ja-JP" sz="2000" dirty="0"/>
                  <a:t>Bowley(1906)</a:t>
                </a:r>
                <a:r>
                  <a:rPr lang="ja-JP" altLang="en-US" sz="2000"/>
                  <a:t>提出大數法則：只要樣本量足夠大且具備隨機性，樣本的平均值就會趨近於母體的平均值。抽樣調查的精確度是可以透過數學公式（標準誤）來衡量的。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en-US" altLang="ja-JP" sz="2000" dirty="0"/>
                  <a:t>Bowley (1926)</a:t>
                </a:r>
                <a:r>
                  <a:rPr lang="ja-JP" altLang="en-US" sz="2000"/>
                  <a:t>提出</a:t>
                </a:r>
                <a:r>
                  <a:rPr lang="zh-TW" altLang="en-US" sz="2000" dirty="0"/>
                  <a:t>分層抽樣理論：</a:t>
                </a:r>
                <a:endParaRPr lang="en-US" altLang="zh-TW" sz="2000" dirty="0"/>
              </a:p>
              <a:p>
                <a:pPr marL="457200" indent="-4572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zh-TW" altLang="en-US" sz="2000" dirty="0"/>
                  <a:t>將母體依照已知特徵（如地區、職業）分成若干「層」（</a:t>
                </a:r>
                <a:r>
                  <a:rPr lang="en-US" altLang="ja-JP" sz="2000" dirty="0"/>
                  <a:t>Strata</a:t>
                </a:r>
                <a:r>
                  <a:rPr lang="ja-JP" altLang="en-US" sz="2000"/>
                  <a:t>）。</a:t>
                </a:r>
              </a:p>
              <a:p>
                <a:pPr marL="457200" indent="-4572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zh-TW" altLang="en-US" sz="2000" dirty="0"/>
                  <a:t>在每一層內進行隨機抽樣。</a:t>
                </a:r>
              </a:p>
              <a:p>
                <a:pPr marL="457200" indent="-4572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zh-TW" altLang="en-US" sz="2000" dirty="0"/>
                  <a:t>等比例分配 </a:t>
                </a:r>
                <a:r>
                  <a:rPr lang="en-US" altLang="zh-TW" sz="2000" dirty="0"/>
                  <a:t>(</a:t>
                </a:r>
                <a:r>
                  <a:rPr lang="en-US" altLang="ja-JP" sz="2000" dirty="0"/>
                  <a:t>Proportional Allocation)</a:t>
                </a:r>
                <a:r>
                  <a:rPr lang="ja-JP" altLang="en-US" sz="2000"/>
                  <a:t>： </a:t>
                </a:r>
                <a:r>
                  <a:rPr lang="zh-TW" altLang="en-US" sz="2000" dirty="0"/>
                  <a:t>各層抽取的樣本數應與該層在母體中的比例一致，以確保樣本結構與母體完全相同。</a:t>
                </a:r>
                <a:endParaRPr lang="en-US" altLang="zh-TW" sz="2000" dirty="0"/>
              </a:p>
              <a:p>
                <a:pPr marL="457200" indent="-4572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ja-JP" altLang="en-US" sz="2000"/>
                  <a:t>母體平均數：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  <m:e>
                        <m:f>
                          <m:f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ja-JP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num>
                          <m:den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den>
                        </m:f>
                      </m:e>
                    </m:nary>
                    <m:sSub>
                      <m:sSub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altLang="ja-JP" sz="2000" dirty="0"/>
                  <a:t> 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ja-JP" sz="20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ja-JP" altLang="en-US" sz="2000"/>
                  <a:t>是</a:t>
                </a:r>
                <a:r>
                  <a:rPr lang="en-US" altLang="ja-JP" sz="2000" dirty="0"/>
                  <a:t>h</a:t>
                </a:r>
                <a:r>
                  <a:rPr lang="ja-JP" altLang="en-US" sz="2000"/>
                  <a:t>層的</a:t>
                </a:r>
                <a:r>
                  <a:rPr lang="en-US" altLang="ja-JP" sz="2000" dirty="0"/>
                  <a:t>y</a:t>
                </a:r>
                <a:r>
                  <a:rPr lang="ja-JP" altLang="en-US" sz="2000"/>
                  <a:t>的平均數</a:t>
                </a:r>
                <a:endParaRPr lang="en-US" altLang="ja-JP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08E529-29DD-AB2C-94BF-694DBD41AB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r="-121" b="-133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085D9-FBDD-C940-3F14-8994BAC36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3214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800A7CD4-8BCE-CB26-0945-784DFDC0A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z="4400" dirty="0"/>
              <a:t>等比例分配抽樣（一）</a:t>
            </a:r>
            <a:endParaRPr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A9B38302-3344-5246-4FF4-E49ADEAD4C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BF5D712-AF58-8E6E-1CE2-D7DAE4920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6</a:t>
            </a:fld>
            <a:endParaRPr 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53CDD0B-B711-97A5-2078-238874EDA6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9857" y="1825625"/>
            <a:ext cx="7772400" cy="4709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8454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72734-D2C9-0C65-A2E0-CD4C641AB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z="4400" dirty="0"/>
              <a:t>等比例分配抽樣（二）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892E5-C8AF-75C8-8D00-780C5863A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ja-JP" altLang="en-US" sz="2000" dirty="0"/>
              <a:t>自我加權 </a:t>
            </a:r>
            <a:r>
              <a:rPr lang="en-US" altLang="ja-JP" sz="2000" dirty="0"/>
              <a:t>(Self-weighting)</a:t>
            </a:r>
            <a:r>
              <a:rPr lang="ja-JP" altLang="en-US" sz="2000" dirty="0"/>
              <a:t>：因為每一層的抽樣機率都一樣（例如都是 </a:t>
            </a:r>
            <a:r>
              <a:rPr lang="en-US" altLang="ja-JP" sz="2000" dirty="0"/>
              <a:t>1%</a:t>
            </a:r>
            <a:r>
              <a:rPr lang="ja-JP" altLang="en-US" sz="2000" dirty="0"/>
              <a:t>），所以每個樣本的權重也都一樣 。</a:t>
            </a:r>
            <a:endParaRPr lang="en-US" altLang="ja-JP" sz="2000" dirty="0"/>
          </a:p>
          <a:p>
            <a:pPr>
              <a:lnSpc>
                <a:spcPct val="150000"/>
              </a:lnSpc>
            </a:pPr>
            <a:r>
              <a:rPr lang="ja-JP" altLang="en-US" sz="2000" dirty="0"/>
              <a:t>如果母體中某些族群比例極低（例如：</a:t>
            </a:r>
            <a:r>
              <a:rPr lang="en-US" altLang="ja-JP" sz="2000" dirty="0"/>
              <a:t>80 </a:t>
            </a:r>
            <a:r>
              <a:rPr lang="ja-JP" altLang="en-US" sz="2000" dirty="0"/>
              <a:t>歲以上長者僅佔 </a:t>
            </a:r>
            <a:r>
              <a:rPr lang="en-US" altLang="ja-JP" sz="2000" dirty="0"/>
              <a:t>2%</a:t>
            </a:r>
            <a:r>
              <a:rPr lang="ja-JP" altLang="en-US" sz="2000" dirty="0"/>
              <a:t>），在總樣本 </a:t>
            </a:r>
            <a:r>
              <a:rPr lang="en-US" altLang="ja-JP" sz="2000" dirty="0"/>
              <a:t>1000 </a:t>
            </a:r>
            <a:r>
              <a:rPr lang="ja-JP" altLang="en-US" sz="2000" dirty="0"/>
              <a:t>人的情況下，該族群只會分配到 </a:t>
            </a:r>
            <a:r>
              <a:rPr lang="en-US" altLang="ja-JP" sz="2000" dirty="0"/>
              <a:t>20 </a:t>
            </a:r>
            <a:r>
              <a:rPr lang="ja-JP" altLang="en-US" sz="2000" dirty="0"/>
              <a:t>人 ，訪問這些少數人，有可能出現誤差。</a:t>
            </a:r>
            <a:endParaRPr lang="en-US" altLang="ja-JP" sz="2000" dirty="0"/>
          </a:p>
          <a:p>
            <a:pPr>
              <a:lnSpc>
                <a:spcPct val="150000"/>
              </a:lnSpc>
            </a:pPr>
            <a:r>
              <a:rPr lang="ja-JP" altLang="en-US" sz="2000" dirty="0"/>
              <a:t>等比例分配假設每個人被抽中的機率是均等的，但現實中不同族群「被找到」與「願意回答」的機率可能差異很大。</a:t>
            </a:r>
            <a:endParaRPr lang="en-US" altLang="ja-JP" sz="2000" dirty="0"/>
          </a:p>
          <a:p>
            <a:pPr>
              <a:lnSpc>
                <a:spcPct val="150000"/>
              </a:lnSpc>
            </a:pPr>
            <a:r>
              <a:rPr lang="zh-TW" altLang="en-US" sz="2000" dirty="0"/>
              <a:t>等比例分配抽樣沒有考慮不同群體內部的變異程度，而是假設每個群體內部的變異程度相同。因此無法降低抽樣的誤差。</a:t>
            </a:r>
            <a:endParaRPr lang="en-US" altLang="zh-TW" sz="2000" dirty="0"/>
          </a:p>
          <a:p>
            <a:pPr>
              <a:lnSpc>
                <a:spcPct val="150000"/>
              </a:lnSpc>
            </a:pPr>
            <a:r>
              <a:rPr lang="ja-JP" altLang="en-US" sz="2000" dirty="0"/>
              <a:t>因此，即使一開始設計是等比例抽樣，最終得到的有效樣本結構依然會與母體嚴重脫節。</a:t>
            </a:r>
            <a:endParaRPr lang="en-US" altLang="ja-JP" sz="2000" dirty="0"/>
          </a:p>
          <a:p>
            <a:pPr marL="0" indent="0">
              <a:lnSpc>
                <a:spcPct val="150000"/>
              </a:lnSpc>
              <a:buNone/>
            </a:pP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F29AD5-D53A-396D-419C-76DD88042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633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04DDB-15EC-29FF-ECB8-4B8889462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11805-6F04-E425-0D4E-A3915F730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機率抽樣的元素（二）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6ACAF2-D8D8-8333-5783-CC2CE51953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en-US" altLang="zh-TW" sz="2000" dirty="0"/>
                  <a:t>Jerzy </a:t>
                </a:r>
                <a:r>
                  <a:rPr lang="en-US" altLang="zh-TW" sz="2000" dirty="0" err="1"/>
                  <a:t>Neyman</a:t>
                </a:r>
                <a:r>
                  <a:rPr lang="zh-TW" altLang="en-US" sz="2000" dirty="0"/>
                  <a:t>提出雖然我們無法得知母體參數，但可以建立一個區間，並宣稱：「如果我們重複抽樣 </a:t>
                </a:r>
                <a:r>
                  <a:rPr lang="en-US" altLang="zh-TW" sz="2000" dirty="0"/>
                  <a:t>100 </a:t>
                </a:r>
                <a:r>
                  <a:rPr lang="zh-TW" altLang="en-US" sz="2000" dirty="0"/>
                  <a:t>次，有 </a:t>
                </a:r>
                <a:r>
                  <a:rPr lang="en-US" altLang="zh-TW" sz="2000" dirty="0"/>
                  <a:t>95 </a:t>
                </a:r>
                <a:r>
                  <a:rPr lang="zh-TW" altLang="en-US" sz="2000" dirty="0"/>
                  <a:t>次這個區間會包含真實的母體參數。」</a:t>
                </a:r>
                <a:endParaRPr lang="en-US" altLang="zh-TW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en-US" altLang="zh-TW" sz="2000" dirty="0" err="1"/>
                  <a:t>Neyman</a:t>
                </a:r>
                <a:r>
                  <a:rPr lang="zh-TW" altLang="en-US" sz="2000" dirty="0"/>
                  <a:t>主張推論的有效性來自於抽樣設計（</a:t>
                </a:r>
                <a:r>
                  <a:rPr lang="en-US" altLang="ja-JP" sz="2000" dirty="0"/>
                  <a:t>Sampling Design</a:t>
                </a:r>
                <a:r>
                  <a:rPr lang="ja-JP" altLang="en-US" sz="2000"/>
                  <a:t>）</a:t>
                </a:r>
                <a:r>
                  <a:rPr lang="zh-TW" altLang="en-US" sz="2000" dirty="0"/>
                  <a:t>本身，而不是對母體分佈的假設。只要抽樣過程是機率導向的，不論母體是什麼分佈，我們都能得到不偏的估計值（</a:t>
                </a:r>
                <a:r>
                  <a:rPr lang="en-US" altLang="ja-JP" sz="2000" dirty="0"/>
                  <a:t>Unbiased Estimator</a:t>
                </a:r>
                <a:r>
                  <a:rPr lang="ja-JP" altLang="en-US" sz="2000"/>
                  <a:t>）。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zh-TW" altLang="en-US" sz="2000" dirty="0"/>
                  <a:t>最優分配法 </a:t>
                </a:r>
                <a:r>
                  <a:rPr lang="en-US" altLang="zh-TW" sz="2000" dirty="0"/>
                  <a:t>(</a:t>
                </a:r>
                <a:r>
                  <a:rPr lang="en-US" altLang="ja-JP" sz="2000" dirty="0" err="1"/>
                  <a:t>Neyman</a:t>
                </a:r>
                <a:r>
                  <a:rPr lang="en-US" altLang="ja-JP" sz="2000" dirty="0"/>
                  <a:t> Allocation)</a:t>
                </a:r>
                <a:r>
                  <a:rPr lang="ja-JP" altLang="en-US" sz="2000"/>
                  <a:t>：如果某一「層」（例如高收入戶）的內部變異非常大，而另一層（例如固定薪資族）的變異很小，我們應該在變異大的那一層抽取更多樣本。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zh-TW" altLang="en-US" sz="2000" dirty="0"/>
                  <a:t>決定每一層的樣本數的公式：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altLang="zh-TW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</m:t>
                    </m:r>
                    <m:sSub>
                      <m:sSubPr>
                        <m:ctrlPr>
                          <a:rPr lang="en-US" altLang="zh-TW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altLang="zh-TW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US" altLang="zh-TW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endParaRPr lang="en-US" altLang="ja-JP" sz="2000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6ACAF2-D8D8-8333-5783-CC2CE51953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r="-1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D651AA-21FF-3A73-E78A-CABF3C989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928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A50E9-273A-656E-EAB1-480C40C71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Neyman最適分配</a:t>
            </a:r>
            <a:r>
              <a:rPr lang="en-US" dirty="0"/>
              <a:t>(</a:t>
            </a:r>
            <a:r>
              <a:rPr lang="en-US" dirty="0" err="1"/>
              <a:t>Neyman</a:t>
            </a:r>
            <a:r>
              <a:rPr lang="en-US" dirty="0"/>
              <a:t> allocation)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BAB9BA-AE87-96E3-003F-24B402A7B5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ja-JP" altLang="en-US" sz="2000"/>
                  <a:t>等比例抽樣考慮的是「各層的大小」；而 </a:t>
                </a:r>
                <a:r>
                  <a:rPr lang="en-US" sz="2000" dirty="0" err="1"/>
                  <a:t>Neyman</a:t>
                </a:r>
                <a:r>
                  <a:rPr lang="en-US" sz="2000" dirty="0"/>
                  <a:t> </a:t>
                </a:r>
                <a:r>
                  <a:rPr lang="ja-JP" altLang="en-US" sz="2000"/>
                  <a:t>最適分配同時考慮了「各層的大小」與「各層內部的變異程度（標準差）」。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</a:pPr>
                <a:r>
                  <a:rPr lang="ja-JP" altLang="en-US" sz="2000"/>
                  <a:t>根據</a:t>
                </a:r>
                <a:r>
                  <a:rPr lang="en-US" altLang="ja-JP" sz="2000" dirty="0" err="1"/>
                  <a:t>Neyman</a:t>
                </a:r>
                <a:r>
                  <a:rPr lang="en-US" altLang="ja-JP" sz="2000" dirty="0"/>
                  <a:t> </a:t>
                </a:r>
                <a:r>
                  <a:rPr lang="ja-JP" altLang="en-US" sz="2000"/>
                  <a:t>最適分配公式，每一層應分配的樣本數是：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𝐻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  <a:r>
                  <a:rPr lang="en-US" sz="2000" dirty="0"/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2000" dirty="0" err="1"/>
                  <a:t>代表第h層母體的標準差。母體平均數估計式</a:t>
                </a:r>
                <a:r>
                  <a:rPr lang="en-US" sz="2000" dirty="0"/>
                  <a:t>：</a:t>
                </a:r>
                <a:r>
                  <a:rPr lang="en-US" altLang="ja-JP" sz="2000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altLang="ja-JP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altLang="ja-JP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ja-JP" sz="2000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  <m:e>
                        <m:f>
                          <m:fPr>
                            <m:ctrlPr>
                              <a:rPr lang="en-US" altLang="ja-JP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ja-JP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000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altLang="ja-JP" sz="2000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num>
                          <m:den>
                            <m:r>
                              <a:rPr lang="en-US" altLang="ja-JP" sz="200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den>
                        </m:f>
                      </m:e>
                    </m:nary>
                    <m:sSub>
                      <m:sSubPr>
                        <m:ctrlPr>
                          <a:rPr lang="en-US" altLang="ja-JP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ja-JP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ja-JP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2000" dirty="0"/>
                  <a:t>。</a:t>
                </a:r>
                <a:r>
                  <a:rPr lang="en-US" sz="2000" dirty="0" err="1"/>
                  <a:t>類似等比例分配抽樣的估計式</a:t>
                </a:r>
                <a:r>
                  <a:rPr lang="en-US" sz="2000" dirty="0"/>
                  <a:t>。</a:t>
                </a: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/>
                  <a:t>因為我們通常事先不知道各層的真實標準差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，</a:t>
                </a:r>
                <a:r>
                  <a:rPr lang="ja-JP" altLang="en-US" sz="2000"/>
                  <a:t>所以常會用「事前調查（</a:t>
                </a:r>
                <a:r>
                  <a:rPr lang="en-US" sz="2000" dirty="0"/>
                  <a:t>Pilot Survey）」</a:t>
                </a:r>
                <a:r>
                  <a:rPr lang="ja-JP" altLang="en-US" sz="2000"/>
                  <a:t>或過去的資料來預估。</a:t>
                </a: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BAB9BA-AE87-96E3-003F-24B402A7B5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r="-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03A207-C8D9-1CB0-9A5C-DF9B18AB1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1372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106E1-CF63-3145-5A92-C69BD208B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778C6F-211A-7AA3-0C69-B61C040A1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機率抽樣的元素（三）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AE9C41-B4EA-2EE4-7488-91928CBB72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en-US" altLang="zh-TW" sz="2000" dirty="0"/>
                  <a:t>Horvitz &amp; Thompson (1952)</a:t>
                </a:r>
                <a:r>
                  <a:rPr lang="zh-TW" altLang="en-US" sz="2000" dirty="0"/>
                  <a:t>提出不論抽樣設計多麼複雜，只要我們計算出每個樣本的入選機率或者權重，</a:t>
                </a:r>
                <a:r>
                  <a:rPr lang="en" altLang="zh-TW" sz="2000" dirty="0"/>
                  <a:t>H-T </a:t>
                </a:r>
                <a:r>
                  <a:rPr lang="zh-TW" altLang="en-US" sz="2000" dirty="0"/>
                  <a:t>估計式是「不偏估計」。它在數學上保證了，雖然單次抽樣可能有誤差，但平均而言，它是完美的。都能得到母體總和的不偏估計。</a:t>
                </a:r>
                <a:r>
                  <a:rPr lang="en-US" altLang="zh-TW" sz="2000" dirty="0"/>
                  <a:t>H-Y</a:t>
                </a:r>
                <a:r>
                  <a:rPr lang="zh-TW" altLang="en-US" sz="2000" dirty="0"/>
                  <a:t>估計單一抽樣結果的公式：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zh-TW" alt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zh-TW" altLang="en-US" sz="2000" i="1">
                            <a:latin typeface="Cambria Math" panose="02040503050406030204" pitchFamily="18" charset="0"/>
                          </a:rPr>
                          <m:t>Ｙ</m:t>
                        </m:r>
                      </m:e>
                    </m:acc>
                  </m:oMath>
                </a14:m>
                <a:r>
                  <a:rPr lang="en-US" altLang="zh-TW" sz="2000" dirty="0"/>
                  <a:t>=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f>
                          <m:fPr>
                            <m:ctrlPr>
                              <a:rPr lang="en-US" altLang="zh-TW" sz="200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zh-TW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b="0" i="1" dirty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TW" sz="2000" b="0" i="1" dirty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altLang="zh-TW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altLang="zh-TW" sz="2000" b="0" i="1" dirty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den>
                        </m:f>
                      </m:e>
                    </m:nary>
                  </m:oMath>
                </a14:m>
                <a:r>
                  <a:rPr lang="en-US" altLang="zh-TW" sz="2000" dirty="0"/>
                  <a:t> </a:t>
                </a:r>
                <a:r>
                  <a:rPr lang="zh-TW" altLang="en-US" sz="2000" dirty="0"/>
                  <a:t>。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zh-TW" altLang="en-US" sz="2000" dirty="0"/>
                  <a:t>是被抽中的機率。</a:t>
                </a:r>
                <a:endParaRPr lang="en-US" altLang="zh-TW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zh-TW" altLang="en-US" sz="2000" dirty="0"/>
                  <a:t>例如有</a:t>
                </a:r>
                <a:r>
                  <a:rPr lang="en-US" altLang="zh-TW" sz="2000" dirty="0"/>
                  <a:t>10</a:t>
                </a:r>
                <a:r>
                  <a:rPr lang="zh-TW" altLang="en-US" sz="2000" dirty="0"/>
                  <a:t>人，其中有</a:t>
                </a:r>
                <a:r>
                  <a:rPr lang="en-US" altLang="zh-TW" sz="2000" dirty="0"/>
                  <a:t>8</a:t>
                </a:r>
                <a:r>
                  <a:rPr lang="zh-TW" altLang="en-US" sz="2000" dirty="0"/>
                  <a:t>人的年薪是</a:t>
                </a:r>
                <a:r>
                  <a:rPr lang="en-US" altLang="zh-TW" sz="2000" dirty="0"/>
                  <a:t>100</a:t>
                </a:r>
                <a:r>
                  <a:rPr lang="zh-TW" altLang="en-US" sz="2000" dirty="0"/>
                  <a:t>萬，</a:t>
                </a:r>
                <a:r>
                  <a:rPr lang="en-US" altLang="zh-TW" sz="2000" dirty="0"/>
                  <a:t>2</a:t>
                </a:r>
                <a:r>
                  <a:rPr lang="zh-TW" altLang="en-US" sz="2000" dirty="0"/>
                  <a:t>人的年薪是</a:t>
                </a:r>
                <a:r>
                  <a:rPr lang="en-US" altLang="zh-TW" sz="2000" dirty="0"/>
                  <a:t>20</a:t>
                </a:r>
                <a:r>
                  <a:rPr lang="zh-TW" altLang="en-US" sz="2000" dirty="0"/>
                  <a:t>萬，如果抽中年薪</a:t>
                </a:r>
                <a:r>
                  <a:rPr lang="en-US" altLang="zh-TW" sz="2000" dirty="0"/>
                  <a:t>100</a:t>
                </a:r>
                <a:r>
                  <a:rPr lang="zh-TW" altLang="en-US" sz="2000" dirty="0"/>
                  <a:t>萬的</a:t>
                </a:r>
                <a:r>
                  <a:rPr lang="en-US" altLang="zh-TW" sz="2000" dirty="0"/>
                  <a:t>8</a:t>
                </a:r>
                <a:r>
                  <a:rPr lang="zh-TW" altLang="en-US" sz="2000" dirty="0"/>
                  <a:t>個人其中之一，</a:t>
                </a:r>
                <a:r>
                  <a:rPr lang="en-US" altLang="zh-TW" sz="2000" dirty="0"/>
                  <a:t>100</a:t>
                </a:r>
                <a:r>
                  <a:rPr lang="zh-TW" altLang="en-US" sz="2000" dirty="0"/>
                  <a:t>萬雖然是無偏估計，卻不如用</a:t>
                </a:r>
                <a:r>
                  <a:rPr lang="en-US" altLang="zh-TW" sz="2000" dirty="0"/>
                  <a:t>H-Y</a:t>
                </a:r>
                <a:r>
                  <a:rPr lang="zh-TW" altLang="en-US" sz="2000" dirty="0"/>
                  <a:t>估計式：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TW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num>
                      <m:den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0.1</m:t>
                        </m:r>
                      </m:den>
                    </m:f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=1000</m:t>
                    </m:r>
                    <m:r>
                      <a:rPr lang="zh-TW" altLang="en-US" sz="2000" i="1">
                        <a:latin typeface="Cambria Math" panose="02040503050406030204" pitchFamily="18" charset="0"/>
                      </a:rPr>
                      <m:t>萬，平均是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100</m:t>
                    </m:r>
                    <m:r>
                      <a:rPr lang="zh-TW" altLang="en-US" sz="2000" i="1">
                        <a:latin typeface="Cambria Math" panose="02040503050406030204" pitchFamily="18" charset="0"/>
                      </a:rPr>
                      <m:t>萬</m:t>
                    </m:r>
                    <m:r>
                      <a:rPr lang="zh-TW" altLang="en-US" sz="2000" i="1" smtClean="0">
                        <a:latin typeface="Cambria Math" panose="02040503050406030204" pitchFamily="18" charset="0"/>
                      </a:rPr>
                      <m:t>。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zh-TW" altLang="en-US" sz="2000" i="1">
                        <a:latin typeface="Cambria Math" panose="02040503050406030204" pitchFamily="18" charset="0"/>
                      </a:rPr>
                      <m:t>如果抽中</m:t>
                    </m:r>
                    <m:r>
                      <a:rPr lang="zh-TW" altLang="en-US" sz="2000" i="1" smtClean="0">
                        <a:latin typeface="Cambria Math" panose="02040503050406030204" pitchFamily="18" charset="0"/>
                      </a:rPr>
                      <m:t>年薪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20</m:t>
                    </m:r>
                    <m:r>
                      <a:rPr lang="zh-TW" altLang="en-US" sz="2000" i="1">
                        <a:latin typeface="Cambria Math" panose="02040503050406030204" pitchFamily="18" charset="0"/>
                      </a:rPr>
                      <m:t>萬，則是</m:t>
                    </m:r>
                    <m:f>
                      <m:f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20</m:t>
                        </m:r>
                      </m:num>
                      <m:den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0.1</m:t>
                        </m:r>
                      </m:den>
                    </m:f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=200</m:t>
                    </m:r>
                    <m:r>
                      <a:rPr lang="zh-TW" altLang="en-US" sz="2000" i="1">
                        <a:latin typeface="Cambria Math" panose="02040503050406030204" pitchFamily="18" charset="0"/>
                      </a:rPr>
                      <m:t>萬，平均是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20</m:t>
                    </m:r>
                    <m:r>
                      <a:rPr lang="zh-TW" altLang="en-US" sz="2000" i="1">
                        <a:latin typeface="Cambria Math" panose="02040503050406030204" pitchFamily="18" charset="0"/>
                      </a:rPr>
                      <m:t>萬。</m:t>
                    </m:r>
                  </m:oMath>
                </a14:m>
                <a:endParaRPr lang="en-US" altLang="zh-TW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zh-TW" altLang="en-US" sz="2000" dirty="0"/>
                  <a:t>「期望值是一種</a:t>
                </a:r>
                <a:r>
                  <a:rPr lang="en-US" altLang="zh-TW" sz="2000" dirty="0"/>
                  <a:t>『</a:t>
                </a:r>
                <a:r>
                  <a:rPr lang="zh-TW" altLang="en-US" sz="2000" dirty="0"/>
                  <a:t>平均來說會發生什麼事</a:t>
                </a:r>
                <a:r>
                  <a:rPr lang="en-US" altLang="zh-TW" sz="2000" dirty="0"/>
                  <a:t>』</a:t>
                </a:r>
                <a:r>
                  <a:rPr lang="zh-TW" altLang="en-US" sz="2000" dirty="0"/>
                  <a:t>的預測。」</a:t>
                </a:r>
                <a14:m>
                  <m:oMath xmlns:m="http://schemas.openxmlformats.org/officeDocument/2006/math">
                    <m:r>
                      <a:rPr lang="en-US" altLang="zh-TW" sz="2000" b="0" i="0" smtClean="0">
                        <a:latin typeface="Cambria Math" panose="02040503050406030204" pitchFamily="18" charset="0"/>
                      </a:rPr>
                      <m:t>10</m:t>
                    </m:r>
                    <m:r>
                      <a:rPr lang="zh-TW" altLang="en-US" sz="2000" i="1">
                        <a:latin typeface="Cambria Math" panose="02040503050406030204" pitchFamily="18" charset="0"/>
                      </a:rPr>
                      <m:t>人</m:t>
                    </m:r>
                    <m:r>
                      <a:rPr lang="zh-TW" altLang="en-US" sz="2000" i="1" smtClean="0">
                        <a:latin typeface="Cambria Math" panose="02040503050406030204" pitchFamily="18" charset="0"/>
                      </a:rPr>
                      <m:t>總</m:t>
                    </m:r>
                    <m:r>
                      <a:rPr lang="zh-TW" altLang="en-US" sz="2000" i="1">
                        <a:latin typeface="Cambria Math" panose="02040503050406030204" pitchFamily="18" charset="0"/>
                      </a:rPr>
                      <m:t>收入的</m:t>
                    </m:r>
                    <m:r>
                      <a:rPr lang="zh-TW" altLang="en-US" sz="2000" i="1" smtClean="0">
                        <a:latin typeface="Cambria Math" panose="02040503050406030204" pitchFamily="18" charset="0"/>
                      </a:rPr>
                      <m:t>期望值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0.8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×1000</m:t>
                        </m:r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0.2×200</m:t>
                        </m:r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=800+40=840</m:t>
                    </m:r>
                    <m:r>
                      <a:rPr lang="zh-TW" alt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萬。</m:t>
                    </m:r>
                  </m:oMath>
                </a14:m>
                <a:r>
                  <a:rPr lang="en-US" altLang="zh-TW" sz="2000" dirty="0"/>
                  <a:t> 840</a:t>
                </a:r>
                <a:r>
                  <a:rPr lang="zh-TW" altLang="en-US" sz="2000" dirty="0"/>
                  <a:t>萬剛好是這</a:t>
                </a:r>
                <a:r>
                  <a:rPr lang="en-US" altLang="zh-TW" sz="2000" dirty="0"/>
                  <a:t>10</a:t>
                </a:r>
                <a:r>
                  <a:rPr lang="zh-TW" altLang="en-US" sz="2000" dirty="0"/>
                  <a:t>個人的總年薪。</a:t>
                </a:r>
                <a:endParaRPr lang="en-US" altLang="zh-TW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zh-TW" altLang="en-US" sz="2000" dirty="0"/>
                  <a:t>入選機率只要不是 </a:t>
                </a:r>
                <a:r>
                  <a:rPr lang="en-US" altLang="zh-TW" sz="2000" dirty="0"/>
                  <a:t>0</a:t>
                </a:r>
                <a:r>
                  <a:rPr lang="zh-TW" altLang="en-US" sz="2000" dirty="0"/>
                  <a:t>，在計算時除回正確的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zh-TW" altLang="en" sz="2000" dirty="0"/>
                  <a:t>，</a:t>
                </a:r>
                <a:r>
                  <a:rPr lang="zh-TW" altLang="en-US" sz="2000" dirty="0"/>
                  <a:t>算出的總收入會等於母體：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zh-TW" altLang="en-US" sz="20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US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f>
                          <m:fPr>
                            <m:ctrlPr>
                              <a:rPr lang="en-US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zh-TW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altLang="zh-TW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den>
                        </m:f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nary>
                    <m:nary>
                      <m:naryPr>
                        <m:chr m:val="∑"/>
                        <m:ctrlPr>
                          <a:rPr lang="zh-TW" alt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zh-TW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altLang="ja-JP" sz="2000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AE9C41-B4EA-2EE4-7488-91928CBB72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62" r="-483" b="-87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1B54FE-2AC9-E283-7F28-80727A4EC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78007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EB92D8-39C7-1636-8E9E-421E55492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機率抽樣的元素（四）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77F4EED-7909-5AF8-5411-8811C2034F9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>
                  <a:lnSpc>
                    <a:spcPct val="150000"/>
                  </a:lnSpc>
                </a:pPr>
                <a:r>
                  <a:rPr kumimoji="1" lang="zh-TW" altLang="en-US" sz="2000" dirty="0"/>
                  <a:t>假設收入高的人的中選機率是收入低的人的</a:t>
                </a:r>
                <a:r>
                  <a:rPr kumimoji="1" lang="en-US" altLang="zh-TW" sz="2000" dirty="0"/>
                  <a:t>4</a:t>
                </a:r>
                <a:r>
                  <a:rPr kumimoji="1" lang="zh-TW" altLang="en-US" sz="2000" dirty="0"/>
                  <a:t>倍（例如他們比較願意回答收入問題），只抽出</a:t>
                </a:r>
                <a:r>
                  <a:rPr kumimoji="1" lang="en-US" altLang="zh-TW" sz="2000" dirty="0"/>
                  <a:t>1</a:t>
                </a:r>
                <a:r>
                  <a:rPr kumimoji="1" lang="zh-TW" altLang="en-US" sz="2000" dirty="0"/>
                  <a:t>人，也可以用</a:t>
                </a:r>
                <a:r>
                  <a:rPr kumimoji="1" lang="en-US" altLang="zh-TW" sz="2000" dirty="0"/>
                  <a:t>H-T</a:t>
                </a:r>
                <a:r>
                  <a:rPr kumimoji="1" lang="zh-TW" altLang="en-US" sz="2000" dirty="0"/>
                  <a:t>估計式。先計算每個人的中選機率：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1" lang="en-US" altLang="zh-TW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×4+2</m:t>
                        </m:r>
                      </m:den>
                    </m:f>
                    <m:r>
                      <a:rPr kumimoji="1" lang="en-US" altLang="zh-TW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34</m:t>
                        </m:r>
                      </m:den>
                    </m:f>
                  </m:oMath>
                </a14:m>
                <a:r>
                  <a:rPr kumimoji="1" lang="zh-TW" altLang="en-US" sz="2000" dirty="0"/>
                  <a:t>。高收入的人中選機率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1" lang="en-US" altLang="zh-TW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34</m:t>
                        </m:r>
                      </m:den>
                    </m:f>
                  </m:oMath>
                </a14:m>
                <a:r>
                  <a:rPr kumimoji="1" lang="zh-TW" altLang="en-US" sz="2000" dirty="0"/>
                  <a:t>，低收入的人的機率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1" lang="en-US" altLang="zh-TW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en-US" altLang="zh-TW" sz="20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kumimoji="1" lang="en-US" altLang="zh-TW" sz="2000" i="1">
                            <a:latin typeface="Cambria Math" panose="02040503050406030204" pitchFamily="18" charset="0"/>
                          </a:rPr>
                          <m:t>34</m:t>
                        </m:r>
                      </m:den>
                    </m:f>
                  </m:oMath>
                </a14:m>
                <a:r>
                  <a:rPr kumimoji="1" lang="zh-TW" altLang="en-US" sz="2000" dirty="0"/>
                  <a:t>。倒數分別是</a:t>
                </a:r>
                <a:r>
                  <a:rPr kumimoji="1" lang="en-US" altLang="zh-TW" sz="2000" dirty="0"/>
                  <a:t>8.5</a:t>
                </a:r>
                <a:r>
                  <a:rPr kumimoji="1" lang="zh-TW" altLang="en-US" sz="2000" dirty="0"/>
                  <a:t>、</a:t>
                </a:r>
                <a:r>
                  <a:rPr kumimoji="1" lang="en-US" altLang="zh-TW" sz="2000" dirty="0"/>
                  <a:t>34</a:t>
                </a:r>
                <a:r>
                  <a:rPr kumimoji="1" lang="zh-TW" altLang="en-US" sz="2000" dirty="0"/>
                  <a:t>。</a:t>
                </a:r>
                <a:endParaRPr kumimoji="1" lang="en-US" altLang="zh-TW" sz="2000" dirty="0"/>
              </a:p>
              <a:p>
                <a:pPr>
                  <a:lnSpc>
                    <a:spcPct val="150000"/>
                  </a:lnSpc>
                </a:pPr>
                <a:r>
                  <a:rPr kumimoji="1" lang="zh-TW" altLang="en-US" sz="2000" dirty="0"/>
                  <a:t>期望值總和：</a:t>
                </a:r>
                <a:r>
                  <a:rPr lang="zh-TW" altLang="en-US" sz="2000" dirty="0"/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zh-TW" altLang="en-US" sz="20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US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f>
                          <m:fPr>
                            <m:ctrlPr>
                              <a:rPr lang="en-US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zh-TW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altLang="zh-TW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den>
                        </m:f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nary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f>
                          <m:fPr>
                            <m:ctrlP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34</m:t>
                            </m:r>
                          </m:den>
                        </m:f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f>
                          <m:fPr>
                            <m:ctrlP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100</m:t>
                            </m:r>
                          </m:num>
                          <m:den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4×</m:t>
                            </m:r>
                            <m:f>
                              <m:fPr>
                                <m:ctrlPr>
                                  <a:rPr lang="en-US" altLang="zh-TW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34</m:t>
                                </m:r>
                              </m:den>
                            </m:f>
                          </m:den>
                        </m:f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+2×</m:t>
                    </m:r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34</m:t>
                            </m:r>
                          </m:den>
                        </m:f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f>
                          <m:fPr>
                            <m:ctrlPr>
                              <a:rPr lang="en-US" altLang="zh-TW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20</m:t>
                            </m:r>
                          </m:num>
                          <m:den>
                            <m:f>
                              <m:fPr>
                                <m:ctrlPr>
                                  <a:rPr lang="en-US" altLang="zh-TW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34</m:t>
                                </m:r>
                              </m:den>
                            </m:f>
                          </m:den>
                        </m:f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=800+40=840=</m:t>
                    </m:r>
                    <m:nary>
                      <m:naryPr>
                        <m:chr m:val="∑"/>
                        <m:ctrlPr>
                          <a:rPr lang="zh-TW" alt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zh-TW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kumimoji="1" lang="en-US" altLang="zh-TW" sz="2000" dirty="0"/>
              </a:p>
              <a:p>
                <a:pPr>
                  <a:lnSpc>
                    <a:spcPct val="150000"/>
                  </a:lnSpc>
                </a:pPr>
                <a:r>
                  <a:rPr kumimoji="1" lang="zh-TW" altLang="en-US" sz="2000" dirty="0"/>
                  <a:t>期望平均值則是</a:t>
                </a:r>
                <a14:m>
                  <m:oMath xmlns:m="http://schemas.openxmlformats.org/officeDocument/2006/math">
                    <m:r>
                      <a:rPr kumimoji="1" lang="en-US" altLang="zh-TW" sz="2000" b="0" i="1" smtClean="0">
                        <a:latin typeface="Cambria Math" panose="02040503050406030204" pitchFamily="18" charset="0"/>
                      </a:rPr>
                      <m:t>0.8</m:t>
                    </m:r>
                    <m:r>
                      <a:rPr kumimoji="1"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×100+0.2×20=84</m:t>
                    </m:r>
                  </m:oMath>
                </a14:m>
                <a:endParaRPr kumimoji="1" lang="en-US" altLang="zh-TW" sz="2000" dirty="0"/>
              </a:p>
              <a:p>
                <a:pPr>
                  <a:lnSpc>
                    <a:spcPct val="150000"/>
                  </a:lnSpc>
                </a:pPr>
                <a:r>
                  <a:rPr kumimoji="1" lang="zh-TW" altLang="en-US" sz="2000" dirty="0"/>
                  <a:t>如果樣本從</a:t>
                </a:r>
                <a:r>
                  <a:rPr kumimoji="1" lang="en-US" altLang="zh-TW" sz="2000" dirty="0"/>
                  <a:t>1</a:t>
                </a:r>
                <a:r>
                  <a:rPr kumimoji="1" lang="zh-TW" altLang="en-US" sz="2000" dirty="0"/>
                  <a:t>人增加到</a:t>
                </a:r>
                <a:r>
                  <a:rPr kumimoji="1" lang="en-US" altLang="zh-TW" sz="2000" dirty="0"/>
                  <a:t>2</a:t>
                </a:r>
                <a:r>
                  <a:rPr kumimoji="1" lang="zh-TW" altLang="en-US" sz="2000" dirty="0"/>
                  <a:t>人，其他條件不變，那麼每個人中選機率變成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1" lang="en-US" altLang="zh-TW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34</m:t>
                        </m:r>
                      </m:den>
                    </m:f>
                    <m:r>
                      <a:rPr kumimoji="1" lang="en-US" altLang="zh-TW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17</m:t>
                        </m:r>
                      </m:den>
                    </m:f>
                  </m:oMath>
                </a14:m>
                <a:endParaRPr kumimoji="1" lang="en-US" altLang="zh-TW" sz="2000" b="0" dirty="0"/>
              </a:p>
              <a:p>
                <a:pPr>
                  <a:lnSpc>
                    <a:spcPct val="150000"/>
                  </a:lnSpc>
                </a:pPr>
                <a:r>
                  <a:rPr kumimoji="1" lang="zh-TW" altLang="en-US" sz="2000" dirty="0"/>
                  <a:t>抽出</a:t>
                </a:r>
                <a:r>
                  <a:rPr kumimoji="1" lang="en-US" altLang="zh-TW" sz="2000" dirty="0"/>
                  <a:t>2</a:t>
                </a:r>
                <a:r>
                  <a:rPr kumimoji="1" lang="zh-TW" altLang="en-US" sz="2000" dirty="0"/>
                  <a:t>人可能是一個高薪一個低薪、兩個高薪、兩個低薪，分別計算這三種組合的期望值，然後再加權平均，會得到</a:t>
                </a:r>
                <a:r>
                  <a:rPr kumimoji="1" lang="en-US" altLang="zh-TW" sz="2000" dirty="0"/>
                  <a:t>840</a:t>
                </a:r>
                <a:r>
                  <a:rPr kumimoji="1" lang="zh-TW" altLang="en-US" sz="2000" dirty="0"/>
                  <a:t>萬（為什麼？）</a:t>
                </a:r>
                <a:endParaRPr kumimoji="1" lang="en-US" altLang="zh-TW" sz="2000" dirty="0"/>
              </a:p>
              <a:p>
                <a:pPr>
                  <a:lnSpc>
                    <a:spcPct val="150000"/>
                  </a:lnSpc>
                </a:pPr>
                <a:r>
                  <a:rPr kumimoji="1" lang="zh-TW" altLang="en-US" sz="2000" dirty="0"/>
                  <a:t>比起只抽</a:t>
                </a:r>
                <a:r>
                  <a:rPr kumimoji="1" lang="en-US" altLang="zh-TW" sz="2000" dirty="0"/>
                  <a:t>1</a:t>
                </a:r>
                <a:r>
                  <a:rPr kumimoji="1" lang="zh-TW" altLang="en-US" sz="2000" dirty="0"/>
                  <a:t>人，如果抽中組合是一個高薪一個低薪，會更接近最後的期望值。</a:t>
                </a:r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77F4EED-7909-5AF8-5411-8811C2034F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62" r="-1809" b="-2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F4C5D14-5932-A53B-6231-86CE0BBFB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7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748C4BE4-7B96-743F-FB37-78B98C65A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機率抽樣的元素（五）</a:t>
            </a:r>
            <a:endParaRPr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546C7FE0-E2B6-85E4-2700-04A06C4B71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48E739CE-D578-4E0C-7CD3-E1A196D86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12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表格 2">
                <a:extLst>
                  <a:ext uri="{FF2B5EF4-FFF2-40B4-BE49-F238E27FC236}">
                    <a16:creationId xmlns:a16="http://schemas.microsoft.com/office/drawing/2014/main" id="{58ABDC07-D2D8-76EB-255B-5B03BE0D1E3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19474064"/>
                  </p:ext>
                </p:extLst>
              </p:nvPr>
            </p:nvGraphicFramePr>
            <p:xfrm>
              <a:off x="1425039" y="2553494"/>
              <a:ext cx="9262754" cy="3659886"/>
            </p:xfrm>
            <a:graphic>
              <a:graphicData uri="http://schemas.openxmlformats.org/drawingml/2006/table">
                <a:tbl>
                  <a:tblPr/>
                  <a:tblGrid>
                    <a:gridCol w="1288344">
                      <a:extLst>
                        <a:ext uri="{9D8B030D-6E8A-4147-A177-3AD203B41FA5}">
                          <a16:colId xmlns:a16="http://schemas.microsoft.com/office/drawing/2014/main" val="1092537034"/>
                        </a:ext>
                      </a:extLst>
                    </a:gridCol>
                    <a:gridCol w="2027582">
                      <a:extLst>
                        <a:ext uri="{9D8B030D-6E8A-4147-A177-3AD203B41FA5}">
                          <a16:colId xmlns:a16="http://schemas.microsoft.com/office/drawing/2014/main" val="4071730486"/>
                        </a:ext>
                      </a:extLst>
                    </a:gridCol>
                    <a:gridCol w="3680804">
                      <a:extLst>
                        <a:ext uri="{9D8B030D-6E8A-4147-A177-3AD203B41FA5}">
                          <a16:colId xmlns:a16="http://schemas.microsoft.com/office/drawing/2014/main" val="555145253"/>
                        </a:ext>
                      </a:extLst>
                    </a:gridCol>
                    <a:gridCol w="2266024">
                      <a:extLst>
                        <a:ext uri="{9D8B030D-6E8A-4147-A177-3AD203B41FA5}">
                          <a16:colId xmlns:a16="http://schemas.microsoft.com/office/drawing/2014/main" val="3059292820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rtl="0"/>
                          <a:r>
                            <a:rPr lang="zh-TW" altLang="en-US" sz="20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組合</a:t>
                          </a: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:r>
                            <a:rPr lang="en" sz="20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H-T </a:t>
                          </a:r>
                          <a:r>
                            <a:rPr lang="zh-TW" altLang="en-US" sz="20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估計值</a:t>
                          </a:r>
                          <a:r>
                            <a:rPr lang="en-US" altLang="zh-TW" sz="20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en-US" altLang="zh-TW" sz="2000" b="1" i="1" smtClean="0">
                                      <a:solidFill>
                                        <a:srgbClr val="1F1F1F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2000" b="1" i="1" smtClean="0">
                                      <a:solidFill>
                                        <a:srgbClr val="1F1F1F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𝒀</m:t>
                                  </m:r>
                                </m:e>
                              </m:acc>
                            </m:oMath>
                          </a14:m>
                          <a:r>
                            <a:rPr lang="en-US" altLang="zh-TW" sz="20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)</a:t>
                          </a:r>
                          <a:r>
                            <a:rPr lang="zh-TW" altLang="en-US" sz="20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 </a:t>
                          </a:r>
                          <a:endParaRPr lang="en" sz="20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:r>
                            <a:rPr lang="zh-TW" altLang="en-US" sz="20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發生機率 </a:t>
                          </a:r>
                          <a:r>
                            <a:rPr lang="en-US" altLang="zh-TW" sz="20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(</a:t>
                          </a:r>
                          <a:r>
                            <a:rPr lang="en" sz="20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P)</a:t>
                          </a:r>
                          <a:endParaRPr lang="en" sz="20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:r>
                            <a:rPr lang="zh-TW" altLang="en-US" sz="20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加權結果 </a:t>
                          </a:r>
                          <a:r>
                            <a:rPr lang="en-US" altLang="zh-TW" sz="20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en-US" altLang="zh-TW" sz="2000" b="1" i="1" smtClean="0">
                                      <a:solidFill>
                                        <a:srgbClr val="1F1F1F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2000" b="1" i="1" smtClean="0">
                                      <a:solidFill>
                                        <a:srgbClr val="1F1F1F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𝒀</m:t>
                                  </m:r>
                                </m:e>
                              </m:acc>
                            </m:oMath>
                          </a14:m>
                          <a:r>
                            <a:rPr lang="en" sz="20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×P)</a:t>
                          </a:r>
                          <a:endParaRPr lang="en" sz="20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439181357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rtl="0"/>
                          <a:r>
                            <a:rPr lang="en-US" altLang="zh-TW" sz="20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2 </a:t>
                          </a:r>
                          <a:r>
                            <a:rPr lang="zh-TW" altLang="en-US" sz="20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富人</a:t>
                          </a: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14:m>
                            <m:oMath xmlns:m="http://schemas.openxmlformats.org/officeDocument/2006/math">
                              <m:r>
                                <a:rPr lang="en-US" altLang="zh-TW" sz="1600" b="0" i="1" smtClean="0">
                                  <a:solidFill>
                                    <a:srgbClr val="1F1F1F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100</m:t>
                              </m:r>
                              <m:r>
                                <a:rPr lang="en-US" altLang="zh-TW" sz="1600" b="0" i="1" smtClean="0">
                                  <a:solidFill>
                                    <a:srgbClr val="1F1F1F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f>
                                <m:fPr>
                                  <m:ctrlPr>
                                    <a:rPr lang="en-US" altLang="zh-TW" sz="1600" b="0" i="1" smtClean="0">
                                      <a:solidFill>
                                        <a:srgbClr val="1F1F1F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600" b="0" i="1" smtClean="0">
                                      <a:solidFill>
                                        <a:srgbClr val="1F1F1F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34</m:t>
                                  </m:r>
                                </m:num>
                                <m:den>
                                  <m:r>
                                    <a:rPr lang="en-US" altLang="zh-TW" sz="1600" b="0" i="1" smtClean="0">
                                      <a:solidFill>
                                        <a:srgbClr val="1F1F1F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16</m:t>
                                  </m:r>
                                </m:den>
                              </m:f>
                              <m:r>
                                <a:rPr lang="en-US" altLang="zh-TW" sz="1600" b="0" i="1" smtClean="0">
                                  <a:solidFill>
                                    <a:srgbClr val="1F1F1F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×2=</m:t>
                              </m:r>
                            </m:oMath>
                          </a14:m>
                          <a:r>
                            <a:rPr lang="en-US" altLang="zh-TW" sz="16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425 </a:t>
                          </a:r>
                          <a:endParaRPr lang="zh-TW" altLang="en-US" sz="16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:r>
                            <a:rPr lang="en-US" altLang="zh-TW" sz="16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0.8784=(32/34)</a:t>
                          </a:r>
                          <a:r>
                            <a:rPr lang="zh-TW" altLang="en-US" sz="16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*</a:t>
                          </a:r>
                          <a:r>
                            <a:rPr lang="en-US" altLang="zh-TW" sz="16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(28/30)</a:t>
                          </a: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:r>
                            <a:rPr lang="en-US" altLang="zh-TW" sz="1600" b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746.64 </a:t>
                          </a:r>
                          <a:r>
                            <a:rPr lang="zh-TW" altLang="en-US" sz="1600" b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萬</a:t>
                          </a:r>
                          <a:endParaRPr lang="zh-TW" altLang="en-US" sz="160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08320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rtl="0"/>
                          <a:r>
                            <a:rPr lang="en-US" altLang="zh-TW" sz="20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1 </a:t>
                          </a:r>
                          <a:r>
                            <a:rPr lang="zh-TW" altLang="en-US" sz="20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富 </a:t>
                          </a:r>
                          <a:r>
                            <a:rPr lang="en-US" altLang="zh-TW" sz="20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1 </a:t>
                          </a:r>
                          <a:r>
                            <a:rPr lang="zh-TW" altLang="en-US" sz="20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窮</a:t>
                          </a: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14:m>
                            <m:oMath xmlns:m="http://schemas.openxmlformats.org/officeDocument/2006/math">
                              <m:r>
                                <a:rPr lang="en-US" altLang="zh-TW" sz="1600" b="0" i="1" smtClean="0">
                                  <a:solidFill>
                                    <a:srgbClr val="1F1F1F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100</m:t>
                              </m:r>
                              <m:r>
                                <a:rPr lang="en-US" altLang="zh-TW" sz="1600" b="0" i="1" smtClean="0">
                                  <a:solidFill>
                                    <a:srgbClr val="1F1F1F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f>
                                <m:fPr>
                                  <m:ctrlPr>
                                    <a:rPr lang="en-US" altLang="zh-TW" sz="1600" b="0" i="1" smtClean="0">
                                      <a:solidFill>
                                        <a:srgbClr val="1F1F1F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600" b="0" i="1" smtClean="0">
                                      <a:solidFill>
                                        <a:srgbClr val="1F1F1F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32+2</m:t>
                                  </m:r>
                                </m:num>
                                <m:den>
                                  <m:r>
                                    <a:rPr lang="en-US" altLang="zh-TW" sz="1600" b="0" i="1" smtClean="0">
                                      <a:solidFill>
                                        <a:srgbClr val="1F1F1F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4×2</m:t>
                                  </m:r>
                                </m:den>
                              </m:f>
                              <m:r>
                                <a:rPr lang="en-US" altLang="zh-TW" sz="1600" b="0" i="1" smtClean="0">
                                  <a:solidFill>
                                    <a:srgbClr val="1F1F1F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+20×</m:t>
                              </m:r>
                              <m:f>
                                <m:fPr>
                                  <m:ctrlPr>
                                    <a:rPr lang="en-US" altLang="zh-TW" sz="1600" b="0" i="1" smtClean="0">
                                      <a:solidFill>
                                        <a:srgbClr val="1F1F1F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600" b="0" i="1" smtClean="0">
                                      <a:solidFill>
                                        <a:srgbClr val="1F1F1F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34</m:t>
                                  </m:r>
                                </m:num>
                                <m:den>
                                  <m:r>
                                    <a:rPr lang="en-US" altLang="zh-TW" sz="1600" b="0" i="1" smtClean="0">
                                      <a:solidFill>
                                        <a:srgbClr val="1F1F1F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a14:m>
                          <a:r>
                            <a:rPr lang="en-US" altLang="zh-TW" sz="16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=765 </a:t>
                          </a:r>
                          <a:endParaRPr lang="zh-TW" altLang="en-US" sz="16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:r>
                            <a:rPr lang="en-US" altLang="zh-TW" sz="16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0.1197=(32/34)</a:t>
                          </a:r>
                          <a:r>
                            <a:rPr lang="zh-TW" altLang="en-US" sz="16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*</a:t>
                          </a:r>
                          <a:r>
                            <a:rPr lang="en-US" altLang="zh-TW" sz="16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(2/30)+(2/34)*(32/33)</a:t>
                          </a: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:r>
                            <a:rPr lang="en-US" altLang="zh-TW" sz="1600" b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91.57 </a:t>
                          </a:r>
                          <a:r>
                            <a:rPr lang="zh-TW" altLang="en-US" sz="1600" b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萬</a:t>
                          </a:r>
                          <a:endParaRPr lang="zh-TW" altLang="en-US" sz="160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5135718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rtl="0"/>
                          <a:r>
                            <a:rPr lang="en-US" altLang="zh-TW" sz="20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2 </a:t>
                          </a:r>
                          <a:r>
                            <a:rPr lang="zh-TW" altLang="en-US" sz="20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窮人</a:t>
                          </a: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14:m>
                            <m:oMath xmlns:m="http://schemas.openxmlformats.org/officeDocument/2006/math">
                              <m:r>
                                <a:rPr lang="en-US" altLang="zh-TW" sz="1600" b="0" i="1" smtClean="0">
                                  <a:solidFill>
                                    <a:srgbClr val="1F1F1F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  <m:r>
                                <a:rPr lang="en-US" altLang="zh-TW" sz="1600" b="0" i="1" smtClean="0">
                                  <a:solidFill>
                                    <a:srgbClr val="1F1F1F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×34+20×34=</m:t>
                              </m:r>
                            </m:oMath>
                          </a14:m>
                          <a:r>
                            <a:rPr lang="en-US" altLang="zh-TW" sz="16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1360 </a:t>
                          </a:r>
                          <a:endParaRPr lang="zh-TW" altLang="en-US" sz="16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:r>
                            <a:rPr lang="en-US" altLang="zh-TW" sz="16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0.0018=(2/34)</a:t>
                          </a:r>
                          <a:r>
                            <a:rPr lang="zh-TW" altLang="en-US" sz="16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*</a:t>
                          </a:r>
                          <a:r>
                            <a:rPr lang="en-US" altLang="zh-TW" sz="16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(1/33)</a:t>
                          </a: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:r>
                            <a:rPr lang="en-US" altLang="zh-TW" sz="1600" b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1.22 </a:t>
                          </a:r>
                          <a:r>
                            <a:rPr lang="zh-TW" altLang="en-US" sz="1600" b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萬</a:t>
                          </a:r>
                          <a:endParaRPr lang="zh-TW" altLang="en-US" sz="160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26020851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rtl="0"/>
                          <a:r>
                            <a:rPr lang="zh-TW" altLang="en-US" sz="20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總計</a:t>
                          </a: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:endParaRPr lang="zh-TW" altLang="en-US" sz="16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:r>
                            <a:rPr lang="en-US" altLang="zh-TW" sz="16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1.0000</a:t>
                          </a:r>
                          <a:endParaRPr lang="zh-TW" altLang="en-US" sz="16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:r>
                            <a:rPr lang="en-US" altLang="zh-TW" sz="16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839.43 </a:t>
                          </a:r>
                          <a:r>
                            <a:rPr lang="zh-TW" altLang="en-US" sz="16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萬</a:t>
                          </a:r>
                          <a:endParaRPr lang="zh-TW" altLang="en-US" sz="16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463586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表格 2">
                <a:extLst>
                  <a:ext uri="{FF2B5EF4-FFF2-40B4-BE49-F238E27FC236}">
                    <a16:creationId xmlns:a16="http://schemas.microsoft.com/office/drawing/2014/main" id="{58ABDC07-D2D8-76EB-255B-5B03BE0D1E3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19474064"/>
                  </p:ext>
                </p:extLst>
              </p:nvPr>
            </p:nvGraphicFramePr>
            <p:xfrm>
              <a:off x="1425039" y="2553494"/>
              <a:ext cx="9262754" cy="3659886"/>
            </p:xfrm>
            <a:graphic>
              <a:graphicData uri="http://schemas.openxmlformats.org/drawingml/2006/table">
                <a:tbl>
                  <a:tblPr/>
                  <a:tblGrid>
                    <a:gridCol w="1288344">
                      <a:extLst>
                        <a:ext uri="{9D8B030D-6E8A-4147-A177-3AD203B41FA5}">
                          <a16:colId xmlns:a16="http://schemas.microsoft.com/office/drawing/2014/main" val="1092537034"/>
                        </a:ext>
                      </a:extLst>
                    </a:gridCol>
                    <a:gridCol w="2027582">
                      <a:extLst>
                        <a:ext uri="{9D8B030D-6E8A-4147-A177-3AD203B41FA5}">
                          <a16:colId xmlns:a16="http://schemas.microsoft.com/office/drawing/2014/main" val="4071730486"/>
                        </a:ext>
                      </a:extLst>
                    </a:gridCol>
                    <a:gridCol w="3680804">
                      <a:extLst>
                        <a:ext uri="{9D8B030D-6E8A-4147-A177-3AD203B41FA5}">
                          <a16:colId xmlns:a16="http://schemas.microsoft.com/office/drawing/2014/main" val="555145253"/>
                        </a:ext>
                      </a:extLst>
                    </a:gridCol>
                    <a:gridCol w="2266024">
                      <a:extLst>
                        <a:ext uri="{9D8B030D-6E8A-4147-A177-3AD203B41FA5}">
                          <a16:colId xmlns:a16="http://schemas.microsoft.com/office/drawing/2014/main" val="3059292820"/>
                        </a:ext>
                      </a:extLst>
                    </a:gridCol>
                  </a:tblGrid>
                  <a:tr h="617855">
                    <a:tc>
                      <a:txBody>
                        <a:bodyPr/>
                        <a:lstStyle/>
                        <a:p>
                          <a:pPr rtl="0"/>
                          <a:r>
                            <a:rPr lang="zh-TW" altLang="en-US" sz="20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組合</a:t>
                          </a: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4780" t="-2041" r="-295597" b="-4918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:r>
                            <a:rPr lang="zh-TW" altLang="en-US" sz="20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發生機率 </a:t>
                          </a:r>
                          <a:r>
                            <a:rPr lang="en-US" altLang="zh-TW" sz="20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(</a:t>
                          </a:r>
                          <a:r>
                            <a:rPr lang="en" sz="20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P)</a:t>
                          </a:r>
                          <a:endParaRPr lang="en" sz="20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8380" t="-2041" r="-559" b="-4918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39181357"/>
                      </a:ext>
                    </a:extLst>
                  </a:tr>
                  <a:tr h="651129">
                    <a:tc>
                      <a:txBody>
                        <a:bodyPr/>
                        <a:lstStyle/>
                        <a:p>
                          <a:pPr rtl="0"/>
                          <a:r>
                            <a:rPr lang="en-US" altLang="zh-TW" sz="20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2 </a:t>
                          </a:r>
                          <a:r>
                            <a:rPr lang="zh-TW" altLang="en-US" sz="20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富人</a:t>
                          </a: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4780" t="-98039" r="-295597" b="-3725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:r>
                            <a:rPr lang="en-US" altLang="zh-TW" sz="16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0.8784=(32/34)</a:t>
                          </a:r>
                          <a:r>
                            <a:rPr lang="zh-TW" altLang="en-US" sz="16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*</a:t>
                          </a:r>
                          <a:r>
                            <a:rPr lang="en-US" altLang="zh-TW" sz="16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(28/30)</a:t>
                          </a: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:r>
                            <a:rPr lang="en-US" altLang="zh-TW" sz="1600" b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746.64 </a:t>
                          </a:r>
                          <a:r>
                            <a:rPr lang="zh-TW" altLang="en-US" sz="1600" b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萬</a:t>
                          </a:r>
                          <a:endParaRPr lang="zh-TW" altLang="en-US" sz="160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77083205"/>
                      </a:ext>
                    </a:extLst>
                  </a:tr>
                  <a:tr h="994410">
                    <a:tc>
                      <a:txBody>
                        <a:bodyPr/>
                        <a:lstStyle/>
                        <a:p>
                          <a:pPr rtl="0"/>
                          <a:r>
                            <a:rPr lang="en-US" altLang="zh-TW" sz="20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1 </a:t>
                          </a:r>
                          <a:r>
                            <a:rPr lang="zh-TW" altLang="en-US" sz="20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富 </a:t>
                          </a:r>
                          <a:r>
                            <a:rPr lang="en-US" altLang="zh-TW" sz="20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1 </a:t>
                          </a:r>
                          <a:r>
                            <a:rPr lang="zh-TW" altLang="en-US" sz="20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窮</a:t>
                          </a: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4780" t="-127848" r="-295597" b="-1405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:r>
                            <a:rPr lang="en-US" altLang="zh-TW" sz="16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0.1197=(32/34)</a:t>
                          </a:r>
                          <a:r>
                            <a:rPr lang="zh-TW" altLang="en-US" sz="16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*</a:t>
                          </a:r>
                          <a:r>
                            <a:rPr lang="en-US" altLang="zh-TW" sz="16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(2/30)+(2/34)*(32/33)</a:t>
                          </a: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:r>
                            <a:rPr lang="en-US" altLang="zh-TW" sz="1600" b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91.57 </a:t>
                          </a:r>
                          <a:r>
                            <a:rPr lang="zh-TW" altLang="en-US" sz="1600" b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萬</a:t>
                          </a:r>
                          <a:endParaRPr lang="zh-TW" altLang="en-US" sz="160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51357188"/>
                      </a:ext>
                    </a:extLst>
                  </a:tr>
                  <a:tr h="786892">
                    <a:tc>
                      <a:txBody>
                        <a:bodyPr/>
                        <a:lstStyle/>
                        <a:p>
                          <a:pPr rtl="0"/>
                          <a:r>
                            <a:rPr lang="en-US" altLang="zh-TW" sz="20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2 </a:t>
                          </a:r>
                          <a:r>
                            <a:rPr lang="zh-TW" altLang="en-US" sz="20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窮人</a:t>
                          </a: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4780" t="-290323" r="-295597" b="-790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:r>
                            <a:rPr lang="en-US" altLang="zh-TW" sz="16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0.0018=(2/34)</a:t>
                          </a:r>
                          <a:r>
                            <a:rPr lang="zh-TW" altLang="en-US" sz="16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*</a:t>
                          </a:r>
                          <a:r>
                            <a:rPr lang="en-US" altLang="zh-TW" sz="16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(1/33)</a:t>
                          </a: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:r>
                            <a:rPr lang="en-US" altLang="zh-TW" sz="1600" b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1.22 </a:t>
                          </a:r>
                          <a:r>
                            <a:rPr lang="zh-TW" altLang="en-US" sz="1600" b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萬</a:t>
                          </a:r>
                          <a:endParaRPr lang="zh-TW" altLang="en-US" sz="160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26020851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rtl="0"/>
                          <a:r>
                            <a:rPr lang="zh-TW" altLang="en-US" sz="20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總計</a:t>
                          </a: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:endParaRPr lang="zh-TW" altLang="en-US" sz="16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:r>
                            <a:rPr lang="en-US" altLang="zh-TW" sz="16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1.0000</a:t>
                          </a:r>
                          <a:endParaRPr lang="zh-TW" altLang="en-US" sz="16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R="114300"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 rtl="0"/>
                          <a:r>
                            <a:rPr lang="en-US" altLang="zh-TW" sz="16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839.43 </a:t>
                          </a:r>
                          <a:r>
                            <a:rPr lang="zh-TW" altLang="en-US" sz="16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萬</a:t>
                          </a:r>
                          <a:endParaRPr lang="zh-TW" altLang="en-US" sz="16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T="152400" marB="152400" anchor="ctr">
                        <a:lnL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463586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8616080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60B46-553E-18AD-A4BE-E745BAB0C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機率抽樣的元素（六）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前面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𝑯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𝑽</m:t>
                    </m:r>
                    <m:r>
                      <a:rPr lang="en-US" sz="2000" b="1" i="1">
                        <a:latin typeface="Cambria Math" panose="02040503050406030204" pitchFamily="18" charset="0"/>
                      </a:rPr>
                      <m:t>估計式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是</m:t>
                    </m:r>
                    <m:r>
                      <a:rPr lang="zh-TW" altLang="en-US" sz="2000" b="1" i="1">
                        <a:latin typeface="Cambria Math" panose="02040503050406030204" pitchFamily="18" charset="0"/>
                      </a:rPr>
                      <m:t>計算</m:t>
                    </m:r>
                    <m:r>
                      <a:rPr lang="zh-TW" altLang="en-US" sz="2000" b="1" i="1" smtClean="0">
                        <a:latin typeface="Cambria Math" panose="02040503050406030204" pitchFamily="18" charset="0"/>
                      </a:rPr>
                      <m:t>總和。計算平均數的公式為：</m:t>
                    </m:r>
                    <m:r>
                      <a:rPr lang="zh-TW" alt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𝐻𝑇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sz="2000" dirty="0"/>
                  <a:t>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f>
                          <m:fPr>
                            <m:ctrlP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den>
                        </m:f>
                      </m:e>
                    </m:nary>
                  </m:oMath>
                </a14:m>
                <a:endParaRPr lang="en-US" sz="20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000" dirty="0" err="1"/>
                  <a:t>代表有沒有被抽中，k</a:t>
                </a:r>
                <a:r>
                  <a:rPr lang="en-US" sz="2000" dirty="0"/>
                  <a:t>=0或是1.</a:t>
                </a:r>
              </a:p>
              <a:p>
                <a:r>
                  <a:rPr lang="en-US" sz="2000" dirty="0" err="1"/>
                  <a:t>以剛剛的例子</a:t>
                </a:r>
                <a:r>
                  <a:rPr lang="en-US" sz="2000" dirty="0"/>
                  <a:t>，</a:t>
                </a:r>
                <a:r>
                  <a:rPr lang="ja-JP" altLang="en-US" sz="2000"/>
                  <a:t> 抽到富人 </a:t>
                </a:r>
                <a:r>
                  <a:rPr lang="en-US" sz="2000" dirty="0">
                    <a:effectLst/>
                    <a:latin typeface="Google Sans Text"/>
                  </a:rPr>
                  <a:t>k=1</a:t>
                </a:r>
                <a:r>
                  <a:rPr lang="en-US" sz="2000" dirty="0"/>
                  <a:t>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000" dirty="0"/>
                  <a:t>，</a:t>
                </a:r>
                <a:r>
                  <a:rPr lang="ja-JP" altLang="en-US" sz="2000"/>
                  <a:t>其他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ja-JP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endParaRPr lang="en-US" altLang="ja-JP" sz="2000" b="0" dirty="0">
                  <a:ea typeface="Cambria Math" panose="02040503050406030204" pitchFamily="18" charset="0"/>
                </a:endParaRPr>
              </a:p>
              <a:p>
                <a:r>
                  <a:rPr lang="en-US" sz="2000" dirty="0" err="1"/>
                  <a:t>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=100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萬，</m:t>
                    </m:r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=4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34</m:t>
                        </m:r>
                      </m:den>
                    </m:f>
                  </m:oMath>
                </a14:m>
                <a:r>
                  <a:rPr lang="en-US" sz="2000" dirty="0"/>
                  <a:t>=0.1176（因為富人中選機率是其他人的4倍）</a:t>
                </a:r>
              </a:p>
              <a:p>
                <a:r>
                  <a:rPr lang="en-US" sz="2000" dirty="0" err="1"/>
                  <a:t>代入公式</a:t>
                </a:r>
                <a:r>
                  <a:rPr lang="en-US" sz="2000" dirty="0"/>
                  <a:t>：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1×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100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0.1176</m:t>
                            </m:r>
                          </m:den>
                        </m:f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×850=85</m:t>
                    </m:r>
                  </m:oMath>
                </a14:m>
                <a:endParaRPr lang="en-US" sz="20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的倒數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是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8.5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，就是富人的權重。</m:t>
                    </m:r>
                  </m:oMath>
                </a14:m>
                <a:r>
                  <a:rPr lang="en-US" sz="2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窮人的權重則是34。如果抽到窮人，平均值就是34x20=680萬。</a:t>
                </a:r>
              </a:p>
              <a:p>
                <a:r>
                  <a:rPr lang="en-US" sz="2000" dirty="0" err="1">
                    <a:latin typeface="PMingLiU" panose="02020500000000000000" pitchFamily="18" charset="-120"/>
                    <a:ea typeface="PMingLiU" panose="02020500000000000000" pitchFamily="18" charset="-120"/>
                  </a:rPr>
                  <a:t>這兩種人的期望值加權會等於總和</a:t>
                </a:r>
                <a:r>
                  <a:rPr lang="en-US" sz="2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：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32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34</m:t>
                        </m:r>
                      </m:den>
                    </m:f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850+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34</m:t>
                        </m:r>
                      </m:den>
                    </m:f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×680=</m:t>
                    </m:r>
                  </m:oMath>
                </a14:m>
                <a:r>
                  <a:rPr lang="en-US" sz="2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840</a:t>
                </a:r>
              </a:p>
              <a:p>
                <a:r>
                  <a:rPr lang="en-US" sz="2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一般研究會設定權重低於5，避免抽中一些不容易中選的族群卻因為權重太大而得到錯誤的結論，但是這種主觀的設定違反了H-T的不偏估計的理論。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t="-10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B59-1518-4C2D-ABA7-09A5F449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635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60B46-553E-18AD-A4BE-E745BAB0C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機率抽樣的元素（七）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zh-TW" altLang="en-US" sz="2000" b="1" i="1" smtClean="0">
                        <a:latin typeface="Cambria Math" panose="02040503050406030204" pitchFamily="18" charset="0"/>
                      </a:rPr>
                      <m:t>變異數</m:t>
                    </m:r>
                    <m:r>
                      <a:rPr lang="zh-TW" altLang="en-US" sz="2000" b="1" i="1">
                        <a:latin typeface="Cambria Math" panose="02040503050406030204" pitchFamily="18" charset="0"/>
                      </a:rPr>
                      <m:t>表示</m:t>
                    </m:r>
                    <m:r>
                      <a:rPr lang="zh-TW" altLang="en-US" sz="2000" b="1" i="1" smtClean="0">
                        <a:latin typeface="Cambria Math" panose="02040503050406030204" pitchFamily="18" charset="0"/>
                      </a:rPr>
                      <m:t>資料的離散程度。計算</m:t>
                    </m:r>
                    <m:r>
                      <a:rPr lang="zh-TW" altLang="en-US" sz="2000" b="1" i="1">
                        <a:latin typeface="Cambria Math" panose="02040503050406030204" pitchFamily="18" charset="0"/>
                      </a:rPr>
                      <m:t>變異</m:t>
                    </m:r>
                    <m:r>
                      <a:rPr lang="zh-TW" altLang="en-US" sz="2000" b="1" i="1" smtClean="0">
                        <a:latin typeface="Cambria Math" panose="02040503050406030204" pitchFamily="18" charset="0"/>
                      </a:rPr>
                      <m:t>數的</m:t>
                    </m:r>
                    <m:r>
                      <a:rPr lang="zh-TW" altLang="en-US" sz="2000" b="1" i="1">
                        <a:latin typeface="Cambria Math" panose="02040503050406030204" pitchFamily="18" charset="0"/>
                      </a:rPr>
                      <m:t>估計</m:t>
                    </m:r>
                    <m:r>
                      <a:rPr lang="zh-TW" altLang="en-US" sz="2000" b="1" i="1" smtClean="0">
                        <a:latin typeface="Cambria Math" panose="02040503050406030204" pitchFamily="18" charset="0"/>
                      </a:rPr>
                      <m:t>式為：</m:t>
                    </m:r>
                  </m:oMath>
                </a14:m>
                <a:endParaRPr lang="en-US" altLang="zh-TW" sz="2000" b="1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lnSpc>
                    <a:spcPct val="12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( </m:t>
                    </m:r>
                    <m:acc>
                      <m:accPr>
                        <m:chr m:val="̅"/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𝐻𝑇</m:t>
                            </m:r>
                          </m:sub>
                        </m:sSub>
                      </m:e>
                    </m:acc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nary>
                      <m:naryPr>
                        <m:chr m:val="∑"/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nary>
                          <m:naryPr>
                            <m:chr m:val="∑"/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𝑘𝑙</m:t>
                                </m:r>
                              </m:sub>
                            </m:s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</m:s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  <m:f>
                          <m:fPr>
                            <m:ctrlP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den>
                        </m:f>
                        <m:f>
                          <m:f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</m:sSub>
                          </m:den>
                        </m:f>
                      </m:e>
                    </m:nary>
                  </m:oMath>
                </a14:m>
                <a:endParaRPr lang="en-US" sz="2000" dirty="0"/>
              </a:p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𝑘𝑙</m:t>
                        </m:r>
                      </m:sub>
                    </m:sSub>
                  </m:oMath>
                </a14:m>
                <a:r>
                  <a:rPr lang="ja-JP" altLang="en-US" sz="2000">
                    <a:effectLst/>
                    <a:latin typeface="Google Sans Text"/>
                  </a:rPr>
                  <a:t>這是個體 </a:t>
                </a:r>
                <a:r>
                  <a:rPr lang="en-US" sz="2000" i="1" dirty="0">
                    <a:effectLst/>
                    <a:latin typeface="Google Sans Text"/>
                  </a:rPr>
                  <a:t>k</a:t>
                </a:r>
                <a:r>
                  <a:rPr lang="en-US" sz="2000" dirty="0">
                    <a:effectLst/>
                    <a:latin typeface="Google Sans Text"/>
                  </a:rPr>
                  <a:t> </a:t>
                </a:r>
                <a:r>
                  <a:rPr lang="ja-JP" altLang="en-US" sz="2000">
                    <a:effectLst/>
                    <a:latin typeface="Google Sans Text"/>
                  </a:rPr>
                  <a:t>和個體 </a:t>
                </a:r>
                <a:r>
                  <a:rPr lang="en-US" sz="2000" i="1" dirty="0">
                    <a:effectLst/>
                    <a:latin typeface="Google Sans Text"/>
                  </a:rPr>
                  <a:t>l</a:t>
                </a:r>
                <a:r>
                  <a:rPr lang="en-US" sz="2000" dirty="0">
                    <a:effectLst/>
                    <a:latin typeface="Google Sans Text"/>
                  </a:rPr>
                  <a:t> </a:t>
                </a:r>
                <a:r>
                  <a:rPr lang="ja-JP" altLang="en-US" sz="2000">
                    <a:effectLst/>
                    <a:latin typeface="Google Sans Text"/>
                  </a:rPr>
                  <a:t>同時被抽中進入樣本的機率。</a:t>
                </a:r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altLang="ja-JP" sz="2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altLang="ja-JP" sz="2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ja-JP" altLang="en-US" sz="2000"/>
                  <a:t>：如果 </a:t>
                </a:r>
                <a:r>
                  <a:rPr lang="en-US" sz="2000" i="1" dirty="0">
                    <a:effectLst/>
                    <a:latin typeface="Google Sans Text"/>
                  </a:rPr>
                  <a:t>k</a:t>
                </a:r>
                <a:r>
                  <a:rPr lang="en-US" sz="2000" dirty="0"/>
                  <a:t> </a:t>
                </a:r>
                <a:r>
                  <a:rPr lang="ja-JP" altLang="en-US" sz="2000"/>
                  <a:t>和 </a:t>
                </a:r>
                <a:r>
                  <a:rPr lang="en-US" sz="2000" i="1" dirty="0">
                    <a:effectLst/>
                    <a:latin typeface="Google Sans Text"/>
                  </a:rPr>
                  <a:t>l</a:t>
                </a:r>
                <a:r>
                  <a:rPr lang="en-US" sz="2000" dirty="0"/>
                  <a:t> </a:t>
                </a:r>
                <a:r>
                  <a:rPr lang="ja-JP" altLang="en-US" sz="2000"/>
                  <a:t>是獨立被抽中的，這是他們同時入選的機率。</a:t>
                </a:r>
                <a:endParaRPr lang="en-US" altLang="ja-JP" sz="2000" dirty="0"/>
              </a:p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𝑘𝑙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ja-JP" altLang="en-US" sz="2000">
                    <a:effectLst/>
                    <a:latin typeface="Google Sans Text"/>
                  </a:rPr>
                  <a:t>是 </a:t>
                </a:r>
                <a:r>
                  <a:rPr lang="en-US" sz="2000" i="1" dirty="0">
                    <a:effectLst/>
                    <a:latin typeface="Google Sans Text"/>
                  </a:rPr>
                  <a:t>k</a:t>
                </a:r>
                <a:r>
                  <a:rPr lang="en-US" sz="2000" dirty="0">
                    <a:effectLst/>
                    <a:latin typeface="Google Sans Text"/>
                  </a:rPr>
                  <a:t> </a:t>
                </a:r>
                <a:r>
                  <a:rPr lang="ja-JP" altLang="en-US" sz="2000">
                    <a:effectLst/>
                    <a:latin typeface="Google Sans Text"/>
                  </a:rPr>
                  <a:t>與 </a:t>
                </a:r>
                <a:r>
                  <a:rPr lang="en-US" sz="2000" i="1" dirty="0">
                    <a:effectLst/>
                    <a:latin typeface="Google Sans Text"/>
                  </a:rPr>
                  <a:t>l</a:t>
                </a:r>
                <a:r>
                  <a:rPr lang="en-US" sz="2000" dirty="0">
                    <a:effectLst/>
                    <a:latin typeface="Google Sans Text"/>
                  </a:rPr>
                  <a:t> </a:t>
                </a:r>
                <a:r>
                  <a:rPr lang="ja-JP" altLang="en-US" sz="2000">
                    <a:effectLst/>
                    <a:latin typeface="Google Sans Text"/>
                  </a:rPr>
                  <a:t>樣本的</a:t>
                </a:r>
                <a:r>
                  <a:rPr lang="ja-JP" altLang="en-US" sz="2000" b="1">
                    <a:effectLst/>
                    <a:latin typeface="Google Sans Text"/>
                  </a:rPr>
                  <a:t>共變異數 </a:t>
                </a:r>
                <a:r>
                  <a:rPr lang="en-US" altLang="ja-JP" sz="2000" b="1" dirty="0">
                    <a:effectLst/>
                    <a:latin typeface="Google Sans Text"/>
                  </a:rPr>
                  <a:t>(</a:t>
                </a:r>
                <a:r>
                  <a:rPr lang="en-US" sz="2000" b="1" dirty="0">
                    <a:effectLst/>
                    <a:latin typeface="Google Sans Text"/>
                  </a:rPr>
                  <a:t>Covariance)</a:t>
                </a:r>
                <a:r>
                  <a:rPr lang="en-US" sz="2000" dirty="0">
                    <a:latin typeface="Google Sans Text"/>
                  </a:rPr>
                  <a:t>，</a:t>
                </a:r>
                <a:r>
                  <a:rPr lang="en-US" sz="2000" dirty="0" err="1">
                    <a:latin typeface="Google Sans Text"/>
                  </a:rPr>
                  <a:t>代表</a:t>
                </a:r>
                <a:r>
                  <a:rPr lang="ja-JP" altLang="en-US" sz="2000">
                    <a:effectLst/>
                    <a:latin typeface="Google Sans Text"/>
                  </a:rPr>
                  <a:t>個體之間入選機率的「相關性」。</a:t>
                </a:r>
              </a:p>
              <a:p>
                <a:pPr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lang="ja-JP" altLang="en-US" sz="2000">
                    <a:effectLst/>
                    <a:latin typeface="Google Sans Text"/>
                  </a:rPr>
                  <a:t>如果這個值是負的，代表抽到 </a:t>
                </a:r>
                <a:r>
                  <a:rPr lang="en-US" sz="2000" i="1" dirty="0">
                    <a:effectLst/>
                    <a:latin typeface="Google Sans Text"/>
                  </a:rPr>
                  <a:t>k</a:t>
                </a:r>
                <a:r>
                  <a:rPr lang="en-US" sz="2000" dirty="0">
                    <a:effectLst/>
                    <a:latin typeface="Google Sans Text"/>
                  </a:rPr>
                  <a:t> </a:t>
                </a:r>
                <a:r>
                  <a:rPr lang="ja-JP" altLang="en-US" sz="2000">
                    <a:effectLst/>
                    <a:latin typeface="Google Sans Text"/>
                  </a:rPr>
                  <a:t>就不容易抽到 </a:t>
                </a:r>
                <a:r>
                  <a:rPr lang="en-US" altLang="ja-JP" sz="2000" i="1" dirty="0">
                    <a:latin typeface="Google Sans Text"/>
                  </a:rPr>
                  <a:t>l</a:t>
                </a:r>
                <a:r>
                  <a:rPr lang="ja-JP" altLang="en-US" sz="2000" i="1">
                    <a:latin typeface="Google Sans Text"/>
                  </a:rPr>
                  <a:t>。</a:t>
                </a:r>
                <a:r>
                  <a:rPr lang="ja-JP" altLang="en-US" sz="2000">
                    <a:effectLst/>
                    <a:latin typeface="Google Sans Text"/>
                  </a:rPr>
                  <a:t>例如：簡單隨機抽樣就是只會抽到</a:t>
                </a:r>
                <a:r>
                  <a:rPr lang="en-US" altLang="ja-JP" sz="2000" dirty="0">
                    <a:latin typeface="Google Sans Text"/>
                  </a:rPr>
                  <a:t>k</a:t>
                </a:r>
                <a:r>
                  <a:rPr lang="ja-JP" altLang="en-US" sz="2000">
                    <a:latin typeface="Google Sans Text"/>
                  </a:rPr>
                  <a:t>或是</a:t>
                </a:r>
                <a:r>
                  <a:rPr lang="en-US" altLang="ja-JP" sz="2000" dirty="0">
                    <a:latin typeface="Google Sans Text"/>
                  </a:rPr>
                  <a:t>l</a:t>
                </a:r>
                <a:r>
                  <a:rPr lang="ja-JP" altLang="en-US" sz="2000">
                    <a:effectLst/>
                    <a:latin typeface="Google Sans Text"/>
                  </a:rPr>
                  <a:t>。</a:t>
                </a:r>
                <a:endParaRPr lang="en-US" sz="2000" dirty="0">
                  <a:effectLst/>
                  <a:latin typeface="Google Sans Text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r="-12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B59-1518-4C2D-ABA7-09A5F449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4089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60B46-553E-18AD-A4BE-E745BAB0C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機率抽樣的元素（八）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sz="2200" dirty="0">
                    <a:latin typeface="Google Sans Text"/>
                  </a:rPr>
                  <a:t>H-T </a:t>
                </a:r>
                <a:r>
                  <a:rPr lang="ja-JP" altLang="en-US" sz="2200">
                    <a:effectLst/>
                    <a:latin typeface="Google Sans Text"/>
                  </a:rPr>
                  <a:t>估計值的穩定性取決於兩件事：</a:t>
                </a:r>
              </a:p>
              <a:p>
                <a:pPr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ja-JP" altLang="en-US" sz="2200" b="1">
                    <a:effectLst/>
                    <a:latin typeface="PMingLiU" panose="02020500000000000000" pitchFamily="18" charset="-120"/>
                    <a:ea typeface="PMingLiU" panose="02020500000000000000" pitchFamily="18" charset="-120"/>
                  </a:rPr>
                  <a:t>個體權重的大小 </a:t>
                </a:r>
                <a:r>
                  <a:rPr lang="en-US" altLang="ja-JP" sz="2200" dirty="0">
                    <a:effectLst/>
                    <a:latin typeface="PMingLiU" panose="02020500000000000000" pitchFamily="18" charset="-120"/>
                    <a:ea typeface="PMingLiU" panose="02020500000000000000" pitchFamily="18" charset="-12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200" i="1" smtClean="0"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</m:ctrlPr>
                      </m:sSubPr>
                      <m:e>
                        <m:r>
                          <a:rPr lang="en-US" altLang="ja-JP" sz="2200" b="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ja-JP" sz="2200" b="0" i="1" smtClean="0"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200" dirty="0">
                    <a:effectLst/>
                    <a:latin typeface="PMingLiU" panose="02020500000000000000" pitchFamily="18" charset="-120"/>
                    <a:ea typeface="PMingLiU" panose="02020500000000000000" pitchFamily="18" charset="-12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smtClean="0"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200" b="0" i="1" smtClean="0"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en-US" sz="2200" dirty="0">
                    <a:effectLst/>
                    <a:latin typeface="PMingLiU" panose="02020500000000000000" pitchFamily="18" charset="-120"/>
                    <a:ea typeface="PMingLiU" panose="02020500000000000000" pitchFamily="18" charset="-120"/>
                  </a:rPr>
                  <a:t>)：</a:t>
                </a:r>
                <a:r>
                  <a:rPr lang="ja-JP" altLang="en-US" sz="2200">
                    <a:effectLst/>
                    <a:latin typeface="Google Sans Text"/>
                  </a:rPr>
                  <a:t>如果某個人的中選機率非常小（窮人），權重會變大。會直接增加變異數。這是「抽到窮人會跟母體真相差很大」的數學原因。</a:t>
                </a:r>
              </a:p>
              <a:p>
                <a:pPr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ja-JP" altLang="en-US" sz="2200" b="1">
                    <a:effectLst/>
                    <a:latin typeface="PMingLiU" panose="02020500000000000000" pitchFamily="18" charset="-120"/>
                    <a:ea typeface="PMingLiU" panose="02020500000000000000" pitchFamily="18" charset="-120"/>
                  </a:rPr>
                  <a:t>抽樣設計的策略 </a:t>
                </a:r>
                <a:r>
                  <a:rPr lang="en-US" altLang="ja-JP" sz="2200" dirty="0">
                    <a:effectLst/>
                    <a:latin typeface="PMingLiU" panose="02020500000000000000" pitchFamily="18" charset="-120"/>
                    <a:ea typeface="PMingLiU" panose="02020500000000000000" pitchFamily="18" charset="-12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200" i="1" smtClean="0"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</m:ctrlPr>
                      </m:sSubPr>
                      <m:e>
                        <m:r>
                          <a:rPr lang="en-US" altLang="ja-JP" sz="220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ja-JP" sz="2200" b="0" i="1" smtClean="0"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𝑘𝑙</m:t>
                        </m:r>
                      </m:sub>
                    </m:sSub>
                  </m:oMath>
                </a14:m>
                <a:r>
                  <a:rPr lang="en-US" sz="2200" dirty="0">
                    <a:effectLst/>
                    <a:latin typeface="PMingLiU" panose="02020500000000000000" pitchFamily="18" charset="-120"/>
                    <a:ea typeface="PMingLiU" panose="02020500000000000000" pitchFamily="18" charset="-120"/>
                  </a:rPr>
                  <a:t>)：</a:t>
                </a:r>
                <a:r>
                  <a:rPr lang="ja-JP" altLang="en-US" sz="2200">
                    <a:effectLst/>
                    <a:latin typeface="Google Sans Text"/>
                  </a:rPr>
                  <a:t>如果設計一種抽樣方式，使得數值相似的個體（例如兩個都是富人）盡量不要同時被抽中（負相關），那麼這個公式算出來的變異數就會變小，調查就更精確。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r="-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B59-1518-4C2D-ABA7-09A5F449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2810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60B46-553E-18AD-A4BE-E745BAB0C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機率抽樣的元素（九）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sz="2000" dirty="0">
                    <a:latin typeface="Google Sans Text"/>
                  </a:rPr>
                  <a:t>當估計式得出無偏估計後，我們建立一個有95%機率包含母體真正平均值的信賴區間</a:t>
                </a:r>
                <a:r>
                  <a:rPr lang="ja-JP" altLang="en-US" sz="2000">
                    <a:latin typeface="Google Sans Text"/>
                    <a:sym typeface="Wingdings" pitchFamily="2" charset="2"/>
                  </a:rPr>
                  <a:t>：</a:t>
                </a:r>
                <a14:m>
                  <m:oMath xmlns:m="http://schemas.openxmlformats.org/officeDocument/2006/math">
                    <m:r>
                      <a:rPr lang="en-US" altLang="ja-JP" sz="2000" i="1">
                        <a:latin typeface="Cambria Math" panose="02040503050406030204" pitchFamily="18" charset="0"/>
                        <a:sym typeface="Wingdings" pitchFamily="2" charset="2"/>
                      </a:rPr>
                      <m:t>[</m:t>
                    </m:r>
                    <m:sSub>
                      <m:sSub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acc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𝐻𝑇</m:t>
                        </m:r>
                      </m:sub>
                    </m:sSub>
                    <m:r>
                      <a:rPr lang="en-US" altLang="ja-JP" sz="2000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−</m:t>
                    </m:r>
                  </m:oMath>
                </a14:m>
                <a:r>
                  <a:rPr lang="en-US" altLang="ja-JP" sz="2000" dirty="0">
                    <a:effectLst/>
                    <a:latin typeface="Google Sans Text"/>
                  </a:rPr>
                  <a:t>1.96</a:t>
                </a:r>
                <a14:m>
                  <m:oMath xmlns:m="http://schemas.openxmlformats.org/officeDocument/2006/math">
                    <m:r>
                      <a:rPr lang="en-US" altLang="ja-JP" sz="2000" i="1" smtClean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0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altLang="ja-JP" sz="20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0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ja-JP" sz="20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𝐻𝑇</m:t>
                            </m:r>
                          </m:sub>
                        </m:sSub>
                      </m:e>
                    </m:d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altLang="ja-JP" sz="2000" dirty="0">
                    <a:effectLst/>
                    <a:latin typeface="Google Sans Text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ja-JP" sz="20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accPr>
                          <m:e>
                            <m:r>
                              <a:rPr lang="en-US" altLang="ja-JP" sz="20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altLang="ja-JP" sz="20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𝐻𝑇</m:t>
                        </m:r>
                      </m:sub>
                    </m:sSub>
                    <m:r>
                      <a:rPr lang="en-US" altLang="ja-JP" sz="2000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+</m:t>
                    </m:r>
                  </m:oMath>
                </a14:m>
                <a:r>
                  <a:rPr lang="en-US" altLang="ja-JP" sz="2000" dirty="0">
                    <a:latin typeface="Google Sans Text"/>
                  </a:rPr>
                  <a:t>1.96</a:t>
                </a:r>
                <a14:m>
                  <m:oMath xmlns:m="http://schemas.openxmlformats.org/officeDocument/2006/math">
                    <m:r>
                      <a:rPr lang="en-US" altLang="ja-JP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altLang="ja-JP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en-US" altLang="ja-JP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0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altLang="ja-JP" sz="20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0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ja-JP" sz="20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𝐻𝑇</m:t>
                            </m:r>
                          </m:sub>
                        </m:sSub>
                      </m:e>
                    </m:d>
                    <m:r>
                      <a:rPr lang="en-US" altLang="ja-JP" sz="2000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]</m:t>
                    </m:r>
                  </m:oMath>
                </a14:m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ja-JP" sz="2000" dirty="0">
                    <a:latin typeface="Google Sans Text"/>
                  </a:rPr>
                  <a:t>95%</a:t>
                </a:r>
                <a:r>
                  <a:rPr lang="ja-JP" altLang="en-US" sz="2000">
                    <a:latin typeface="Google Sans Text"/>
                  </a:rPr>
                  <a:t>又可表示為</a:t>
                </a:r>
                <a:r>
                  <a:rPr lang="en-US" altLang="ja-JP" sz="2000" dirty="0">
                    <a:latin typeface="Google Sans Text"/>
                  </a:rPr>
                  <a:t>1-5%</a:t>
                </a:r>
                <a:r>
                  <a:rPr lang="ja-JP" altLang="en-US" sz="2000">
                    <a:latin typeface="Google Sans Text"/>
                  </a:rPr>
                  <a:t>，</a:t>
                </a:r>
                <a:r>
                  <a:rPr lang="en-US" altLang="ja-JP" sz="2000" dirty="0">
                    <a:latin typeface="Google Sans Text"/>
                  </a:rPr>
                  <a:t>5%</a:t>
                </a:r>
                <a:r>
                  <a:rPr lang="ja-JP" altLang="en-US" sz="2000">
                    <a:latin typeface="Google Sans Text"/>
                  </a:rPr>
                  <a:t>被稱為</a:t>
                </a:r>
                <a14:m>
                  <m:oMath xmlns:m="http://schemas.openxmlformats.org/officeDocument/2006/math">
                    <m:r>
                      <a:rPr lang="ja-JP" altLang="en-US" sz="200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ja-JP" altLang="en-US" sz="2000">
                    <a:latin typeface="Google Sans Text"/>
                  </a:rPr>
                  <a:t>，也就是容許有</a:t>
                </a:r>
                <a:r>
                  <a:rPr lang="en-US" altLang="ja-JP" sz="2000" dirty="0">
                    <a:latin typeface="Google Sans Text"/>
                  </a:rPr>
                  <a:t>5%</a:t>
                </a:r>
                <a:r>
                  <a:rPr lang="ja-JP" altLang="en-US" sz="2000">
                    <a:latin typeface="Google Sans Text"/>
                  </a:rPr>
                  <a:t>的機會，這個區間沒有包括母體真正的平均值。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effectLst/>
                    <a:latin typeface="Google Sans Text"/>
                  </a:rPr>
                  <a:t>雖然我們不知道母體的變異數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0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altLang="ja-JP" sz="20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0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ja-JP" sz="20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𝐻𝑇</m:t>
                            </m:r>
                          </m:sub>
                        </m:sSub>
                      </m:e>
                    </m:d>
                    <m:r>
                      <a:rPr lang="en-US" altLang="ja-JP" sz="2000" i="1">
                        <a:latin typeface="Cambria Math" panose="02040503050406030204" pitchFamily="18" charset="0"/>
                        <a:sym typeface="Wingdings" pitchFamily="2" charset="2"/>
                      </a:rPr>
                      <m:t> </m:t>
                    </m:r>
                  </m:oMath>
                </a14:m>
                <a:r>
                  <a:rPr lang="ja-JP" altLang="en-US" sz="2000">
                    <a:effectLst/>
                    <a:latin typeface="Google Sans Text"/>
                  </a:rPr>
                  <a:t>，</a:t>
                </a:r>
                <a:r>
                  <a:rPr lang="ja-JP" altLang="en-US" sz="2000">
                    <a:latin typeface="Google Sans Text"/>
                  </a:rPr>
                  <a:t>但是可以用樣本的變異數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altLang="ja-JP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0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altLang="ja-JP" sz="20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0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ja-JP" sz="20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𝐻𝑇</m:t>
                            </m:r>
                          </m:sub>
                        </m:sSub>
                      </m:e>
                    </m:d>
                  </m:oMath>
                </a14:m>
                <a:r>
                  <a:rPr lang="ja-JP" altLang="en-US" sz="2000">
                    <a:latin typeface="Google Sans Text"/>
                  </a:rPr>
                  <a:t>估計母體的變異數。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p>
                          <m:sSup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Sup>
                              <m:sSubSupPr>
                                <m:ctrlPr>
                                  <a:rPr lang="en-US" altLang="ja-JP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/>
                            </m:sSubSup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̅"/>
                                <m:ctrlPr>
                                  <a:rPr lang="en-US" altLang="ja-JP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en-US" altLang="ja-JP" sz="2000" dirty="0">
                  <a:latin typeface="Google Sans Text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endParaRPr lang="ja-JP" altLang="en-US" sz="2000">
                  <a:effectLst/>
                  <a:latin typeface="Google Sans Text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r="-28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B59-1518-4C2D-ABA7-09A5F449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8345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60B46-553E-18AD-A4BE-E745BAB0C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簡單隨機抽樣（一）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在一個包含 </a:t>
                </a:r>
                <a:r>
                  <a:rPr lang="en-US" altLang="ja-JP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 </a:t>
                </a:r>
                <a:r>
                  <a:rPr lang="ja-JP" altLang="en-US" sz="2000">
                    <a:latin typeface="Google Sans Text"/>
                  </a:rPr>
                  <a:t>個個體的母體中，</a:t>
                </a:r>
                <a:r>
                  <a:rPr lang="ja-JP" altLang="en-US" sz="2000"/>
                  <a:t>若每一組大小為 </a:t>
                </a:r>
                <a:r>
                  <a:rPr lang="en-US" altLang="ja-JP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</a:t>
                </a:r>
                <a:r>
                  <a:rPr lang="ja-JP" altLang="en-US" sz="2000"/>
                  <a:t>的可能樣本被抽中的機率都相等，</a:t>
                </a:r>
                <a:r>
                  <a:rPr lang="ja-JP" altLang="en-US" sz="2000">
                    <a:latin typeface="Google Sans Text"/>
                  </a:rPr>
                  <a:t>每一個體 </a:t>
                </a:r>
                <a:r>
                  <a:rPr lang="en-US" altLang="ja-JP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en-US" altLang="ja-JP" sz="2000" dirty="0">
                    <a:latin typeface="Google Sans Text"/>
                  </a:rPr>
                  <a:t> </a:t>
                </a:r>
                <a:r>
                  <a:rPr lang="ja-JP" altLang="en-US" sz="2000">
                    <a:latin typeface="Google Sans Text"/>
                  </a:rPr>
                  <a:t>的被抽中的機率都相等，稱為簡單隨機抽樣</a:t>
                </a:r>
                <a:r>
                  <a:rPr lang="en-US" altLang="ja-JP" sz="2000" dirty="0">
                    <a:latin typeface="Google Sans Text"/>
                  </a:rPr>
                  <a:t>(SRS)</a:t>
                </a:r>
                <a:r>
                  <a:rPr lang="ja-JP" altLang="en-US" sz="2000">
                    <a:latin typeface="Google Sans Text"/>
                  </a:rPr>
                  <a:t>。</a:t>
                </a:r>
                <a:r>
                  <a:rPr lang="ja-JP" altLang="en-US" sz="2000"/>
                  <a:t> 對於所有個體</a:t>
                </a:r>
                <a:r>
                  <a:rPr lang="en-US" altLang="ja-JP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ja-JP" altLang="en-US" sz="2000" i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，</a:t>
                </a:r>
                <a:r>
                  <a:rPr lang="ja-JP" altLang="en-US" sz="2000">
                    <a:latin typeface="Google Sans Text"/>
                  </a:rPr>
                  <a:t>包含機率是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</m:oMath>
                </a14:m>
                <a:r>
                  <a:rPr lang="ja-JP" altLang="en-US" sz="2000" dirty="0">
                    <a:latin typeface="Google Sans Text"/>
                  </a:rPr>
                  <a:t>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ja-JP" sz="2000" dirty="0">
                    <a:latin typeface="Google Sans Text"/>
                  </a:rPr>
                  <a:t>H-V</a:t>
                </a:r>
                <a:r>
                  <a:rPr lang="ja-JP" altLang="en-US" sz="2000">
                    <a:latin typeface="Google Sans Text"/>
                  </a:rPr>
                  <a:t>估計式：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𝐻𝑇</m:t>
                        </m:r>
                      </m:sub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f>
                          <m:f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num>
                          <m:den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den>
                        </m:f>
                      </m:e>
                    </m:nary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假設某大學有 </a:t>
                </a:r>
                <a:r>
                  <a:rPr lang="en-US" altLang="ja-JP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 = </a:t>
                </a:r>
                <a:r>
                  <a:rPr lang="en-US" altLang="ja-JP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10,000</a:t>
                </a:r>
                <a:r>
                  <a:rPr lang="en-US" altLang="ja-JP" sz="2000" dirty="0">
                    <a:latin typeface="Google Sans Text"/>
                  </a:rPr>
                  <a:t> </a:t>
                </a:r>
                <a:r>
                  <a:rPr lang="ja-JP" altLang="en-US" sz="2000">
                    <a:latin typeface="Google Sans Text"/>
                  </a:rPr>
                  <a:t>名學生，我們想估計全校學生的月平均生活費。我們決定隨機抽取 </a:t>
                </a:r>
                <a:r>
                  <a:rPr lang="en-US" altLang="ja-JP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</a:t>
                </a:r>
                <a:r>
                  <a:rPr lang="en-US" altLang="ja-JP" sz="2000" dirty="0">
                    <a:latin typeface="Google Sans Text"/>
                  </a:rPr>
                  <a:t> = 100 </a:t>
                </a:r>
                <a:r>
                  <a:rPr lang="ja-JP" altLang="en-US" sz="2000">
                    <a:latin typeface="Google Sans Text"/>
                  </a:rPr>
                  <a:t>名學生。根據 </a:t>
                </a:r>
                <a:r>
                  <a:rPr lang="en-US" altLang="ja-JP" sz="2000" dirty="0">
                    <a:latin typeface="Google Sans Text"/>
                  </a:rPr>
                  <a:t>SRS</a:t>
                </a:r>
                <a:r>
                  <a:rPr lang="ja-JP" altLang="en-US" sz="2000">
                    <a:latin typeface="Google Sans Text"/>
                  </a:rPr>
                  <a:t>，每位同學被抽中的機率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1000</m:t>
                        </m:r>
                      </m:den>
                    </m:f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=0.01</m:t>
                    </m:r>
                  </m:oMath>
                </a14:m>
                <a:r>
                  <a:rPr lang="en-US" altLang="ja-JP" sz="2000" dirty="0">
                    <a:latin typeface="Google Sans Text"/>
                  </a:rPr>
                  <a:t> </a:t>
                </a:r>
                <a:r>
                  <a:rPr lang="ja-JP" altLang="en-US" sz="2000">
                    <a:latin typeface="Google Sans Text"/>
                  </a:rPr>
                  <a:t>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根據 </a:t>
                </a:r>
                <a:r>
                  <a:rPr lang="en-US" altLang="ja-JP" sz="2000" dirty="0">
                    <a:latin typeface="Google Sans Text"/>
                  </a:rPr>
                  <a:t>H-T </a:t>
                </a:r>
                <a:r>
                  <a:rPr lang="ja-JP" altLang="en-US" sz="2000">
                    <a:latin typeface="Google Sans Text"/>
                  </a:rPr>
                  <a:t>邏輯，每位被抽中同學的權重為機率的倒數：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0.01</m:t>
                        </m:r>
                      </m:den>
                    </m:f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=100</m:t>
                    </m:r>
                  </m:oMath>
                </a14:m>
                <a:endParaRPr lang="en-US" altLang="ja-JP" sz="2000" dirty="0">
                  <a:latin typeface="Google Sans Text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endParaRPr lang="ja-JP" altLang="en-US" sz="2000">
                  <a:effectLst/>
                  <a:latin typeface="Google Sans Text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B59-1518-4C2D-ABA7-09A5F449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9039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60B46-553E-18AD-A4BE-E745BAB0C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簡單隨機抽樣（二）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假設這 </a:t>
                </a:r>
                <a:r>
                  <a:rPr lang="en-US" altLang="ja-JP" sz="2000" dirty="0">
                    <a:latin typeface="Google Sans Text"/>
                  </a:rPr>
                  <a:t>100 </a:t>
                </a:r>
                <a:r>
                  <a:rPr lang="ja-JP" altLang="en-US" sz="2000">
                    <a:latin typeface="Google Sans Text"/>
                  </a:rPr>
                  <a:t>位同學的生活費總和為 </a:t>
                </a:r>
                <a:r>
                  <a:rPr lang="en-US" altLang="ja-JP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1,200,000</a:t>
                </a:r>
                <a:r>
                  <a:rPr lang="en-US" altLang="ja-JP" sz="2000" dirty="0">
                    <a:latin typeface="Google Sans Text"/>
                  </a:rPr>
                  <a:t> </a:t>
                </a:r>
                <a:r>
                  <a:rPr lang="ja-JP" altLang="en-US" sz="2000">
                    <a:latin typeface="Google Sans Text"/>
                  </a:rPr>
                  <a:t>元（平均每人 </a:t>
                </a:r>
                <a:r>
                  <a:rPr lang="en-US" altLang="ja-JP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12,000</a:t>
                </a:r>
                <a:r>
                  <a:rPr lang="en-US" altLang="ja-JP" sz="2000" dirty="0">
                    <a:latin typeface="Google Sans Text"/>
                  </a:rPr>
                  <a:t> </a:t>
                </a:r>
                <a:r>
                  <a:rPr lang="ja-JP" altLang="en-US" sz="2000">
                    <a:latin typeface="Google Sans Text"/>
                  </a:rPr>
                  <a:t>元）。使用 </a:t>
                </a:r>
                <a:r>
                  <a:rPr lang="en-US" altLang="ja-JP" sz="2000" dirty="0">
                    <a:latin typeface="Google Sans Text"/>
                  </a:rPr>
                  <a:t>H-T </a:t>
                </a:r>
                <a:r>
                  <a:rPr lang="ja-JP" altLang="en-US" sz="2000">
                    <a:latin typeface="Google Sans Text"/>
                  </a:rPr>
                  <a:t>公式計算全校總生活費。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ja-JP" sz="2000" dirty="0">
                    <a:latin typeface="Google Sans Text"/>
                  </a:rPr>
                  <a:t>H-V</a:t>
                </a:r>
                <a:r>
                  <a:rPr lang="ja-JP" altLang="en-US" sz="2000">
                    <a:latin typeface="Google Sans Text"/>
                  </a:rPr>
                  <a:t>估計式：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ja-JP" sz="20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𝐻𝑇</m:t>
                        </m:r>
                      </m:sub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bHide m:val="on"/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=1,200,000×100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=120,000,000</m:t>
                    </m:r>
                  </m:oMath>
                </a14:m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計算全校學生的月平均生活費：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120000000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10,000</m:t>
                        </m:r>
                      </m:den>
                    </m:f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000" b="0" i="0" smtClean="0">
                        <a:latin typeface="Cambria Math" panose="02040503050406030204" pitchFamily="18" charset="0"/>
                      </a:rPr>
                      <m:t>12,000</m:t>
                    </m:r>
                  </m:oMath>
                </a14:m>
                <a:r>
                  <a:rPr lang="en-US" altLang="ja-JP" sz="2000" dirty="0">
                    <a:latin typeface="Google Sans Text"/>
                  </a:rPr>
                  <a:t> </a:t>
                </a:r>
                <a:r>
                  <a:rPr lang="ja-JP" altLang="en-US" sz="2000">
                    <a:latin typeface="Google Sans Text"/>
                  </a:rPr>
                  <a:t>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/>
                  <a:t>假設生活費的樣本標準差為 </a:t>
                </a:r>
                <a:r>
                  <a:rPr lang="en-US" altLang="ja-JP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2,000</a:t>
                </a:r>
                <a:r>
                  <a:rPr lang="en-US" altLang="ja-JP" sz="2000" dirty="0"/>
                  <a:t> </a:t>
                </a:r>
                <a:r>
                  <a:rPr lang="ja-JP" altLang="en-US" sz="2000"/>
                  <a:t>元，因為標準誤 </a:t>
                </a:r>
                <a:r>
                  <a:rPr lang="en-US" altLang="ja-JP" sz="2000" dirty="0"/>
                  <a:t>(</a:t>
                </a:r>
                <a:r>
                  <a:rPr lang="en-US" altLang="ja-JP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SE</a:t>
                </a:r>
                <a:r>
                  <a:rPr lang="en-US" altLang="ja-JP" sz="2000" dirty="0"/>
                  <a:t>)</a:t>
                </a:r>
                <a:r>
                  <a:rPr lang="ja-JP" altLang="en-US" sz="2000"/>
                  <a:t>是估計值的標準差，計算方式為樣本標準差除以樣本數的平方根，所以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𝑆𝐸</m:t>
                        </m:r>
                      </m:e>
                      <m:sub/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2000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√100</m:t>
                        </m:r>
                      </m:den>
                    </m:f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=200</m:t>
                    </m:r>
                  </m:oMath>
                </a14:m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因此，生活費的信賴區間估計為：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12,000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±1.96×200→[11,608,12,392]</m:t>
                    </m:r>
                  </m:oMath>
                </a14:m>
                <a:endParaRPr lang="en-US" altLang="ja-JP" sz="2000" dirty="0">
                  <a:latin typeface="Google Sans Text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endParaRPr lang="ja-JP" altLang="en-US" sz="2000">
                  <a:effectLst/>
                  <a:latin typeface="Google Sans Text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r="-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B59-1518-4C2D-ABA7-09A5F449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83402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60B46-553E-18AD-A4BE-E745BAB0C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簡單隨機抽樣（三）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當我們要估計全校一萬名大學生的「平均生活費」。因為不可能問完每一個人，所以假設抽了 </a:t>
                </a:r>
                <a:r>
                  <a:rPr lang="en-US" altLang="ja-JP" sz="2000" dirty="0">
                    <a:latin typeface="Google Sans Text"/>
                  </a:rPr>
                  <a:t>100 </a:t>
                </a:r>
                <a:r>
                  <a:rPr lang="ja-JP" altLang="en-US" sz="2000">
                    <a:latin typeface="Google Sans Text"/>
                  </a:rPr>
                  <a:t>個人。要把這 </a:t>
                </a:r>
                <a:r>
                  <a:rPr lang="en-US" altLang="ja-JP" sz="2000" dirty="0">
                    <a:latin typeface="Google Sans Text"/>
                  </a:rPr>
                  <a:t>100 </a:t>
                </a:r>
                <a:r>
                  <a:rPr lang="ja-JP" altLang="en-US" sz="2000">
                    <a:latin typeface="Google Sans Text"/>
                  </a:rPr>
                  <a:t>人的結果推回全校。在簡單隨機抽樣中，每個人被抽中的機率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1000</m:t>
                        </m:r>
                      </m:den>
                    </m:f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=0.01</m:t>
                    </m:r>
                  </m:oMath>
                </a14:m>
                <a:r>
                  <a:rPr lang="en-US" altLang="ja-JP" sz="2000" dirty="0">
                    <a:latin typeface="Google Sans Text"/>
                  </a:rPr>
                  <a:t> </a:t>
                </a:r>
                <a:r>
                  <a:rPr lang="ja-JP" altLang="en-US" sz="2000">
                    <a:latin typeface="Google Sans Text"/>
                  </a:rPr>
                  <a:t>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ja-JP" sz="2000" dirty="0">
                    <a:latin typeface="Google Sans Text"/>
                  </a:rPr>
                  <a:t>0.01</a:t>
                </a:r>
                <a:r>
                  <a:rPr lang="ja-JP" altLang="en-US" sz="2000">
                    <a:latin typeface="Google Sans Text"/>
                  </a:rPr>
                  <a:t>代表被抽中的這 </a:t>
                </a:r>
                <a:r>
                  <a:rPr lang="en-US" altLang="ja-JP" sz="2000" dirty="0">
                    <a:latin typeface="Google Sans Text"/>
                  </a:rPr>
                  <a:t>100 </a:t>
                </a:r>
                <a:r>
                  <a:rPr lang="ja-JP" altLang="en-US" sz="2000">
                    <a:latin typeface="Google Sans Text"/>
                  </a:rPr>
                  <a:t>個人，每個人身上都背負著另外 </a:t>
                </a:r>
                <a:r>
                  <a:rPr lang="en-US" altLang="ja-JP" sz="2000" dirty="0">
                    <a:latin typeface="Google Sans Text"/>
                  </a:rPr>
                  <a:t>99 </a:t>
                </a:r>
                <a:r>
                  <a:rPr lang="ja-JP" altLang="en-US" sz="2000">
                    <a:latin typeface="Google Sans Text"/>
                  </a:rPr>
                  <a:t>個沒被抽中同學的影子。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根據</a:t>
                </a:r>
                <a:r>
                  <a:rPr lang="en-US" altLang="ja-JP" sz="2000" dirty="0">
                    <a:latin typeface="Google Sans Text"/>
                  </a:rPr>
                  <a:t>H-T</a:t>
                </a:r>
                <a:r>
                  <a:rPr lang="ja-JP" altLang="en-US" sz="2000">
                    <a:latin typeface="Google Sans Text"/>
                  </a:rPr>
                  <a:t>估計式，每個人的數值都要乘以 </a:t>
                </a:r>
                <a:r>
                  <a:rPr lang="en-US" altLang="ja-JP" sz="2000" dirty="0">
                    <a:latin typeface="Google Sans Text"/>
                  </a:rPr>
                  <a:t>100</a:t>
                </a:r>
                <a:r>
                  <a:rPr lang="ja-JP" altLang="en-US" sz="2000">
                    <a:latin typeface="Google Sans Text"/>
                  </a:rPr>
                  <a:t>（也就是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0.01</m:t>
                        </m:r>
                      </m:den>
                    </m:f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=100</m:t>
                    </m:r>
                  </m:oMath>
                </a14:m>
                <a:r>
                  <a:rPr lang="ja-JP" altLang="en-US" sz="2000">
                    <a:latin typeface="Google Sans Text"/>
                  </a:rPr>
                  <a:t>） 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把這 </a:t>
                </a:r>
                <a:r>
                  <a:rPr lang="en-US" altLang="ja-JP" sz="2000" dirty="0">
                    <a:latin typeface="Google Sans Text"/>
                  </a:rPr>
                  <a:t>100 </a:t>
                </a:r>
                <a:r>
                  <a:rPr lang="ja-JP" altLang="en-US" sz="2000">
                    <a:latin typeface="Google Sans Text"/>
                  </a:rPr>
                  <a:t>個人的生活費加起來，算出平均是 </a:t>
                </a:r>
                <a:r>
                  <a:rPr lang="en-US" altLang="ja-JP" sz="2000" dirty="0">
                    <a:latin typeface="Google Sans Text"/>
                  </a:rPr>
                  <a:t>12,000 </a:t>
                </a:r>
                <a:r>
                  <a:rPr lang="ja-JP" altLang="en-US" sz="2000">
                    <a:latin typeface="Google Sans Text"/>
                  </a:rPr>
                  <a:t>元。這是「最佳猜測」。如果這 </a:t>
                </a:r>
                <a:r>
                  <a:rPr lang="en-US" altLang="ja-JP" sz="2000" dirty="0">
                    <a:latin typeface="Google Sans Text"/>
                  </a:rPr>
                  <a:t>100 </a:t>
                </a:r>
                <a:r>
                  <a:rPr lang="ja-JP" altLang="en-US" sz="2000">
                    <a:latin typeface="Google Sans Text"/>
                  </a:rPr>
                  <a:t>人之中有人花 </a:t>
                </a:r>
                <a:r>
                  <a:rPr lang="en-US" altLang="ja-JP" sz="2000" dirty="0">
                    <a:latin typeface="Google Sans Text"/>
                  </a:rPr>
                  <a:t>5,000</a:t>
                </a:r>
                <a:r>
                  <a:rPr lang="ja-JP" altLang="en-US" sz="2000">
                    <a:latin typeface="Google Sans Text"/>
                  </a:rPr>
                  <a:t>，有人花 </a:t>
                </a:r>
                <a:r>
                  <a:rPr lang="en-US" altLang="ja-JP" sz="2000" dirty="0">
                    <a:latin typeface="Google Sans Text"/>
                  </a:rPr>
                  <a:t>50,000</a:t>
                </a:r>
                <a:r>
                  <a:rPr lang="ja-JP" altLang="en-US" sz="2000">
                    <a:latin typeface="Google Sans Text"/>
                  </a:rPr>
                  <a:t>，剛剛的猜測就不太精確，每一次猜測會差別很大。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/>
                  <a:t>為了保險起見，用區間估計描述而不是點估計。統計學家告訴我們，通常在平均值左右各加減約 </a:t>
                </a:r>
                <a:r>
                  <a:rPr lang="en-US" altLang="ja-JP" sz="2000" dirty="0"/>
                  <a:t>2 </a:t>
                </a:r>
                <a:r>
                  <a:rPr lang="ja-JP" altLang="en-US" sz="2000"/>
                  <a:t>個標準誤（精確說是 </a:t>
                </a:r>
                <a:r>
                  <a:rPr lang="en-US" altLang="ja-JP" sz="2000" dirty="0"/>
                  <a:t>1.96</a:t>
                </a:r>
                <a:r>
                  <a:rPr lang="ja-JP" altLang="en-US" sz="2000"/>
                  <a:t>），就能涵蓋 </a:t>
                </a:r>
                <a:r>
                  <a:rPr lang="en-US" altLang="ja-JP" sz="2000" dirty="0"/>
                  <a:t>95% </a:t>
                </a:r>
                <a:r>
                  <a:rPr lang="ja-JP" altLang="en-US" sz="2000"/>
                  <a:t>的可能性。如果算出來標準誤是 </a:t>
                </a:r>
                <a:r>
                  <a:rPr lang="en-US" altLang="ja-JP" sz="2000" dirty="0"/>
                  <a:t>200 </a:t>
                </a:r>
                <a:r>
                  <a:rPr lang="ja-JP" altLang="en-US" sz="2000"/>
                  <a:t>元，</a:t>
                </a:r>
                <a:r>
                  <a:rPr lang="ja-JP" altLang="en-US" sz="2000">
                    <a:latin typeface="Google Sans Text"/>
                  </a:rPr>
                  <a:t>生活費的信賴區間估計為：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12,000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±1.96×200→[11,608,12,392]</m:t>
                    </m:r>
                  </m:oMath>
                </a14:m>
                <a:endParaRPr lang="en-US" altLang="ja-JP" sz="2000" dirty="0">
                  <a:latin typeface="Google Sans Text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endParaRPr lang="ja-JP" altLang="en-US" sz="2000">
                  <a:effectLst/>
                  <a:latin typeface="Google Sans Text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62" r="-21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B59-1518-4C2D-ABA7-09A5F449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8387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60B46-553E-18AD-A4BE-E745BAB0C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簡單隨機抽樣（四）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457200" indent="-457200">
                  <a:lnSpc>
                    <a:spcPct val="150000"/>
                  </a:lnSpc>
                  <a:buAutoNum type="arabicPeriod"/>
                </a:pPr>
                <a:r>
                  <a:rPr lang="ja-JP" altLang="en-US" sz="2000">
                    <a:effectLst/>
                    <a:latin typeface="Google Sans Text"/>
                  </a:rPr>
                  <a:t>為什麼是「</a:t>
                </a:r>
                <a:r>
                  <a:rPr lang="en-US" altLang="ja-JP" sz="2000" dirty="0">
                    <a:effectLst/>
                    <a:latin typeface="Google Sans Text"/>
                  </a:rPr>
                  <a:t>2</a:t>
                </a:r>
                <a:r>
                  <a:rPr lang="ja-JP" altLang="en-US" sz="2000">
                    <a:effectLst/>
                    <a:latin typeface="Google Sans Text"/>
                  </a:rPr>
                  <a:t>」個標準誤？（</a:t>
                </a:r>
                <a:r>
                  <a:rPr lang="en-US" altLang="ja-JP" sz="2000" dirty="0">
                    <a:effectLst/>
                    <a:latin typeface="Google Sans Text"/>
                  </a:rPr>
                  <a:t>68-95-99.7 </a:t>
                </a:r>
                <a:r>
                  <a:rPr lang="ja-JP" altLang="en-US" sz="2000">
                    <a:effectLst/>
                    <a:latin typeface="Google Sans Text"/>
                  </a:rPr>
                  <a:t>法則）在統計學中，當樣本數夠大時，樣本平均數的分佈會趨近於常態分佈。常態分佈有一個特殊的數學比例：加減 </a:t>
                </a:r>
                <a:r>
                  <a:rPr lang="en-US" altLang="ja-JP" sz="2000" dirty="0">
                    <a:effectLst/>
                    <a:latin typeface="Google Sans Text"/>
                  </a:rPr>
                  <a:t>1 </a:t>
                </a:r>
                <a:r>
                  <a:rPr lang="ja-JP" altLang="en-US" sz="2000">
                    <a:effectLst/>
                    <a:latin typeface="Google Sans Text"/>
                  </a:rPr>
                  <a:t>個標準誤：大約涵蓋 </a:t>
                </a:r>
                <a:r>
                  <a:rPr lang="en-US" altLang="ja-JP" sz="2000" dirty="0">
                    <a:effectLst/>
                    <a:latin typeface="Google Sans Text"/>
                  </a:rPr>
                  <a:t>68% </a:t>
                </a:r>
                <a:r>
                  <a:rPr lang="ja-JP" altLang="en-US" sz="2000">
                    <a:effectLst/>
                    <a:latin typeface="Google Sans Text"/>
                  </a:rPr>
                  <a:t>的可能性。加減 </a:t>
                </a:r>
                <a:r>
                  <a:rPr lang="en-US" altLang="ja-JP" sz="2000" dirty="0">
                    <a:effectLst/>
                    <a:latin typeface="Google Sans Text"/>
                  </a:rPr>
                  <a:t>2 </a:t>
                </a:r>
                <a:r>
                  <a:rPr lang="ja-JP" altLang="en-US" sz="2000">
                    <a:effectLst/>
                    <a:latin typeface="Google Sans Text"/>
                  </a:rPr>
                  <a:t>個標準誤：大約涵蓋 </a:t>
                </a:r>
                <a:r>
                  <a:rPr lang="en-US" altLang="ja-JP" sz="2000" dirty="0">
                    <a:effectLst/>
                    <a:latin typeface="Google Sans Text"/>
                  </a:rPr>
                  <a:t>95% </a:t>
                </a:r>
                <a:r>
                  <a:rPr lang="ja-JP" altLang="en-US" sz="2000">
                    <a:effectLst/>
                    <a:latin typeface="Google Sans Text"/>
                  </a:rPr>
                  <a:t>的可能性（更精確的數字是 </a:t>
                </a:r>
                <a:r>
                  <a:rPr lang="en-US" altLang="ja-JP" sz="2000" dirty="0">
                    <a:effectLst/>
                    <a:latin typeface="Google Sans Text"/>
                  </a:rPr>
                  <a:t>$1.96$ </a:t>
                </a:r>
                <a:r>
                  <a:rPr lang="ja-JP" altLang="en-US" sz="2000">
                    <a:effectLst/>
                    <a:latin typeface="Google Sans Text"/>
                  </a:rPr>
                  <a:t>倍）。加減 </a:t>
                </a:r>
                <a:r>
                  <a:rPr lang="en-US" altLang="ja-JP" sz="2000" dirty="0">
                    <a:effectLst/>
                    <a:latin typeface="Google Sans Text"/>
                  </a:rPr>
                  <a:t>3 </a:t>
                </a:r>
                <a:r>
                  <a:rPr lang="ja-JP" altLang="en-US" sz="2000">
                    <a:effectLst/>
                    <a:latin typeface="Google Sans Text"/>
                  </a:rPr>
                  <a:t>個標準誤：大約涵蓋 </a:t>
                </a:r>
                <a:r>
                  <a:rPr lang="en-US" altLang="ja-JP" sz="2000" dirty="0">
                    <a:effectLst/>
                    <a:latin typeface="Google Sans Text"/>
                  </a:rPr>
                  <a:t>99.7% </a:t>
                </a:r>
                <a:r>
                  <a:rPr lang="ja-JP" altLang="en-US" sz="2000">
                    <a:effectLst/>
                    <a:latin typeface="Google Sans Text"/>
                  </a:rPr>
                  <a:t>的可能性。「</a:t>
                </a:r>
                <a:r>
                  <a:rPr lang="en-US" altLang="ja-JP" sz="2000" dirty="0">
                    <a:effectLst/>
                    <a:latin typeface="Google Sans Text"/>
                  </a:rPr>
                  <a:t>2 </a:t>
                </a:r>
                <a:r>
                  <a:rPr lang="ja-JP" altLang="en-US" sz="2000">
                    <a:effectLst/>
                    <a:latin typeface="Google Sans Text"/>
                  </a:rPr>
                  <a:t>個標準誤」之所以成為標準，是因為它在「精確度」與「保險程度」之間取得了一個完美的平衡。它告訴我們：「如果你重複做 </a:t>
                </a:r>
                <a:r>
                  <a:rPr lang="en-US" altLang="ja-JP" sz="2000" dirty="0">
                    <a:effectLst/>
                    <a:latin typeface="Google Sans Text"/>
                  </a:rPr>
                  <a:t>100 </a:t>
                </a:r>
                <a:r>
                  <a:rPr lang="ja-JP" altLang="en-US" sz="2000">
                    <a:effectLst/>
                    <a:latin typeface="Google Sans Text"/>
                  </a:rPr>
                  <a:t>次調查，大約有 </a:t>
                </a:r>
                <a:r>
                  <a:rPr lang="en-US" altLang="ja-JP" sz="2000" dirty="0">
                    <a:effectLst/>
                    <a:latin typeface="Google Sans Text"/>
                  </a:rPr>
                  <a:t>95 </a:t>
                </a:r>
                <a:r>
                  <a:rPr lang="ja-JP" altLang="en-US" sz="2000">
                    <a:effectLst/>
                    <a:latin typeface="Google Sans Text"/>
                  </a:rPr>
                  <a:t>次算出母體真相會落在這個加減 </a:t>
                </a:r>
                <a:r>
                  <a:rPr lang="en-US" altLang="ja-JP" sz="2000" dirty="0">
                    <a:effectLst/>
                    <a:latin typeface="Google Sans Text"/>
                  </a:rPr>
                  <a:t>2 </a:t>
                </a:r>
                <a:r>
                  <a:rPr lang="ja-JP" altLang="en-US" sz="2000">
                    <a:effectLst/>
                    <a:latin typeface="Google Sans Text"/>
                  </a:rPr>
                  <a:t>倍的範圍內。」</a:t>
                </a:r>
                <a:endParaRPr lang="en-US" altLang="ja-JP" sz="2000" dirty="0">
                  <a:effectLst/>
                  <a:latin typeface="Google Sans Text"/>
                </a:endParaRPr>
              </a:p>
              <a:p>
                <a:pPr marL="457200" indent="-457200">
                  <a:lnSpc>
                    <a:spcPct val="150000"/>
                  </a:lnSpc>
                  <a:buAutoNum type="arabicPeriod"/>
                </a:pPr>
                <a:r>
                  <a:rPr lang="ja-JP" altLang="en-US" sz="2000">
                    <a:effectLst/>
                    <a:latin typeface="Google Sans Text"/>
                  </a:rPr>
                  <a:t>標準誤（</a:t>
                </a:r>
                <a:r>
                  <a:rPr lang="en-US" altLang="ja-JP" sz="2000" dirty="0">
                    <a:effectLst/>
                    <a:latin typeface="Google Sans Text"/>
                  </a:rPr>
                  <a:t>Standard Error, SE</a:t>
                </a:r>
                <a:r>
                  <a:rPr lang="ja-JP" altLang="en-US" sz="2000">
                    <a:effectLst/>
                    <a:latin typeface="Google Sans Text"/>
                  </a:rPr>
                  <a:t>）是衡量「估計有多準確」的程度。如果抽樣設計很穩定（例如包含機率 </a:t>
                </a:r>
                <a:r>
                  <a:rPr lang="en-US" altLang="ja-JP" sz="2000" dirty="0">
                    <a:effectLst/>
                    <a:latin typeface="Google Sans Text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ja-JP" altLang="en-US" sz="2000">
                    <a:effectLst/>
                    <a:latin typeface="Google Sans Text"/>
                  </a:rPr>
                  <a:t>很大且平均），</a:t>
                </a:r>
                <a:r>
                  <a:rPr lang="en-US" altLang="ja-JP" sz="2000" dirty="0">
                    <a:effectLst/>
                    <a:latin typeface="Google Sans Text"/>
                  </a:rPr>
                  <a:t>SE </a:t>
                </a:r>
                <a:r>
                  <a:rPr lang="ja-JP" altLang="en-US" sz="2000">
                    <a:effectLst/>
                    <a:latin typeface="Google Sans Text"/>
                  </a:rPr>
                  <a:t>就會很小，代表估計很精確。根據 </a:t>
                </a:r>
                <a:r>
                  <a:rPr lang="en-US" altLang="ja-JP" sz="2000" dirty="0">
                    <a:effectLst/>
                    <a:latin typeface="Google Sans Text"/>
                  </a:rPr>
                  <a:t>H-T </a:t>
                </a:r>
                <a:r>
                  <a:rPr lang="ja-JP" altLang="en-US" sz="2000">
                    <a:effectLst/>
                    <a:latin typeface="Google Sans Text"/>
                  </a:rPr>
                  <a:t>變異數公式，如果你的樣本中出現了「權重極大」的個體</a:t>
                </a:r>
                <a:r>
                  <a:rPr lang="ja-JP" altLang="en-US" sz="2000">
                    <a:latin typeface="Google Sans Text"/>
                  </a:rPr>
                  <a:t>，</a:t>
                </a:r>
                <a:r>
                  <a:rPr lang="ja-JP" altLang="en-US" sz="2000">
                    <a:effectLst/>
                    <a:latin typeface="Google Sans Text"/>
                  </a:rPr>
                  <a:t>會劇烈拉大變異數 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𝐻𝑇</m:t>
                        </m:r>
                      </m:sub>
                    </m:sSub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ja-JP" sz="2000" dirty="0">
                    <a:effectLst/>
                    <a:latin typeface="Google Sans Text"/>
                  </a:rPr>
                  <a:t> </a:t>
                </a:r>
                <a:r>
                  <a:rPr lang="ja-JP" altLang="en-US" sz="2000">
                    <a:effectLst/>
                    <a:latin typeface="Google Sans Text"/>
                  </a:rPr>
                  <a:t>。</a:t>
                </a:r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endParaRPr lang="ja-JP" altLang="en-US" sz="2000">
                  <a:effectLst/>
                  <a:latin typeface="Google Sans Text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r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B59-1518-4C2D-ABA7-09A5F449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7420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69343-5791-A650-E866-2F604E304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常態分佈機率圖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DEE3738-3304-B7A0-D842-5AA5ADEB0A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35079" y="1825625"/>
            <a:ext cx="8521841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E25201-1381-E289-C6CB-2D8BC3788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5150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60B46-553E-18AD-A4BE-E745BAB0C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簡單隨機抽樣（五）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effectLst/>
                    <a:latin typeface="Google Sans Text"/>
                  </a:rPr>
                  <a:t>生活中經常估計比例，例如考生通過考試的比例、一年之中下雨的比例等等。</a:t>
                </a:r>
                <a:r>
                  <a:rPr lang="ja-JP" altLang="en-US" sz="2000">
                    <a:latin typeface="Google Sans Text"/>
                  </a:rPr>
                  <a:t>或者抽樣出</a:t>
                </a:r>
                <a:r>
                  <a:rPr lang="en-US" altLang="ja-JP" sz="2000" dirty="0">
                    <a:latin typeface="Google Sans Text"/>
                  </a:rPr>
                  <a:t>100</a:t>
                </a:r>
                <a:r>
                  <a:rPr lang="ja-JP" altLang="en-US" sz="2000">
                    <a:latin typeface="Google Sans Text"/>
                  </a:rPr>
                  <a:t>位受訪者，詢問他們是否支持週休三天的政策。</a:t>
                </a:r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估計式寫成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acc>
                          <m:accPr>
                            <m:chr m:val="̅"/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</m:d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ja-JP" altLang="en-US" sz="2000">
                    <a:effectLst/>
                    <a:latin typeface="Google Sans Text"/>
                  </a:rPr>
                  <a:t>，例如</a:t>
                </a:r>
                <a:r>
                  <a:rPr lang="en-US" altLang="ja-JP" sz="2000" dirty="0">
                    <a:latin typeface="Google Sans Text"/>
                  </a:rPr>
                  <a:t>100</a:t>
                </a:r>
                <a:r>
                  <a:rPr lang="ja-JP" altLang="en-US" sz="2000">
                    <a:latin typeface="Google Sans Text"/>
                  </a:rPr>
                  <a:t>位受訪者中，只有</a:t>
                </a:r>
                <a:r>
                  <a:rPr lang="en-US" altLang="ja-JP" sz="2000" dirty="0">
                    <a:latin typeface="Google Sans Text"/>
                  </a:rPr>
                  <a:t>30</a:t>
                </a:r>
                <a:r>
                  <a:rPr lang="ja-JP" altLang="en-US" sz="2000">
                    <a:latin typeface="Google Sans Text"/>
                  </a:rPr>
                  <a:t>位贊成，記為</a:t>
                </a:r>
                <a:r>
                  <a:rPr lang="en-US" altLang="ja-JP" sz="2000" dirty="0">
                    <a:latin typeface="Google Sans Text"/>
                  </a:rPr>
                  <a:t>1</a:t>
                </a:r>
                <a:r>
                  <a:rPr lang="ja-JP" altLang="en-US" sz="2000">
                    <a:latin typeface="Google Sans Text"/>
                  </a:rPr>
                  <a:t>，</a:t>
                </a:r>
                <a:r>
                  <a:rPr lang="en-US" altLang="ja-JP" sz="2000" dirty="0">
                    <a:latin typeface="Google Sans Text"/>
                  </a:rPr>
                  <a:t>70</a:t>
                </a:r>
                <a:r>
                  <a:rPr lang="ja-JP" altLang="en-US" sz="2000">
                    <a:latin typeface="Google Sans Text"/>
                  </a:rPr>
                  <a:t>位不贊成的值是</a:t>
                </a:r>
                <a:r>
                  <a:rPr lang="en-US" altLang="ja-JP" sz="2000" dirty="0">
                    <a:latin typeface="Google Sans Text"/>
                  </a:rPr>
                  <a:t>0</a:t>
                </a:r>
                <a:r>
                  <a:rPr lang="ja-JP" altLang="en-US" sz="2000">
                    <a:latin typeface="Google Sans Text"/>
                  </a:rPr>
                  <a:t>，平均值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ja-JP" alt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30</m:t>
                        </m:r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×1+70×0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den>
                    </m:f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=0.3</m:t>
                    </m:r>
                  </m:oMath>
                </a14:m>
                <a:r>
                  <a:rPr lang="ja-JP" altLang="en-US" sz="2000" dirty="0">
                    <a:effectLst/>
                    <a:latin typeface="Google Sans Text"/>
                  </a:rPr>
                  <a:t>。</a:t>
                </a:r>
                <a14:m>
                  <m:oMath xmlns:m="http://schemas.openxmlformats.org/officeDocument/2006/math">
                    <m:r>
                      <a:rPr lang="en-US" altLang="ja-JP" sz="2000" b="0" i="1" dirty="0" smtClean="0">
                        <a:effectLst/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ja-JP" sz="2000" b="0" i="1" dirty="0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ja-JP" sz="2000" b="0" i="1" dirty="0" smtClean="0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000" b="0" i="1" dirty="0" smtClean="0">
                            <a:effectLst/>
                            <a:latin typeface="Cambria Math" panose="02040503050406030204" pitchFamily="18" charset="0"/>
                          </a:rPr>
                          <m:t>100</m:t>
                        </m:r>
                        <m:r>
                          <a:rPr lang="en-US" altLang="ja-JP" sz="2000" b="0" i="1" dirty="0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∙0.3</m:t>
                        </m:r>
                      </m:e>
                    </m:d>
                    <m:r>
                      <a:rPr lang="en-US" altLang="ja-JP" sz="2000" b="0" i="1" dirty="0" smtClean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%=30%</m:t>
                    </m:r>
                  </m:oMath>
                </a14:m>
                <a:r>
                  <a:rPr lang="ja-JP" altLang="en-US" sz="2000">
                    <a:effectLst/>
                    <a:latin typeface="Google Sans Text"/>
                  </a:rPr>
                  <a:t>。用這個樣本估計值推論母體。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effectLst/>
                    <a:latin typeface="Google Sans Text"/>
                  </a:rPr>
                  <a:t>變異數：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𝑓</m:t>
                        </m:r>
                      </m:num>
                      <m:den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(100−</m:t>
                    </m:r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zh-TW" altLang="en-US" sz="2000" dirty="0">
                    <a:effectLst/>
                    <a:latin typeface="Google Sans Text"/>
                  </a:rPr>
                  <a:t> 。</a:t>
                </a:r>
                <a14:m>
                  <m:oMath xmlns:m="http://schemas.openxmlformats.org/officeDocument/2006/math">
                    <m:r>
                      <a:rPr lang="en-US" altLang="zh-TW" sz="2000" b="0" i="1" dirty="0" smtClean="0">
                        <a:effectLst/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zh-TW" altLang="en-US" sz="2000" dirty="0">
                    <a:effectLst/>
                    <a:latin typeface="Google Sans Text"/>
                  </a:rPr>
                  <a:t>是樣本佔母體的比例，因為比例可能接近</a:t>
                </a:r>
                <a:r>
                  <a:rPr lang="en-US" altLang="zh-TW" sz="2000" dirty="0">
                    <a:effectLst/>
                    <a:latin typeface="Google Sans Text"/>
                  </a:rPr>
                  <a:t>0</a:t>
                </a:r>
                <a:r>
                  <a:rPr lang="zh-TW" altLang="en-US" sz="2000" dirty="0">
                    <a:effectLst/>
                    <a:latin typeface="Google Sans Text"/>
                  </a:rPr>
                  <a:t>，所以可以忽略</a:t>
                </a:r>
                <a14:m>
                  <m:oMath xmlns:m="http://schemas.openxmlformats.org/officeDocument/2006/math"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zh-TW" altLang="en-US" sz="2000" dirty="0">
                    <a:effectLst/>
                    <a:latin typeface="Google Sans Text"/>
                  </a:rPr>
                  <a:t>。</a:t>
                </a:r>
                <a:endParaRPr lang="en-US" altLang="ja-JP" sz="2000" dirty="0">
                  <a:effectLst/>
                  <a:latin typeface="Google Sans Tex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r="-4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B59-1518-4C2D-ABA7-09A5F449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50239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60B46-553E-18AD-A4BE-E745BAB0C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抽樣數（一）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樣本數越大，樣本估計越準確，但是也需要更多成本。</a:t>
                </a:r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最小樣本數的計算公式：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1.96</m:t>
                                </m:r>
                              </m:num>
                              <m:den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(1−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ja-JP" sz="2000" dirty="0">
                    <a:latin typeface="Google Sans Text"/>
                  </a:rPr>
                  <a:t>  </a:t>
                </a:r>
                <a:r>
                  <a:rPr lang="ja-JP" altLang="en-US" sz="2000" dirty="0">
                    <a:latin typeface="Google Sans Text"/>
                  </a:rPr>
                  <a:t>。其</a:t>
                </a:r>
                <a:r>
                  <a:rPr lang="ja-JP" altLang="en-US" sz="2000">
                    <a:latin typeface="Google Sans Text"/>
                  </a:rPr>
                  <a:t>中，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ja-JP" altLang="en-US" sz="2000">
                    <a:latin typeface="Google Sans Text"/>
                  </a:rPr>
                  <a:t>代表抽樣誤差，通常設定為</a:t>
                </a:r>
                <a:r>
                  <a:rPr lang="en-US" altLang="ja-JP" sz="2000" dirty="0">
                    <a:latin typeface="Google Sans Text"/>
                  </a:rPr>
                  <a:t>3%</a:t>
                </a:r>
                <a:r>
                  <a:rPr lang="ja-JP" altLang="en-US" sz="2000">
                    <a:latin typeface="Google Sans Text"/>
                  </a:rPr>
                  <a:t>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TW" altLang="en-US" sz="2000" dirty="0">
                    <a:effectLst/>
                    <a:latin typeface="Google Sans Text"/>
                  </a:rPr>
                  <a:t>例如，上一次的調查顯示</a:t>
                </a:r>
                <a:r>
                  <a:rPr lang="en-US" altLang="zh-TW" sz="2000" dirty="0">
                    <a:effectLst/>
                    <a:latin typeface="Google Sans Text"/>
                  </a:rPr>
                  <a:t>21%</a:t>
                </a:r>
                <a:r>
                  <a:rPr lang="zh-TW" altLang="en-US" sz="2000" dirty="0">
                    <a:effectLst/>
                    <a:latin typeface="Google Sans Text"/>
                  </a:rPr>
                  <a:t>的受訪者曾經使用</a:t>
                </a:r>
                <a:r>
                  <a:rPr lang="en-US" altLang="zh-TW" sz="2000" dirty="0">
                    <a:effectLst/>
                    <a:latin typeface="Google Sans Text"/>
                  </a:rPr>
                  <a:t>AI</a:t>
                </a:r>
                <a:r>
                  <a:rPr lang="zh-TW" altLang="en-US" sz="2000" dirty="0">
                    <a:effectLst/>
                    <a:latin typeface="Google Sans Text"/>
                  </a:rPr>
                  <a:t>，那麼如果要做新的民調需要多少樣本數？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effectLst/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zh-TW" sz="2000" b="0" i="1" smtClean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en-US" altLang="zh-TW" sz="2000" b="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TW" sz="2000" b="0" i="1" smtClean="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2000" b="0" i="1" smtClean="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b="0" i="1" smtClean="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1.96</m:t>
                                </m:r>
                              </m:num>
                              <m:den>
                                <m:r>
                                  <a:rPr lang="en-US" altLang="zh-TW" sz="2000" b="0" i="1" smtClean="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3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en-US" altLang="zh-TW" sz="2000" b="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zh-TW" sz="2000" b="0" i="1" smtClean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21×79=708.1</m:t>
                    </m:r>
                  </m:oMath>
                </a14:m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effectLst/>
                    <a:latin typeface="Google Sans Text"/>
                  </a:rPr>
                  <a:t>估計樣本平均值的樣本數需要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1.96</m:t>
                                </m:r>
                                <m: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num>
                              <m:den>
                                <m: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ja-JP" sz="2000" dirty="0">
                    <a:effectLst/>
                    <a:latin typeface="Google Sans Text"/>
                  </a:rPr>
                  <a:t> </a:t>
                </a:r>
                <a:r>
                  <a:rPr lang="ja-JP" altLang="en-US" sz="2000" dirty="0">
                    <a:effectLst/>
                    <a:latin typeface="Google Sans Text"/>
                  </a:rPr>
                  <a:t>其</a:t>
                </a:r>
                <a:r>
                  <a:rPr lang="ja-JP" altLang="en-US" sz="2000">
                    <a:effectLst/>
                    <a:latin typeface="Google Sans Text"/>
                  </a:rPr>
                  <a:t>中，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ja-JP" altLang="en-US" sz="2000">
                    <a:effectLst/>
                    <a:latin typeface="Google Sans Text"/>
                  </a:rPr>
                  <a:t>代表母體的變異數。</a:t>
                </a:r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effectLst/>
                    <a:latin typeface="Google Sans Text"/>
                  </a:rPr>
                  <a:t>先隨機抽取一小批人（例如 </a:t>
                </a:r>
                <a:r>
                  <a:rPr lang="en-US" altLang="ja-JP" sz="2000" dirty="0">
                    <a:effectLst/>
                    <a:latin typeface="Google Sans Text"/>
                  </a:rPr>
                  <a:t>30~50 </a:t>
                </a:r>
                <a:r>
                  <a:rPr lang="ja-JP" altLang="en-US" sz="2000">
                    <a:effectLst/>
                    <a:latin typeface="Google Sans Text"/>
                  </a:rPr>
                  <a:t>人）進行小規模預測調查，再決定正式調查的樣本數。</a:t>
                </a:r>
                <a:endParaRPr lang="en-US" altLang="ja-JP" sz="2000" dirty="0">
                  <a:effectLst/>
                  <a:latin typeface="Google Sans Tex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r="-2413" b="-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B59-1518-4C2D-ABA7-09A5F449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8031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05295-9EAE-0C08-2338-F1412883A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A38AA-4092-7A98-23FF-6DFA5DF44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分層抽樣（一）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13E33E-8198-B80A-A27B-92AC8F3C1AD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把母體分成一些群體，群體之間的差異盡可能放大，群體內的差異盡可能縮小，稱為分層</a:t>
                </a:r>
                <a:r>
                  <a:rPr lang="en-US" altLang="ja-JP" sz="2000" dirty="0">
                    <a:latin typeface="Google Sans Text"/>
                  </a:rPr>
                  <a:t>(strata)</a:t>
                </a:r>
                <a:r>
                  <a:rPr lang="ja-JP" altLang="en-US" sz="2000">
                    <a:latin typeface="Google Sans Text"/>
                  </a:rPr>
                  <a:t>。每一層抽出的樣本都可以計算無偏的平均值與變異數，組合起來成為可以推估母體的平均值與變異數。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/>
                  <a:t>母體每一層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ja-JP" altLang="en-US" sz="2000"/>
                  <a:t>的平均數：</a:t>
                </a:r>
                <a:r>
                  <a:rPr lang="en-US" altLang="ja-JP" sz="2000" b="0" dirty="0">
                    <a:effectLst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̅"/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p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den>
                    </m:f>
                    <m:nary>
                      <m:naryPr>
                        <m:chr m:val="∑"/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sSub>
                          <m:sSubPr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sup>
                      <m:e>
                        <m:sSup>
                          <m:sSupPr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  <m:sup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altLang="ja-JP" sz="2000" dirty="0"/>
                  <a:t> </a:t>
                </a:r>
                <a:r>
                  <a:rPr lang="ja-JP" altLang="en-US" sz="2000"/>
                  <a:t>母體的平均數：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0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ja-JP" altLang="en-US" sz="2000" i="1">
                            <a:latin typeface="Cambria Math" panose="02040503050406030204" pitchFamily="18" charset="0"/>
                          </a:rPr>
                          <m:t>Ｙ</m:t>
                        </m:r>
                      </m:e>
                    </m:acc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  <m:e>
                        <m:sSub>
                          <m:sSubPr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  <m:sSup>
                          <m:sSupPr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̅"/>
                                <m:ctrlP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</m:acc>
                          </m:e>
                          <m:sup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</m:e>
                    </m:nary>
                  </m:oMath>
                </a14:m>
                <a:endParaRPr lang="en-US" altLang="ja-JP" sz="2000" b="0" dirty="0">
                  <a:effectLst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effectLst/>
                    <a:latin typeface="Google Sans Text"/>
                  </a:rPr>
                  <a:t>每一層樣本的平均數，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en-US" altLang="ja-JP" sz="2000" b="0" i="1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  <m:e>
                        <m:sSub>
                          <m:sSubPr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  <m:sSup>
                          <m:sSupPr>
                            <m:ctrlP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̅"/>
                                <m:ctrlP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000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p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altLang="ja-JP" sz="2000" b="0" i="1" smtClean="0">
                                <a:effectLst/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</m:e>
                    </m:nary>
                  </m:oMath>
                </a14:m>
                <a:r>
                  <a:rPr lang="zh-TW" altLang="en-US" sz="2000" dirty="0">
                    <a:effectLst/>
                    <a:latin typeface="Google Sans Text"/>
                  </a:rPr>
                  <a:t> </a:t>
                </a:r>
                <a:r>
                  <a:rPr lang="ja-JP" altLang="en-US" sz="2000">
                    <a:effectLst/>
                    <a:latin typeface="Google Sans Text"/>
                  </a:rPr>
                  <a:t>可推估母體平均數。</a:t>
                </a:r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每一層樣本平均數的變異程度：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altLang="ja-JP" sz="20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0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ja-JP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</m:e>
                    </m:d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ja-JP" sz="20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altLang="ja-JP" sz="20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altLang="ja-JP" sz="2000" dirty="0"/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altLang="ja-JP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ja-JP" sz="2000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  <m:e>
                        <m:sSubSup>
                          <m:sSubSupPr>
                            <m:ctrlPr>
                              <a:rPr lang="en-US" altLang="ja-JP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  <m:sup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f>
                          <m:fPr>
                            <m:ctrlPr>
                              <a:rPr lang="en-US" altLang="ja-JP" sz="20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ja-JP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den>
                        </m:f>
                        <m:sSubSup>
                          <m:sSubSupPr>
                            <m:ctrlPr>
                              <a:rPr lang="en-US" altLang="ja-JP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  <m:sup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nary>
                    <m:r>
                      <a:rPr lang="zh-TW" alt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altLang="ja-JP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  <m:sup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ja-JP" altLang="en-US" sz="2000" dirty="0">
                    <a:latin typeface="Google Sans Text"/>
                  </a:rPr>
                  <a:t>代表該分層裡面的變異程度。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需要可抽樣的清單，才能加以分層。例如，把台灣的鄉鎮市區按照都市化程度分層，在中選的層之中，抽出村里。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實務上，一個層之中有比較難進行訪問的鄉鎮市區，可以考慮挑選比較容易訪問的，但是最後要注意區域的均衡。</a:t>
                </a:r>
                <a:endParaRPr lang="en-US" altLang="ja-JP" sz="2000" dirty="0">
                  <a:latin typeface="Google Sans Text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13E33E-8198-B80A-A27B-92AC8F3C1AD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02FD09-9E03-78BE-CC5C-027BA33D3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18083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05295-9EAE-0C08-2338-F1412883A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A38AA-4092-7A98-23FF-6DFA5DF44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分層抽樣（二）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13E33E-8198-B80A-A27B-92AC8F3C1AD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分層抽樣可以結合系統抽樣。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第一階段：分層 </a:t>
                </a:r>
                <a:r>
                  <a:rPr lang="en-US" altLang="ja-JP" sz="2000" dirty="0">
                    <a:latin typeface="Google Sans Text"/>
                  </a:rPr>
                  <a:t>(Stratification)</a:t>
                </a:r>
                <a:r>
                  <a:rPr lang="ja-JP" altLang="en-US" sz="2000">
                    <a:latin typeface="Google Sans Text"/>
                  </a:rPr>
                  <a:t>根據母體已知的重要特徵（與調查主題相關的變數），將母體名冊分成不重疊的組別。例子： 若要調查「大學生生活費」，先按「學院」（外語、理、資訊、商、教育、社科、創國）分成</a:t>
                </a:r>
                <a:r>
                  <a:rPr lang="en-US" altLang="ja-JP" sz="2000" dirty="0">
                    <a:latin typeface="Google Sans Text"/>
                  </a:rPr>
                  <a:t>7</a:t>
                </a:r>
                <a:r>
                  <a:rPr lang="ja-JP" altLang="en-US" sz="2000">
                    <a:latin typeface="Google Sans Text"/>
                  </a:rPr>
                  <a:t>層。每一種學院的學生都能按比例被抽到。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第二階段：層內排序 </a:t>
                </a:r>
                <a:r>
                  <a:rPr lang="en-US" altLang="ja-JP" sz="2000" dirty="0">
                    <a:latin typeface="Google Sans Text"/>
                  </a:rPr>
                  <a:t>(Sorting within Strata)</a:t>
                </a:r>
                <a:r>
                  <a:rPr lang="ja-JP" altLang="en-US" sz="2000">
                    <a:latin typeface="Google Sans Text"/>
                  </a:rPr>
                  <a:t> 。在每一層內，將名冊依照某種「次要變數」進行排序（例如：系的人數）， 確保大系的樣本數比較多。</a:t>
                </a:r>
                <a:endParaRPr lang="en-US" altLang="ja-JP" sz="2000" dirty="0">
                  <a:latin typeface="Google Sans Text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>
                    <a:latin typeface="Google Sans Text"/>
                  </a:rPr>
                  <a:t>第三階段：系統抽樣 </a:t>
                </a:r>
                <a:r>
                  <a:rPr lang="en-US" altLang="ja-JP" sz="2000" dirty="0">
                    <a:latin typeface="Google Sans Text"/>
                  </a:rPr>
                  <a:t>(Systematic Selection)</a:t>
                </a:r>
                <a:r>
                  <a:rPr lang="ja-JP" altLang="en-US" sz="2000">
                    <a:latin typeface="Google Sans Text"/>
                  </a:rPr>
                  <a:t>在每一層內分別執行系統抽樣：計算抽樣間隔 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den>
                    </m:f>
                  </m:oMath>
                </a14:m>
                <a:r>
                  <a:rPr lang="ja-JP" altLang="en-US" sz="2000">
                    <a:latin typeface="Google Sans Text"/>
                  </a:rPr>
                  <a:t>（該層總人數 </a:t>
                </a:r>
                <a:r>
                  <a:rPr lang="en-US" altLang="ja-JP" sz="2000" dirty="0">
                    <a:latin typeface="Google Sans Text"/>
                  </a:rPr>
                  <a:t>/ </a:t>
                </a:r>
                <a:r>
                  <a:rPr lang="ja-JP" altLang="en-US" sz="2000">
                    <a:latin typeface="Google Sans Text"/>
                  </a:rPr>
                  <a:t>該層應抽人數）。隨機選取一個起始點 </a:t>
                </a:r>
                <a14:m>
                  <m:oMath xmlns:m="http://schemas.openxmlformats.org/officeDocument/2006/math"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ja-JP" altLang="en-US" sz="2000">
                    <a:latin typeface="Google Sans Text"/>
                  </a:rPr>
                  <a:t>。每隔 </a:t>
                </a:r>
                <a:r>
                  <a:rPr lang="en-US" altLang="ja-JP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en-US" altLang="ja-JP" sz="2000" dirty="0">
                    <a:latin typeface="Google Sans Text"/>
                  </a:rPr>
                  <a:t> </a:t>
                </a:r>
                <a:r>
                  <a:rPr lang="ja-JP" altLang="en-US" sz="2000">
                    <a:latin typeface="Google Sans Text"/>
                  </a:rPr>
                  <a:t>個人抽一個，直到完成該層配額。</a:t>
                </a:r>
                <a:endParaRPr lang="en-US" altLang="ja-JP" sz="2000" dirty="0">
                  <a:latin typeface="Google Sans Tex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13E33E-8198-B80A-A27B-92AC8F3C1AD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83" b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02FD09-9E03-78BE-CC5C-027BA33D3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4211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FFA82-5FF3-F28E-84BF-024BAB71A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BCC34-601C-CB89-85AA-CA2D1998D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集群抽樣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D5815E-3ECC-D100-8CCB-1C56735214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ja-JP" altLang="en-US" sz="2000">
                <a:latin typeface="Google Sans Text"/>
              </a:rPr>
              <a:t>把母體分成一些群體，但是沒有可抽樣的清單，也不知道群體內的觀察值有多少。</a:t>
            </a:r>
            <a:endParaRPr lang="en-US" altLang="ja-JP" sz="2000" dirty="0">
              <a:latin typeface="Google Sans Text"/>
            </a:endParaRPr>
          </a:p>
          <a:p>
            <a:pPr>
              <a:lnSpc>
                <a:spcPct val="150000"/>
              </a:lnSpc>
            </a:pPr>
            <a:r>
              <a:rPr lang="ja-JP" altLang="en-US" sz="2000">
                <a:latin typeface="Google Sans Text"/>
              </a:rPr>
              <a:t>例如：想調查全台灣大學生的政治知識，但是沒辦法取得全台灣所有學生的名冊（底冊）。 集群抽樣將各個大學視為一個個集群（</a:t>
            </a:r>
            <a:r>
              <a:rPr lang="en-US" altLang="ja-JP" sz="2000" dirty="0">
                <a:latin typeface="Google Sans Text"/>
              </a:rPr>
              <a:t>Cluster</a:t>
            </a:r>
            <a:r>
              <a:rPr lang="ja-JP" altLang="en-US" sz="2000">
                <a:latin typeface="Google Sans Text"/>
              </a:rPr>
              <a:t>）。從 </a:t>
            </a:r>
            <a:r>
              <a:rPr lang="en-US" altLang="ja-JP" sz="2000" dirty="0">
                <a:latin typeface="Google Sans Text"/>
              </a:rPr>
              <a:t>150 </a:t>
            </a:r>
            <a:r>
              <a:rPr lang="ja-JP" altLang="en-US" sz="2000">
                <a:latin typeface="Google Sans Text"/>
              </a:rPr>
              <a:t>多所大學中，隨機抽取出 </a:t>
            </a:r>
            <a:r>
              <a:rPr lang="en-US" altLang="ja-JP" sz="2000" dirty="0">
                <a:latin typeface="Google Sans Text"/>
              </a:rPr>
              <a:t>5 </a:t>
            </a:r>
            <a:r>
              <a:rPr lang="ja-JP" altLang="en-US" sz="2000">
                <a:latin typeface="Google Sans Text"/>
              </a:rPr>
              <a:t>所學校。 針對這 </a:t>
            </a:r>
            <a:r>
              <a:rPr lang="en-US" altLang="ja-JP" sz="2000" dirty="0">
                <a:latin typeface="Google Sans Text"/>
              </a:rPr>
              <a:t>5 </a:t>
            </a:r>
            <a:r>
              <a:rPr lang="ja-JP" altLang="en-US" sz="2000">
                <a:latin typeface="Google Sans Text"/>
              </a:rPr>
              <a:t>所學校裡面的「所有學生」進行調查，用這</a:t>
            </a:r>
            <a:r>
              <a:rPr lang="en-US" altLang="ja-JP" sz="2000" dirty="0">
                <a:latin typeface="Google Sans Text"/>
              </a:rPr>
              <a:t>5</a:t>
            </a:r>
            <a:r>
              <a:rPr lang="ja-JP" altLang="en-US" sz="2000">
                <a:latin typeface="Google Sans Text"/>
              </a:rPr>
              <a:t>所學校的學生代表所有的大學生。</a:t>
            </a:r>
            <a:endParaRPr lang="en-US" altLang="ja-JP" sz="2000" dirty="0">
              <a:latin typeface="Google Sans Text"/>
            </a:endParaRPr>
          </a:p>
          <a:p>
            <a:pPr>
              <a:lnSpc>
                <a:spcPct val="150000"/>
              </a:lnSpc>
            </a:pPr>
            <a:r>
              <a:rPr lang="ja-JP" altLang="en-US" sz="2000">
                <a:latin typeface="Google Sans Text"/>
              </a:rPr>
              <a:t>例如：想調查手機使用者的體驗，但是沒有手機門號的名冊，也不知道到底有哪些門號，只能將已知的特定的號碼區段視為集群，然後抽出一定的門號特定的號碼區段之後進行調查。</a:t>
            </a:r>
            <a:endParaRPr lang="en-US" altLang="ja-JP" sz="2000" dirty="0">
              <a:latin typeface="Google Sans Text"/>
            </a:endParaRPr>
          </a:p>
          <a:p>
            <a:pPr>
              <a:lnSpc>
                <a:spcPct val="150000"/>
              </a:lnSpc>
            </a:pPr>
            <a:r>
              <a:rPr lang="ja-JP" altLang="en-US" sz="2000">
                <a:latin typeface="Google Sans Text"/>
              </a:rPr>
              <a:t>分層抽樣：希望「層內異質性低」（層內越像越好），因為這樣每一層只要抽幾個人就很準。</a:t>
            </a:r>
          </a:p>
          <a:p>
            <a:pPr>
              <a:lnSpc>
                <a:spcPct val="150000"/>
              </a:lnSpc>
            </a:pPr>
            <a:r>
              <a:rPr lang="ja-JP" altLang="en-US" sz="2000">
                <a:latin typeface="Google Sans Text"/>
              </a:rPr>
              <a:t>集群抽樣：希望「層內異質性高」（群體內越雜越好），因為這樣抽中一個群體就能看到整個世界的縮影。</a:t>
            </a:r>
            <a:endParaRPr lang="en-US" altLang="ja-JP" sz="2000" dirty="0">
              <a:latin typeface="Google Sans Text"/>
            </a:endParaRPr>
          </a:p>
          <a:p>
            <a:pPr>
              <a:lnSpc>
                <a:spcPct val="150000"/>
              </a:lnSpc>
            </a:pPr>
            <a:endParaRPr lang="en-US" altLang="ja-JP" sz="2000" dirty="0">
              <a:latin typeface="Google Sans Tex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677DDA-821F-27C1-DE27-756C20968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9772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FFA82-5FF3-F28E-84BF-024BAB71A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BCC34-601C-CB89-85AA-CA2D1998D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兩階段抽樣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D5815E-3ECC-D100-8CCB-1C56735214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ja-JP" altLang="en-US" sz="2000">
                <a:latin typeface="Google Sans Text"/>
              </a:rPr>
              <a:t>集群抽樣的好處是鎖定特定群體，不像分層抽樣，可能要在每一層到處調查。</a:t>
            </a:r>
            <a:endParaRPr lang="en-US" altLang="ja-JP" sz="2000" dirty="0">
              <a:latin typeface="Google Sans Text"/>
            </a:endParaRPr>
          </a:p>
          <a:p>
            <a:pPr>
              <a:lnSpc>
                <a:spcPct val="150000"/>
              </a:lnSpc>
            </a:pPr>
            <a:r>
              <a:rPr lang="ja-JP" altLang="en-US" sz="2000">
                <a:latin typeface="Google Sans Text"/>
              </a:rPr>
              <a:t>因此，兩階段抽樣集群以及隨機抽樣，分兩個步驟進行：</a:t>
            </a:r>
          </a:p>
          <a:p>
            <a:pPr>
              <a:lnSpc>
                <a:spcPct val="150000"/>
              </a:lnSpc>
            </a:pPr>
            <a:r>
              <a:rPr lang="ja-JP" altLang="en-US" sz="2000">
                <a:latin typeface="Google Sans Text"/>
              </a:rPr>
              <a:t>第一階段 </a:t>
            </a:r>
            <a:r>
              <a:rPr lang="en-US" altLang="ja-JP" sz="2000" dirty="0">
                <a:latin typeface="Google Sans Text"/>
              </a:rPr>
              <a:t>(First Stage)</a:t>
            </a:r>
            <a:r>
              <a:rPr lang="ja-JP" altLang="en-US" sz="2000">
                <a:latin typeface="Google Sans Text"/>
              </a:rPr>
              <a:t>： 將母體分成多個群體（稱為初級抽樣單位，</a:t>
            </a:r>
            <a:r>
              <a:rPr lang="en-US" altLang="ja-JP" sz="2000" dirty="0">
                <a:latin typeface="Google Sans Text"/>
              </a:rPr>
              <a:t>PSU</a:t>
            </a:r>
            <a:r>
              <a:rPr lang="ja-JP" altLang="en-US" sz="2000">
                <a:latin typeface="Google Sans Text"/>
              </a:rPr>
              <a:t>），並從中隨機抽取一部分群體。</a:t>
            </a:r>
          </a:p>
          <a:p>
            <a:pPr>
              <a:lnSpc>
                <a:spcPct val="150000"/>
              </a:lnSpc>
            </a:pPr>
            <a:r>
              <a:rPr lang="ja-JP" altLang="en-US" sz="2000">
                <a:latin typeface="Google Sans Text"/>
              </a:rPr>
              <a:t>第二階段 </a:t>
            </a:r>
            <a:r>
              <a:rPr lang="en-US" altLang="ja-JP" sz="2000" dirty="0">
                <a:latin typeface="Google Sans Text"/>
              </a:rPr>
              <a:t>(Second Stage)</a:t>
            </a:r>
            <a:r>
              <a:rPr lang="ja-JP" altLang="en-US" sz="2000">
                <a:latin typeface="Google Sans Text"/>
              </a:rPr>
              <a:t>： 從被抽中的每個群體中，再隨機抽取一部分個體（稱為次級抽樣單位，</a:t>
            </a:r>
            <a:r>
              <a:rPr lang="en-US" altLang="ja-JP" sz="2000" dirty="0">
                <a:latin typeface="Google Sans Text"/>
              </a:rPr>
              <a:t>SSU</a:t>
            </a:r>
            <a:r>
              <a:rPr lang="ja-JP" altLang="en-US" sz="2000">
                <a:latin typeface="Google Sans Text"/>
              </a:rPr>
              <a:t>）進行調查。</a:t>
            </a:r>
            <a:endParaRPr lang="en-US" altLang="ja-JP" sz="2000" dirty="0">
              <a:latin typeface="Google Sans Text"/>
            </a:endParaRPr>
          </a:p>
          <a:p>
            <a:pPr>
              <a:lnSpc>
                <a:spcPct val="150000"/>
              </a:lnSpc>
            </a:pPr>
            <a:r>
              <a:rPr lang="ja-JP" altLang="en-US" sz="2000">
                <a:latin typeface="Google Sans Text"/>
              </a:rPr>
              <a:t>好處是如果第一階段抽到比較多群，抽樣誤差可能比較小，但是成本也可能比較高。</a:t>
            </a:r>
            <a:endParaRPr lang="en-US" altLang="ja-JP" sz="2000" dirty="0">
              <a:latin typeface="Google Sans Text"/>
            </a:endParaRPr>
          </a:p>
          <a:p>
            <a:pPr>
              <a:lnSpc>
                <a:spcPct val="150000"/>
              </a:lnSpc>
            </a:pPr>
            <a:endParaRPr lang="en-US" altLang="ja-JP" sz="2000" dirty="0">
              <a:latin typeface="Google Sans Tex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677DDA-821F-27C1-DE27-756C20968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97760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DB8A1-2C55-6486-E944-BB963AF72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結論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96E5C1-2BED-73D1-1313-69746A1640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</a:pPr>
            <a:r>
              <a:rPr lang="en-US" sz="2000" dirty="0" err="1"/>
              <a:t>樣本數越大，樣本估計</a:t>
            </a:r>
            <a:r>
              <a:rPr lang="en-US" sz="2000" dirty="0"/>
              <a:t>(estimator)</a:t>
            </a:r>
            <a:r>
              <a:rPr lang="en-US" sz="2000" dirty="0" err="1"/>
              <a:t>的變異數越小，也就是越接近母體</a:t>
            </a:r>
            <a:r>
              <a:rPr lang="en-US" sz="2000" dirty="0"/>
              <a:t>。</a:t>
            </a:r>
          </a:p>
          <a:p>
            <a:pPr>
              <a:lnSpc>
                <a:spcPct val="150000"/>
              </a:lnSpc>
            </a:pPr>
            <a:r>
              <a:rPr lang="en-US" sz="2000" dirty="0" err="1"/>
              <a:t>等比例抽樣只考慮每一層佔全部人數的比例</a:t>
            </a:r>
            <a:r>
              <a:rPr lang="en-US" sz="2000" dirty="0"/>
              <a:t>。</a:t>
            </a:r>
          </a:p>
          <a:p>
            <a:pPr>
              <a:lnSpc>
                <a:spcPct val="150000"/>
              </a:lnSpc>
            </a:pPr>
            <a:r>
              <a:rPr lang="ja-JP" altLang="en-US" sz="2000"/>
              <a:t>因為每一層的特性不同。最適分配在分配樣本時考慮：</a:t>
            </a:r>
            <a:endParaRPr lang="en-US" altLang="ja-JP" sz="2000" dirty="0"/>
          </a:p>
          <a:p>
            <a:pPr marL="457200" indent="-457200">
              <a:lnSpc>
                <a:spcPct val="150000"/>
              </a:lnSpc>
              <a:buFont typeface="+mj-lt"/>
              <a:buAutoNum type="arabicParenR"/>
            </a:pPr>
            <a:r>
              <a:rPr lang="ja-JP" altLang="en-US" sz="2000"/>
              <a:t>層的大小</a:t>
            </a:r>
            <a:r>
              <a:rPr lang="en-US" sz="2000" dirty="0"/>
              <a:t>：</a:t>
            </a:r>
            <a:r>
              <a:rPr lang="ja-JP" altLang="en-US" sz="2000"/>
              <a:t>母體中這一層的人數愈多，分配到的樣本就愈多。</a:t>
            </a:r>
            <a:endParaRPr lang="en-US" altLang="ja-JP" sz="2000" dirty="0"/>
          </a:p>
          <a:p>
            <a:pPr marL="457200" indent="-457200">
              <a:lnSpc>
                <a:spcPct val="150000"/>
              </a:lnSpc>
              <a:buFont typeface="+mj-lt"/>
              <a:buAutoNum type="arabicParenR"/>
            </a:pPr>
            <a:r>
              <a:rPr lang="ja-JP" altLang="en-US" sz="2000"/>
              <a:t>層內的變異程度</a:t>
            </a:r>
            <a:r>
              <a:rPr lang="en-US" sz="2000" dirty="0"/>
              <a:t>：</a:t>
            </a:r>
            <a:r>
              <a:rPr lang="ja-JP" altLang="en-US" sz="2000"/>
              <a:t>如果這一層內部的意見非常分歧（標準差大），我們需要更多樣本才能減少誤差。</a:t>
            </a:r>
            <a:endParaRPr lang="en-US" altLang="ja-JP" sz="2000" dirty="0"/>
          </a:p>
          <a:p>
            <a:pPr>
              <a:lnSpc>
                <a:spcPct val="150000"/>
              </a:lnSpc>
            </a:pPr>
            <a:r>
              <a:rPr lang="ja-JP" altLang="en-US" sz="2000"/>
              <a:t>抽樣的成本</a:t>
            </a:r>
            <a:r>
              <a:rPr lang="en-US" sz="2000" dirty="0"/>
              <a:t>：</a:t>
            </a:r>
            <a:r>
              <a:rPr lang="ja-JP" altLang="en-US" sz="2000"/>
              <a:t>如果抽某一層的人特別貴（例如需要派訪員去偏鄉），就會少抽一點。</a:t>
            </a:r>
            <a:endParaRPr lang="en-US" altLang="ja-JP" sz="2000" dirty="0"/>
          </a:p>
          <a:p>
            <a:pPr>
              <a:lnSpc>
                <a:spcPct val="150000"/>
              </a:lnSpc>
            </a:pPr>
            <a:r>
              <a:rPr lang="ja-JP" altLang="en-US" sz="2000"/>
              <a:t>分層抽樣：層內差異性越小越好</a:t>
            </a:r>
            <a:endParaRPr lang="en-US" altLang="ja-JP" sz="2000" dirty="0"/>
          </a:p>
          <a:p>
            <a:pPr>
              <a:lnSpc>
                <a:spcPct val="150000"/>
              </a:lnSpc>
            </a:pPr>
            <a:r>
              <a:rPr lang="ja-JP" altLang="en-US" sz="2000"/>
              <a:t>集群抽樣：層內差異越大越好</a:t>
            </a:r>
            <a:endParaRPr lang="en-US" sz="20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711099-E7D7-E12A-B16A-60D9B405F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5056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5053</TotalTime>
  <Words>2709</Words>
  <Application>Microsoft Macintosh PowerPoint</Application>
  <PresentationFormat>寬螢幕</PresentationFormat>
  <Paragraphs>188</Paragraphs>
  <Slides>28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10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28</vt:i4>
      </vt:variant>
    </vt:vector>
  </HeadingPairs>
  <TitlesOfParts>
    <vt:vector size="39" baseType="lpstr">
      <vt:lpstr>MingLiU</vt:lpstr>
      <vt:lpstr>PMingLiU</vt:lpstr>
      <vt:lpstr>Google Sans Text</vt:lpstr>
      <vt:lpstr>Angsana New</vt:lpstr>
      <vt:lpstr>Arial</vt:lpstr>
      <vt:lpstr>Calibri</vt:lpstr>
      <vt:lpstr>Calibri Light</vt:lpstr>
      <vt:lpstr>Cambria Math</vt:lpstr>
      <vt:lpstr>Times New Roman</vt:lpstr>
      <vt:lpstr>Wingdings</vt:lpstr>
      <vt:lpstr>Office Theme</vt:lpstr>
      <vt:lpstr>抽樣</vt:lpstr>
      <vt:lpstr>課程目標</vt:lpstr>
      <vt:lpstr>為何要抽樣？</vt:lpstr>
      <vt:lpstr>PowerPoint 簡報</vt:lpstr>
      <vt:lpstr>機率抽樣的元素（一）</vt:lpstr>
      <vt:lpstr>等比例分配抽樣（一）</vt:lpstr>
      <vt:lpstr>等比例分配抽樣（二）</vt:lpstr>
      <vt:lpstr>機率抽樣的元素（二）</vt:lpstr>
      <vt:lpstr>Neyman最適分配(Neyman allocation)</vt:lpstr>
      <vt:lpstr>機率抽樣的元素（三）</vt:lpstr>
      <vt:lpstr>機率抽樣的元素（四）</vt:lpstr>
      <vt:lpstr>機率抽樣的元素（五）</vt:lpstr>
      <vt:lpstr>機率抽樣的元素（六）</vt:lpstr>
      <vt:lpstr>機率抽樣的元素（七）</vt:lpstr>
      <vt:lpstr>機率抽樣的元素（八）</vt:lpstr>
      <vt:lpstr>機率抽樣的元素（九）</vt:lpstr>
      <vt:lpstr>簡單隨機抽樣（一）</vt:lpstr>
      <vt:lpstr>簡單隨機抽樣（二）</vt:lpstr>
      <vt:lpstr>簡單隨機抽樣（三）</vt:lpstr>
      <vt:lpstr>簡單隨機抽樣（四）</vt:lpstr>
      <vt:lpstr>常態分佈機率圖</vt:lpstr>
      <vt:lpstr>簡單隨機抽樣（五）</vt:lpstr>
      <vt:lpstr>抽樣數（一）</vt:lpstr>
      <vt:lpstr>分層抽樣（一）</vt:lpstr>
      <vt:lpstr>分層抽樣（二）</vt:lpstr>
      <vt:lpstr>集群抽樣</vt:lpstr>
      <vt:lpstr>兩階段抽樣</vt:lpstr>
      <vt:lpstr>結論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民意與調查</dc:title>
  <dc:creator>Chia-hung Tsai</dc:creator>
  <cp:lastModifiedBy>CHT</cp:lastModifiedBy>
  <cp:revision>68</cp:revision>
  <dcterms:created xsi:type="dcterms:W3CDTF">2025-11-29T03:50:16Z</dcterms:created>
  <dcterms:modified xsi:type="dcterms:W3CDTF">2026-04-08T04:36:04Z</dcterms:modified>
</cp:coreProperties>
</file>