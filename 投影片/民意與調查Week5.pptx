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9" r:id="rId3"/>
    <p:sldId id="260" r:id="rId4"/>
    <p:sldId id="271" r:id="rId5"/>
    <p:sldId id="264" r:id="rId6"/>
    <p:sldId id="273" r:id="rId7"/>
    <p:sldId id="281" r:id="rId8"/>
    <p:sldId id="274" r:id="rId9"/>
    <p:sldId id="282" r:id="rId10"/>
    <p:sldId id="275" r:id="rId11"/>
    <p:sldId id="276" r:id="rId12"/>
    <p:sldId id="277" r:id="rId13"/>
    <p:sldId id="278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7" d="100"/>
          <a:sy n="107" d="100"/>
        </p:scale>
        <p:origin x="7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抽樣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</a:t>
            </a:r>
            <a:r>
              <a:rPr lang="en-US"/>
              <a:t>/25/2025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為何要抽樣？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抽樣方法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推論統計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為何要抽樣？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早在巴比倫時代，當時的人想要對農耕的方式與面積進行調查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工業革命之前，人口不多，可以把全國分成若干區域進行全體人口的調查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(census)。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人口增加之後，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調查全體母體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變得</a:t>
            </a:r>
            <a:r>
              <a:rPr lang="en-US" altLang="zh-TW" sz="2000" dirty="0" err="1">
                <a:latin typeface="MingLiU" panose="02020509000000000000" pitchFamily="49" charset="-120"/>
                <a:ea typeface="MingLiU" panose="02020509000000000000" pitchFamily="49" charset="-120"/>
              </a:rPr>
              <a:t>不可行</a:t>
            </a:r>
            <a:r>
              <a:rPr lang="zh-TW" alt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。因此從</a:t>
            </a: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1895年到1934年，學者開始討論抽樣調查的方法，包括立意抽樣，也就是根據普查把全國一直細分到街道進行抽樣。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到了1940年代，機率抽樣成為主流，政府與民調公司從母體中抽取部分的樣本，透過電話、面對面、郵寄問卷進行調查。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>
                <a:latin typeface="MingLiU" panose="02020509000000000000" pitchFamily="49" charset="-120"/>
                <a:ea typeface="MingLiU" panose="02020509000000000000" pitchFamily="49" charset="-120"/>
              </a:rPr>
              <a:t>到了1970年代，以電腦輔助的電話訪問(CATI)開始流行。1982年出現網際網路，開始有人使用email進行調查。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9251C1C1-BCDC-0FFC-A3C6-ACED3BC6A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469BFB84-0026-A6D9-C983-8B42842848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630984"/>
            <a:ext cx="10515600" cy="763708"/>
          </a:xfrm>
        </p:spPr>
        <p:txBody>
          <a:bodyPr>
            <a:normAutofit/>
          </a:bodyPr>
          <a:lstStyle/>
          <a:p>
            <a:r>
              <a:rPr lang="en" altLang="zh-TW" dirty="0">
                <a:solidFill>
                  <a:schemeClr val="tx1"/>
                </a:solidFill>
              </a:rPr>
              <a:t>Source: </a:t>
            </a:r>
            <a:r>
              <a:rPr lang="en" altLang="zh-TW" dirty="0" err="1">
                <a:solidFill>
                  <a:schemeClr val="tx1"/>
                </a:solidFill>
              </a:rPr>
              <a:t>Biffignandi</a:t>
            </a:r>
            <a:r>
              <a:rPr lang="en-US" altLang="zh-TW" dirty="0">
                <a:solidFill>
                  <a:schemeClr val="tx1"/>
                </a:solidFill>
              </a:rPr>
              <a:t> and </a:t>
            </a:r>
            <a:r>
              <a:rPr lang="en" altLang="zh-TW" dirty="0">
                <a:solidFill>
                  <a:schemeClr val="tx1"/>
                </a:solidFill>
              </a:rPr>
              <a:t>Bethlehem (2021) Handbook of Web Survey, p. 111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9B96B5E-71A0-1AB2-9C3C-172ABD68F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5E1BC76C-E4A5-129F-7659-C25E3860C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950" y="641229"/>
            <a:ext cx="7772400" cy="4818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8375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機率抽樣的元素（一）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Bowley(1906)</a:t>
                </a:r>
                <a:r>
                  <a:rPr lang="ja-JP" altLang="en-US" sz="2000"/>
                  <a:t>提出大數法則：只要樣本量足夠大且具備隨機性，樣本的平均值就會趨近於母體的平均值。抽樣調查的精確度是可以透過數學公式（標準誤）來衡量的。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ja-JP" sz="2000" dirty="0"/>
                  <a:t>Bowley (1926)</a:t>
                </a:r>
                <a:r>
                  <a:rPr lang="ja-JP" altLang="en-US" sz="2000"/>
                  <a:t>提出</a:t>
                </a:r>
                <a:r>
                  <a:rPr lang="zh-TW" altLang="en-US" sz="2000" dirty="0"/>
                  <a:t>分層抽樣理論：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將母體依照已知特徵（如地區、職業）分成若干「層」（</a:t>
                </a:r>
                <a:r>
                  <a:rPr lang="en-US" altLang="ja-JP" sz="2000" dirty="0"/>
                  <a:t>Strata</a:t>
                </a:r>
                <a:r>
                  <a:rPr lang="ja-JP" altLang="en-US" sz="2000"/>
                  <a:t>）。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在每一層內進行隨機抽樣。</a:t>
                </a:r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zh-TW" altLang="en-US" sz="2000" dirty="0"/>
                  <a:t>等比例分配 </a:t>
                </a:r>
                <a:r>
                  <a:rPr lang="en-US" altLang="zh-TW" sz="2000" dirty="0"/>
                  <a:t>(</a:t>
                </a:r>
                <a:r>
                  <a:rPr lang="en-US" altLang="ja-JP" sz="2000" dirty="0"/>
                  <a:t>Proportional Allocation)</a:t>
                </a:r>
                <a:r>
                  <a:rPr lang="ja-JP" altLang="en-US" sz="2000"/>
                  <a:t>： </a:t>
                </a:r>
                <a:r>
                  <a:rPr lang="zh-TW" altLang="en-US" sz="2000" dirty="0"/>
                  <a:t>各層抽取的樣本數應與該層在母體中的比例一致，以確保樣本結構與母體完全相同。</a:t>
                </a:r>
                <a:endParaRPr lang="en-US" altLang="zh-TW" sz="2000" dirty="0"/>
              </a:p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000"/>
                  <a:t>母體平均數：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ja-JP" sz="2000" dirty="0"/>
                  <a:t> 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ja-JP" altLang="en-US" sz="2000"/>
                  <a:t>是</a:t>
                </a:r>
                <a:r>
                  <a:rPr lang="en-US" altLang="ja-JP" sz="2000" dirty="0"/>
                  <a:t>h</a:t>
                </a:r>
                <a:r>
                  <a:rPr lang="ja-JP" altLang="en-US" sz="2000"/>
                  <a:t>層的</a:t>
                </a:r>
                <a:r>
                  <a:rPr lang="en-US" altLang="ja-JP" sz="2000" dirty="0"/>
                  <a:t>y</a:t>
                </a:r>
                <a:r>
                  <a:rPr lang="ja-JP" altLang="en-US" sz="2000"/>
                  <a:t>的平均數</a:t>
                </a:r>
                <a:endParaRPr lang="en-US" altLang="ja-JP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121" b="-133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800A7CD4-8BCE-CB26-0945-784DFDC0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等比例分配抽樣（一）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9B38302-3344-5246-4FF4-E49ADEAD4C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9BF5D712-AF58-8E6E-1CE2-D7DAE492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B53CDD0B-B711-97A5-2078-238874EDA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857" y="1825625"/>
            <a:ext cx="7772400" cy="4709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8454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72734-D2C9-0C65-A2E0-CD4C641AB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4400" dirty="0"/>
              <a:t>等比例分配抽樣（二）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892E5-C8AF-75C8-8D00-780C5863A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ja-JP" altLang="en-US" sz="2000"/>
              <a:t>自我加權 </a:t>
            </a:r>
            <a:r>
              <a:rPr lang="en-US" altLang="ja-JP" sz="2000" dirty="0"/>
              <a:t>(Self-weighting)</a:t>
            </a:r>
            <a:r>
              <a:rPr lang="ja-JP" altLang="en-US" sz="2000"/>
              <a:t>：因為每一層的抽樣機率 都一樣（例如都是 </a:t>
            </a:r>
            <a:r>
              <a:rPr lang="en-US" altLang="ja-JP" sz="2000" dirty="0"/>
              <a:t>1%</a:t>
            </a:r>
            <a:r>
              <a:rPr lang="ja-JP" altLang="en-US" sz="2000"/>
              <a:t>），所以每個樣本的權重 </a:t>
            </a:r>
            <a:r>
              <a:rPr lang="en-US" altLang="ja-JP" sz="2000" dirty="0"/>
              <a:t> </a:t>
            </a:r>
            <a:r>
              <a:rPr lang="ja-JP" altLang="en-US" sz="2000"/>
              <a:t>也都一樣 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如果母體中某些族群比例極低（例如：</a:t>
            </a:r>
            <a:r>
              <a:rPr lang="en-US" altLang="ja-JP" sz="2000" dirty="0"/>
              <a:t>80 </a:t>
            </a:r>
            <a:r>
              <a:rPr lang="ja-JP" altLang="en-US" sz="2000"/>
              <a:t>歲以上長者僅佔 </a:t>
            </a:r>
            <a:r>
              <a:rPr lang="en-US" altLang="ja-JP" sz="2000" dirty="0"/>
              <a:t>2%</a:t>
            </a:r>
            <a:r>
              <a:rPr lang="ja-JP" altLang="en-US" sz="2000"/>
              <a:t>），在總樣本 </a:t>
            </a:r>
            <a:r>
              <a:rPr lang="en-US" altLang="ja-JP" sz="2000" dirty="0"/>
              <a:t>1000 </a:t>
            </a:r>
            <a:r>
              <a:rPr lang="ja-JP" altLang="en-US" sz="2000"/>
              <a:t>人的情況下，該族群只會分配到 </a:t>
            </a:r>
            <a:r>
              <a:rPr lang="en-US" altLang="ja-JP" sz="2000" dirty="0"/>
              <a:t>20 </a:t>
            </a:r>
            <a:r>
              <a:rPr lang="ja-JP" altLang="en-US" sz="2000"/>
              <a:t>人 ，訪問這些少數人，有可能出現誤差。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等比例分配假設每個人被抽中的機率是均等的，但現實中不同族群「被找到」與「願意回答」的機率可能差異很大。</a:t>
            </a:r>
            <a:endParaRPr lang="en-US" altLang="ja-JP" sz="2000" dirty="0"/>
          </a:p>
          <a:p>
            <a:pPr>
              <a:lnSpc>
                <a:spcPct val="150000"/>
              </a:lnSpc>
            </a:pPr>
            <a:r>
              <a:rPr lang="zh-TW" altLang="en-US" sz="2000" dirty="0"/>
              <a:t>等比例分配抽樣沒有考慮不同群體內部的變異程度，而是假設每個群體內部的變異程度相同。因此無法降低抽樣的誤差。</a:t>
            </a:r>
            <a:endParaRPr lang="en-US" altLang="zh-TW" sz="2000" dirty="0"/>
          </a:p>
          <a:p>
            <a:pPr>
              <a:lnSpc>
                <a:spcPct val="150000"/>
              </a:lnSpc>
            </a:pPr>
            <a:r>
              <a:rPr lang="ja-JP" altLang="en-US" sz="2000"/>
              <a:t>因此，即使一開始設計是等比例抽樣，最終得到的有效樣本結構依然會與母體嚴重脫節。</a:t>
            </a:r>
            <a:endParaRPr lang="en-US" altLang="ja-JP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29AD5-D53A-396D-419C-76DD88042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633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04DDB-15EC-29FF-ECB8-4B888946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11805-6F04-E425-0D4E-A3915F730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Jerzy </a:t>
                </a: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提出雖然我們無法得知母體參數，但可以建立一個區間，並宣稱：「如果我們重複抽樣 </a:t>
                </a:r>
                <a:r>
                  <a:rPr lang="en-US" altLang="zh-TW" sz="2000" dirty="0"/>
                  <a:t>100 </a:t>
                </a:r>
                <a:r>
                  <a:rPr lang="zh-TW" altLang="en-US" sz="2000" dirty="0"/>
                  <a:t>次，有 </a:t>
                </a:r>
                <a:r>
                  <a:rPr lang="en-US" altLang="zh-TW" sz="2000" dirty="0"/>
                  <a:t>95 </a:t>
                </a:r>
                <a:r>
                  <a:rPr lang="zh-TW" altLang="en-US" sz="2000" dirty="0"/>
                  <a:t>次這個區間會包含真實的母體參數。」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 err="1"/>
                  <a:t>Neyman</a:t>
                </a:r>
                <a:r>
                  <a:rPr lang="zh-TW" altLang="en-US" sz="2000" dirty="0"/>
                  <a:t>主張推論的有效性來自於抽樣設計（</a:t>
                </a:r>
                <a:r>
                  <a:rPr lang="en-US" altLang="ja-JP" sz="2000" dirty="0"/>
                  <a:t>Sampling Design</a:t>
                </a:r>
                <a:r>
                  <a:rPr lang="ja-JP" altLang="en-US" sz="2000"/>
                  <a:t>）</a:t>
                </a:r>
                <a:r>
                  <a:rPr lang="zh-TW" altLang="en-US" sz="2000" dirty="0"/>
                  <a:t>本身，而不是對母體分佈的假設。只要抽樣過程是機率導向的，不論母體是什麼分佈，我們都能得到不偏的估計值（</a:t>
                </a:r>
                <a:r>
                  <a:rPr lang="en-US" altLang="ja-JP" sz="2000" dirty="0"/>
                  <a:t>Unbiased Estimator</a:t>
                </a:r>
                <a:r>
                  <a:rPr lang="ja-JP" altLang="en-US" sz="2000"/>
                  <a:t>）。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最優分配法 </a:t>
                </a:r>
                <a:r>
                  <a:rPr lang="en-US" altLang="zh-TW" sz="2000" dirty="0"/>
                  <a:t>(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Allocation)</a:t>
                </a:r>
                <a:r>
                  <a:rPr lang="ja-JP" altLang="en-US" sz="2000"/>
                  <a:t>：如果某一「層」（例如高收入戶）的內部變異非常大，而另一層（例如固定薪資族）的變異很小，我們應該在變異大的那一層抽取更多樣本。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決定每一層的樣本數的公式：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zh-TW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6ACAF2-D8D8-8333-5783-CC2CE5195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1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D651AA-21FF-3A73-E78A-CABF3C989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928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A50E9-273A-656E-EAB1-480C40C71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Neyman最適分配</a:t>
            </a:r>
            <a:r>
              <a:rPr lang="en-US" dirty="0"/>
              <a:t>(</a:t>
            </a:r>
            <a:r>
              <a:rPr lang="en-US" dirty="0" err="1"/>
              <a:t>Neyman</a:t>
            </a:r>
            <a:r>
              <a:rPr lang="en-US" dirty="0"/>
              <a:t> allocation)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等比例抽樣考慮的是「各層的大小」；而 </a:t>
                </a:r>
                <a:r>
                  <a:rPr lang="en-US" sz="2000" dirty="0" err="1"/>
                  <a:t>Neyman</a:t>
                </a:r>
                <a:r>
                  <a:rPr lang="en-US" sz="2000" dirty="0"/>
                  <a:t> </a:t>
                </a:r>
                <a:r>
                  <a:rPr lang="ja-JP" altLang="en-US" sz="2000"/>
                  <a:t>最適分配同時考慮了「各層的大小」與「各層內部的變異程度（標準差）」。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根據</a:t>
                </a:r>
                <a:r>
                  <a:rPr lang="en-US" altLang="ja-JP" sz="2000" dirty="0" err="1"/>
                  <a:t>Neyman</a:t>
                </a:r>
                <a:r>
                  <a:rPr lang="en-US" altLang="ja-JP" sz="2000" dirty="0"/>
                  <a:t> </a:t>
                </a:r>
                <a:r>
                  <a:rPr lang="ja-JP" altLang="en-US" sz="2000"/>
                  <a:t>最適分配公式，每一層應分配的樣本數是：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ctrl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𝐻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altLang="ja-JP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000" dirty="0"/>
                  <a:t>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 err="1"/>
                  <a:t>代表第h層母體的標準差。母體平均數估計式</a:t>
                </a:r>
                <a:r>
                  <a:rPr lang="en-US" sz="2000" dirty="0"/>
                  <a:t>：</a:t>
                </a:r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ja-JP" sz="20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  <m:e>
                        <m:f>
                          <m:fPr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  <m:sub>
                                <m:r>
                                  <a:rPr lang="en-US" altLang="ja-JP" sz="20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</m:e>
                    </m:nary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ja-JP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ja-JP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altLang="ja-JP" sz="2000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2000" dirty="0"/>
                  <a:t>。</a:t>
                </a:r>
                <a:r>
                  <a:rPr lang="en-US" sz="2000" dirty="0" err="1"/>
                  <a:t>類似等比例分配抽樣的估計式</a:t>
                </a:r>
                <a:r>
                  <a:rPr lang="en-US" sz="2000" dirty="0"/>
                  <a:t>。</a:t>
                </a:r>
              </a:p>
              <a:p>
                <a:pPr>
                  <a:lnSpc>
                    <a:spcPct val="150000"/>
                  </a:lnSpc>
                </a:pPr>
                <a:r>
                  <a:rPr lang="ja-JP" altLang="en-US" sz="2000"/>
                  <a:t>因為我們通常事先不知道各層的真實標準差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所以常會用「事前調查（</a:t>
                </a:r>
                <a:r>
                  <a:rPr lang="en-US" sz="2000" dirty="0"/>
                  <a:t>Pilot Survey）」</a:t>
                </a:r>
                <a:r>
                  <a:rPr lang="ja-JP" altLang="en-US" sz="2000"/>
                  <a:t>或過去的資料來預估。</a:t>
                </a:r>
                <a:endParaRPr lang="en-US" sz="2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BAB9BA-AE87-96E3-003F-24B402A7B5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03A207-C8D9-1CB0-9A5C-DF9B18AB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37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106E1-CF63-3145-5A92-C69BD20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78C6F-211A-7AA3-0C69-B61C040A1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機率抽樣的元素（三）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en-US" altLang="zh-TW" sz="2000" dirty="0"/>
                  <a:t>Horvitz &amp; Thompson (1952)</a:t>
                </a:r>
                <a:r>
                  <a:rPr lang="zh-TW" altLang="en-US" sz="2000" dirty="0"/>
                  <a:t>提出不論抽樣設計多麼複雜，只要我們計算出每個樣本的入選機率或者權重，都能得到母體總和的不偏估計。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zh-TW" altLang="en-US" sz="2000" i="1">
                            <a:latin typeface="Cambria Math" panose="02040503050406030204" pitchFamily="18" charset="0"/>
                          </a:rPr>
                          <m:t>Ｙ</m:t>
                        </m:r>
                      </m:e>
                    </m:acc>
                  </m:oMath>
                </a14:m>
                <a:r>
                  <a:rPr lang="en-US" altLang="zh-TW" sz="2000" dirty="0"/>
                  <a:t>=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f>
                          <m:fPr>
                            <m:ctrlPr>
                              <a:rPr lang="en-US" altLang="zh-TW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dirty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r>
                  <a:rPr lang="en-US" altLang="zh-TW" sz="2000" dirty="0"/>
                  <a:t> </a:t>
                </a:r>
                <a:r>
                  <a:rPr lang="zh-TW" altLang="en-US" sz="2000" dirty="0"/>
                  <a:t>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-US" sz="2000" dirty="0"/>
                  <a:t>是被抽中的機率。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例如有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人，已知有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萬，</a:t>
                </a:r>
                <a:r>
                  <a:rPr lang="en-US" altLang="zh-TW" sz="2000" dirty="0"/>
                  <a:t>2</a:t>
                </a:r>
                <a:r>
                  <a:rPr lang="zh-TW" altLang="en-US" sz="2000" dirty="0"/>
                  <a:t>人的年薪是</a:t>
                </a:r>
                <a:r>
                  <a:rPr lang="en-US" altLang="zh-TW" sz="2000" dirty="0"/>
                  <a:t>20</a:t>
                </a:r>
                <a:r>
                  <a:rPr lang="zh-TW" altLang="en-US" sz="2000" dirty="0"/>
                  <a:t>萬，如果只能抽出一位，請問年薪的估計是多少？如果抽中年薪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萬的</a:t>
                </a:r>
                <a:r>
                  <a:rPr lang="en-US" altLang="zh-TW" sz="2000" dirty="0"/>
                  <a:t>8</a:t>
                </a:r>
                <a:r>
                  <a:rPr lang="zh-TW" altLang="en-US" sz="2000" dirty="0"/>
                  <a:t>個人其中之一，</a:t>
                </a:r>
                <a:r>
                  <a:rPr lang="en-US" altLang="zh-TW" sz="2000" dirty="0"/>
                  <a:t>100</a:t>
                </a:r>
                <a:r>
                  <a:rPr lang="zh-TW" altLang="en-US" sz="2000" dirty="0"/>
                  <a:t>萬雖然是無偏估計，卻不如用</a:t>
                </a:r>
                <a:r>
                  <a:rPr lang="en-US" altLang="zh-TW" sz="2000" dirty="0"/>
                  <a:t>H-Y</a:t>
                </a:r>
                <a:r>
                  <a:rPr lang="zh-TW" altLang="en-US" sz="2000" dirty="0"/>
                  <a:t>估計式：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=1000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。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如果抽中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年薪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20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萬，則是</m:t>
                    </m:r>
                    <m:f>
                      <m:f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num>
                      <m:den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0.1</m:t>
                        </m:r>
                      </m:den>
                    </m:f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=200</m:t>
                    </m:r>
                    <m:r>
                      <a:rPr lang="zh-TW" altLang="en-US" sz="2000" i="1">
                        <a:latin typeface="Cambria Math" panose="02040503050406030204" pitchFamily="18" charset="0"/>
                      </a:rPr>
                      <m:t>萬。</m:t>
                    </m:r>
                    <m:r>
                      <a:rPr lang="zh-TW" altLang="en-US" sz="2000" i="1" smtClean="0">
                        <a:latin typeface="Cambria Math" panose="02040503050406030204" pitchFamily="18" charset="0"/>
                      </a:rPr>
                      <m:t>期望值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0.8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×1000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0.2×200</m:t>
                        </m:r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萬。</m:t>
                    </m:r>
                  </m:oMath>
                </a14:m>
                <a:r>
                  <a:rPr lang="en-US" altLang="zh-TW" sz="2000" dirty="0"/>
                  <a:t> 840</a:t>
                </a:r>
                <a:r>
                  <a:rPr lang="zh-TW" altLang="en-US" sz="2000" dirty="0"/>
                  <a:t>萬剛好是這</a:t>
                </a:r>
                <a:r>
                  <a:rPr lang="en-US" altLang="zh-TW" sz="2000" dirty="0"/>
                  <a:t>10</a:t>
                </a:r>
                <a:r>
                  <a:rPr lang="zh-TW" altLang="en-US" sz="2000" dirty="0"/>
                  <a:t>個人的總年薪。</a:t>
                </a:r>
                <a:endParaRPr lang="en-US" altLang="zh-TW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zh-TW" altLang="en-US" sz="2000" dirty="0"/>
                  <a:t>入選機率只要不是 </a:t>
                </a:r>
                <a:r>
                  <a:rPr lang="en-US" altLang="zh-TW" sz="2000" dirty="0"/>
                  <a:t>0</a:t>
                </a:r>
                <a:r>
                  <a:rPr lang="zh-TW" altLang="en-US" sz="2000" dirty="0"/>
                  <a:t>，在計算時除回正確的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zh-TW" altLang="en" sz="2000" dirty="0"/>
                  <a:t>，</a:t>
                </a:r>
                <a:r>
                  <a:rPr lang="zh-TW" altLang="en-US" sz="2000" dirty="0"/>
                  <a:t>算出的總收入會等於母體。期望值寫成：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altLang="ja-JP" sz="20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FAE9C41-B4EA-2EE4-7488-91928CBB72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r="-603" b="-87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B54FE-2AC9-E283-7F28-80727A4EC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8007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6EB92D8-39C7-1636-8E9E-421E55492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機率抽樣的元素（四）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如果已經知道收入高的人的中選機率是收入低的人的</a:t>
                </a:r>
                <a:r>
                  <a:rPr kumimoji="1" lang="en-US" altLang="zh-TW" sz="2000" dirty="0"/>
                  <a:t>4</a:t>
                </a:r>
                <a:r>
                  <a:rPr kumimoji="1" lang="zh-TW" altLang="en-US" sz="2000" dirty="0"/>
                  <a:t>倍，只抽出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人，也可以用</a:t>
                </a:r>
                <a:r>
                  <a:rPr kumimoji="1" lang="en-US" altLang="zh-TW" sz="2000" dirty="0"/>
                  <a:t>H-T</a:t>
                </a:r>
                <a:r>
                  <a:rPr kumimoji="1" lang="zh-TW" altLang="en-US" sz="2000" dirty="0"/>
                  <a:t>估計式。先計算每個人的中選機率：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×4+2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期望值：</a:t>
                </a:r>
                <a:r>
                  <a:rPr lang="zh-TW" altLang="en-US" sz="20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zh-TW" altLang="en-US" sz="20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nary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4×</m:t>
                            </m:r>
                            <m:f>
                              <m:fPr>
                                <m:ctrlP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+2×</m:t>
                    </m:r>
                    <m:d>
                      <m:d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34</m:t>
                            </m:r>
                          </m:den>
                        </m:f>
                        <m:r>
                          <a:rPr lang="en-US" altLang="zh-TW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f>
                          <m:fPr>
                            <m:ctrlPr>
                              <a:rPr lang="en-US" altLang="zh-TW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20</m:t>
                            </m:r>
                          </m:num>
                          <m:den>
                            <m:f>
                              <m:fPr>
                                <m:ctrlPr>
                                  <a:rPr lang="en-US" altLang="zh-TW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altLang="zh-TW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34</m:t>
                                </m:r>
                              </m:den>
                            </m:f>
                          </m:den>
                        </m:f>
                      </m:e>
                    </m:d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=800+40=840=</m:t>
                    </m:r>
                    <m:nary>
                      <m:naryPr>
                        <m:chr m:val="∑"/>
                        <m:ctrlPr>
                          <a:rPr lang="zh-TW" alt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zh-TW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altLang="zh-TW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TW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如果樣本從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人增加到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人，其他條件不變，那麼每個人中選機率變成</a:t>
                </a:r>
                <a14:m>
                  <m:oMath xmlns:m="http://schemas.openxmlformats.org/officeDocument/2006/math">
                    <m:f>
                      <m:fPr>
                        <m:ctrlPr>
                          <a:rPr kumimoji="1" lang="en-US" altLang="zh-TW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kumimoji="1" lang="en-US" altLang="zh-TW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</m:oMath>
                </a14:m>
                <a:endParaRPr kumimoji="1" lang="en-US" altLang="zh-TW" sz="2000" b="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抽出</a:t>
                </a:r>
                <a:r>
                  <a:rPr kumimoji="1" lang="en-US" altLang="zh-TW" sz="2000" dirty="0"/>
                  <a:t>2</a:t>
                </a:r>
                <a:r>
                  <a:rPr kumimoji="1" lang="zh-TW" altLang="en-US" sz="2000" dirty="0"/>
                  <a:t>人可能是一個高薪一個低薪、兩個高薪、兩個低薪，分別計算這三種組合的期望值，</a:t>
                </a:r>
                <a:r>
                  <a:rPr kumimoji="1" lang="zh-TW" altLang="en-US" sz="2000"/>
                  <a:t>然後再加權平均</a:t>
                </a:r>
                <a:r>
                  <a:rPr kumimoji="1" lang="zh-TW" altLang="en-US" sz="2000" dirty="0"/>
                  <a:t>，會得到</a:t>
                </a:r>
                <a:r>
                  <a:rPr kumimoji="1" lang="en-US" altLang="zh-TW" sz="2000" dirty="0"/>
                  <a:t>840</a:t>
                </a:r>
                <a:r>
                  <a:rPr kumimoji="1" lang="zh-TW" altLang="en-US" sz="2000" dirty="0"/>
                  <a:t>萬（為什麼？）</a:t>
                </a:r>
                <a:endParaRPr kumimoji="1" lang="en-US" altLang="zh-TW" sz="2000" dirty="0"/>
              </a:p>
              <a:p>
                <a:pPr>
                  <a:lnSpc>
                    <a:spcPct val="150000"/>
                  </a:lnSpc>
                </a:pPr>
                <a:r>
                  <a:rPr kumimoji="1" lang="zh-TW" altLang="en-US" sz="2000" dirty="0"/>
                  <a:t>比起只抽</a:t>
                </a:r>
                <a:r>
                  <a:rPr kumimoji="1" lang="en-US" altLang="zh-TW" sz="2000" dirty="0"/>
                  <a:t>1</a:t>
                </a:r>
                <a:r>
                  <a:rPr kumimoji="1" lang="zh-TW" altLang="en-US" sz="2000" dirty="0"/>
                  <a:t>人，如果抽中組合是一個高薪一個低薪，會更接近最後的期望值。</a:t>
                </a:r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D77F4EED-7909-5AF8-5411-8811C2034F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r="-21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4C5D14-5932-A53B-6231-86CE0BBFB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7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748C4BE4-7B96-743F-FB37-78B98C65A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機率抽樣的元素（五）</a:t>
            </a:r>
            <a:endParaRPr lang="zh-TW" altLang="en-US" dirty="0"/>
          </a:p>
        </p:txBody>
      </p:sp>
      <p:sp>
        <p:nvSpPr>
          <p:cNvPr id="5" name="內容版面配置區 4">
            <a:extLst>
              <a:ext uri="{FF2B5EF4-FFF2-40B4-BE49-F238E27FC236}">
                <a16:creationId xmlns:a16="http://schemas.microsoft.com/office/drawing/2014/main" id="{546C7FE0-E2B6-85E4-2700-04A06C4B71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8E739CE-D578-4E0C-7CD3-E1A196D86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58ABDC07-D2D8-76EB-255B-5B03BE0D1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962315"/>
              </p:ext>
            </p:extLst>
          </p:nvPr>
        </p:nvGraphicFramePr>
        <p:xfrm>
          <a:off x="1425039" y="2553494"/>
          <a:ext cx="9262754" cy="3048000"/>
        </p:xfrm>
        <a:graphic>
          <a:graphicData uri="http://schemas.openxmlformats.org/drawingml/2006/table">
            <a:tbl>
              <a:tblPr/>
              <a:tblGrid>
                <a:gridCol w="1967260">
                  <a:extLst>
                    <a:ext uri="{9D8B030D-6E8A-4147-A177-3AD203B41FA5}">
                      <a16:colId xmlns:a16="http://schemas.microsoft.com/office/drawing/2014/main" val="1092537034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4071730486"/>
                    </a:ext>
                  </a:extLst>
                </a:gridCol>
                <a:gridCol w="2514735">
                  <a:extLst>
                    <a:ext uri="{9D8B030D-6E8A-4147-A177-3AD203B41FA5}">
                      <a16:colId xmlns:a16="http://schemas.microsoft.com/office/drawing/2014/main" val="555145253"/>
                    </a:ext>
                  </a:extLst>
                </a:gridCol>
                <a:gridCol w="2266024">
                  <a:extLst>
                    <a:ext uri="{9D8B030D-6E8A-4147-A177-3AD203B41FA5}">
                      <a16:colId xmlns:a16="http://schemas.microsoft.com/office/drawing/2014/main" val="30592928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組合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H-T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估計值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發生機率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加權結果 </a:t>
                      </a:r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Y^×P)</a:t>
                      </a:r>
                      <a:endParaRPr lang="en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181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850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0.8784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746.64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70832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富 </a:t>
                      </a:r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765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0.1197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91.57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3571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2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窮人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680 </a:t>
                      </a:r>
                      <a:r>
                        <a:rPr lang="zh-TW" altLang="en-US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0.0018</a:t>
                      </a: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1.22 </a:t>
                      </a:r>
                      <a:r>
                        <a:rPr lang="zh-TW" altLang="en-US" sz="20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260208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/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總計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1.0000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R="114300"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zh-TW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839.43 </a:t>
                      </a:r>
                      <a:r>
                        <a:rPr lang="zh-TW" altLang="en-US" sz="20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萬</a:t>
                      </a:r>
                      <a:endParaRPr lang="zh-TW" altLang="en-US" sz="20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T="152400" marB="1524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35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16080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機率抽樣的元素（六）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前面是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計算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總和。計算平均數的公式為：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sSub>
                          <m:sSub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000" dirty="0" err="1"/>
                  <a:t>代表有沒有被抽中，k</a:t>
                </a:r>
                <a:r>
                  <a:rPr lang="en-US" sz="2000" dirty="0"/>
                  <a:t>=0或是1.</a:t>
                </a:r>
              </a:p>
              <a:p>
                <a:r>
                  <a:rPr lang="en-US" sz="2000" dirty="0" err="1"/>
                  <a:t>以剛剛的例子</a:t>
                </a:r>
                <a:r>
                  <a:rPr lang="en-US" sz="2000" dirty="0"/>
                  <a:t>，</a:t>
                </a:r>
                <a:r>
                  <a:rPr lang="ja-JP" altLang="en-US" sz="2000"/>
                  <a:t> 抽到富人 </a:t>
                </a:r>
                <a:r>
                  <a:rPr lang="en-US" sz="2000" dirty="0">
                    <a:effectLst/>
                    <a:latin typeface="Google Sans Text"/>
                  </a:rPr>
                  <a:t>k=1</a:t>
                </a:r>
                <a:r>
                  <a:rPr lang="en-US" sz="2000" dirty="0"/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000" dirty="0"/>
                  <a:t>，</a:t>
                </a:r>
                <a:r>
                  <a:rPr lang="ja-JP" altLang="en-US" sz="2000"/>
                  <a:t>其他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ja-JP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altLang="ja-JP" sz="2000" b="0" dirty="0">
                  <a:ea typeface="Cambria Math" panose="02040503050406030204" pitchFamily="18" charset="0"/>
                </a:endParaRPr>
              </a:p>
              <a:p>
                <a:r>
                  <a:rPr lang="en-US" sz="2000" dirty="0" err="1"/>
                  <a:t>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=100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萬，</m:t>
                    </m:r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=4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34</m:t>
                        </m:r>
                      </m:den>
                    </m:f>
                  </m:oMath>
                </a14:m>
                <a:r>
                  <a:rPr lang="en-US" sz="2000" dirty="0"/>
                  <a:t>=0.1176（因為富人中選機率是其他人的4倍）</a:t>
                </a:r>
              </a:p>
              <a:p>
                <a:r>
                  <a:rPr lang="en-US" sz="2000" dirty="0" err="1"/>
                  <a:t>代入公式</a:t>
                </a:r>
                <a:r>
                  <a:rPr lang="en-US" sz="2000" dirty="0"/>
                  <a:t>：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1×</m:t>
                        </m:r>
                        <m:f>
                          <m:f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100</m:t>
                            </m:r>
                          </m:num>
                          <m:den>
                            <m:r>
                              <a:rPr lang="en-US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0.1176</m:t>
                            </m:r>
                          </m:den>
                        </m:f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×850=85</m:t>
                    </m:r>
                  </m:oMath>
                </a14:m>
                <a:endParaRPr lang="en-US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的倒數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是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8.5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，就是</m:t>
                    </m:r>
                    <m:r>
                      <a:rPr lang="en-US" sz="2000" i="1" smtClean="0">
                        <a:latin typeface="Cambria Math" panose="02040503050406030204" pitchFamily="18" charset="0"/>
                      </a:rPr>
                      <m:t>富人的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權重。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窮人的權重則是34。如果抽到窮人，平均值就是34x20=680萬。</a:t>
                </a:r>
              </a:p>
              <a:p>
                <a:r>
                  <a:rPr lang="en-US" sz="2000" dirty="0" err="1">
                    <a:latin typeface="PMingLiU" panose="02020500000000000000" pitchFamily="18" charset="-120"/>
                    <a:ea typeface="PMingLiU" panose="02020500000000000000" pitchFamily="18" charset="-120"/>
                  </a:rPr>
                  <a:t>這兩種人的期望值加權會等於總和</a:t>
                </a:r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34</m:t>
                        </m:r>
                      </m:den>
                    </m:f>
                    <m:r>
                      <a:rPr lang="en-US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850+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34</m:t>
                        </m:r>
                      </m:den>
                    </m:f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×680=</m:t>
                    </m:r>
                  </m:oMath>
                </a14:m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840</a:t>
                </a:r>
              </a:p>
              <a:p>
                <a:r>
                  <a:rPr lang="en-US" sz="2000" dirty="0">
                    <a:latin typeface="PMingLiU" panose="02020500000000000000" pitchFamily="18" charset="-120"/>
                    <a:ea typeface="PMingLiU" panose="02020500000000000000" pitchFamily="18" charset="-120"/>
                  </a:rPr>
                  <a:t>一般研究會設定權重低於5，避免抽中一些不容易中選的族群卻因為權重太大而得到錯誤的結論，但是這種主觀的設定違反了H-T的不偏估計的理論。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 t="-101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35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機率抽樣的元素（七）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變異數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表示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資料的離散程度。計算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變異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數的</m:t>
                    </m:r>
                    <m:r>
                      <a:rPr lang="zh-TW" altLang="en-US" sz="2000" b="1" i="1">
                        <a:latin typeface="Cambria Math" panose="02040503050406030204" pitchFamily="18" charset="0"/>
                      </a:rPr>
                      <m:t>估計</m:t>
                    </m:r>
                    <m:r>
                      <a:rPr lang="zh-TW" altLang="en-US" sz="2000" b="1" i="1" smtClean="0">
                        <a:latin typeface="Cambria Math" panose="02040503050406030204" pitchFamily="18" charset="0"/>
                      </a:rPr>
                      <m:t>式為：</m:t>
                    </m:r>
                  </m:oMath>
                </a14:m>
                <a:endParaRPr lang="en-US" altLang="zh-TW" sz="2000" b="1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lnSpc>
                    <a:spcPct val="12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𝐻𝑇</m:t>
                            </m:r>
                          </m:sub>
                        </m:sSub>
                      </m:e>
                    </m:acc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nary>
                      <m:naryPr>
                        <m:chr m:val="∑"/>
                        <m:ctrlPr>
                          <a:rPr lang="en-US" sz="20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  <m:f>
                          <m:fPr>
                            <m:ctrlP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  <m:f>
                          <m:f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sz="2000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i="1" dirty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2000" b="0" i="1" dirty="0" smtClean="0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den>
                        </m:f>
                      </m:e>
                    </m:nary>
                  </m:oMath>
                </a14:m>
                <a:endParaRPr lang="en-US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effectLst/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這是個體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和個體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>
                    <a:effectLst/>
                    <a:latin typeface="Google Sans Text"/>
                  </a:rPr>
                  <a:t> </a:t>
                </a:r>
                <a:r>
                  <a:rPr lang="ja-JP" altLang="en-US" sz="2000">
                    <a:effectLst/>
                    <a:latin typeface="Google Sans Text"/>
                  </a:rPr>
                  <a:t>同時被抽中進入樣本的機率。</a:t>
                </a:r>
                <a:endParaRPr lang="en-US" altLang="ja-JP" sz="2000" dirty="0">
                  <a:effectLst/>
                  <a:latin typeface="Google Sans Text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altLang="ja-JP" sz="20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altLang="ja-JP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000"/>
                  <a:t>：如果 </a:t>
                </a:r>
                <a:r>
                  <a:rPr lang="en-US" sz="2000" i="1" dirty="0">
                    <a:effectLst/>
                    <a:latin typeface="Google Sans Text"/>
                  </a:rPr>
                  <a:t>k</a:t>
                </a:r>
                <a:r>
                  <a:rPr lang="en-US" sz="2000" dirty="0"/>
                  <a:t> </a:t>
                </a:r>
                <a:r>
                  <a:rPr lang="ja-JP" altLang="en-US" sz="2000"/>
                  <a:t>和 </a:t>
                </a:r>
                <a:r>
                  <a:rPr lang="en-US" sz="2000" i="1" dirty="0">
                    <a:effectLst/>
                    <a:latin typeface="Google Sans Text"/>
                  </a:rPr>
                  <a:t>l</a:t>
                </a:r>
                <a:r>
                  <a:rPr lang="en-US" sz="2000" dirty="0"/>
                  <a:t> </a:t>
                </a:r>
                <a:r>
                  <a:rPr lang="ja-JP" altLang="en-US" sz="2000"/>
                  <a:t>是獨立被抽中的，這是他們同時入選的機率。</a:t>
                </a:r>
                <a:endParaRPr lang="en-US" altLang="ja-JP" sz="2000" dirty="0"/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sz="20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ja-JP" altLang="en-US" sz="2000">
                    <a:effectLst/>
                    <a:latin typeface="Google Sans Text"/>
                  </a:rPr>
                  <a:t>是 </a:t>
                </a:r>
                <a:r>
                  <a:rPr lang="en-US" sz="2000" dirty="0">
                    <a:effectLst/>
                    <a:latin typeface="Google Sans Text"/>
                  </a:rPr>
                  <a:t>k </a:t>
                </a:r>
                <a:r>
                  <a:rPr lang="ja-JP" altLang="en-US" sz="2000">
                    <a:effectLst/>
                    <a:latin typeface="Google Sans Text"/>
                  </a:rPr>
                  <a:t>與 </a:t>
                </a:r>
                <a:r>
                  <a:rPr lang="en-US" sz="2000" dirty="0">
                    <a:effectLst/>
                    <a:latin typeface="Google Sans Text"/>
                  </a:rPr>
                  <a:t>l </a:t>
                </a:r>
                <a:r>
                  <a:rPr lang="ja-JP" altLang="en-US" sz="2000">
                    <a:effectLst/>
                    <a:latin typeface="Google Sans Text"/>
                  </a:rPr>
                  <a:t>抽樣的</a:t>
                </a:r>
                <a:r>
                  <a:rPr lang="ja-JP" altLang="en-US" sz="2000" b="1">
                    <a:effectLst/>
                    <a:latin typeface="Google Sans Text"/>
                  </a:rPr>
                  <a:t>共變異數 </a:t>
                </a:r>
                <a:r>
                  <a:rPr lang="en-US" altLang="ja-JP" sz="2000" b="1" dirty="0">
                    <a:effectLst/>
                    <a:latin typeface="Google Sans Text"/>
                  </a:rPr>
                  <a:t>(</a:t>
                </a:r>
                <a:r>
                  <a:rPr lang="en-US" sz="2000" b="1" dirty="0">
                    <a:effectLst/>
                    <a:latin typeface="Google Sans Text"/>
                  </a:rPr>
                  <a:t>Covariance)</a:t>
                </a:r>
                <a:r>
                  <a:rPr lang="en-US" sz="2000" dirty="0">
                    <a:effectLst/>
                    <a:latin typeface="Google Sans Text"/>
                  </a:rPr>
                  <a:t>。</a:t>
                </a:r>
                <a:r>
                  <a:rPr lang="ja-JP" altLang="en-US" sz="2000">
                    <a:effectLst/>
                    <a:latin typeface="Google Sans Text"/>
                  </a:rPr>
                  <a:t>它描述了個體之間入選機率的「相關性」。</a:t>
                </a:r>
              </a:p>
              <a:p>
                <a:pPr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ja-JP" altLang="en-US" sz="2000">
                    <a:effectLst/>
                    <a:latin typeface="Google Sans Text"/>
                  </a:rPr>
                  <a:t>如果這個值是負的，代表抽到 </a:t>
                </a:r>
                <a:r>
                  <a:rPr lang="en-US" sz="2000" dirty="0">
                    <a:effectLst/>
                    <a:latin typeface="Google Sans Text"/>
                  </a:rPr>
                  <a:t>k </a:t>
                </a:r>
                <a:r>
                  <a:rPr lang="ja-JP" altLang="en-US" sz="2000">
                    <a:effectLst/>
                    <a:latin typeface="Google Sans Text"/>
                  </a:rPr>
                  <a:t>就不容易抽到 </a:t>
                </a:r>
                <a:r>
                  <a:rPr lang="en-US" sz="2000" dirty="0">
                    <a:effectLst/>
                    <a:latin typeface="Google Sans Text"/>
                  </a:rPr>
                  <a:t>l（</a:t>
                </a:r>
                <a:r>
                  <a:rPr lang="ja-JP" altLang="en-US" sz="2000">
                    <a:effectLst/>
                    <a:latin typeface="Google Sans Text"/>
                  </a:rPr>
                  <a:t>例如：簡單隨機抽樣）。</a:t>
                </a:r>
                <a:endParaRPr lang="en-US" sz="2000" dirty="0">
                  <a:effectLst/>
                  <a:latin typeface="Google Sans Text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408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60B46-553E-18AD-A4BE-E745BAB0C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機率抽樣的元素（八）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2200" dirty="0">
                    <a:effectLst/>
                    <a:latin typeface="Google Sans Text"/>
                  </a:rPr>
                  <a:t>H-T </a:t>
                </a:r>
                <a:r>
                  <a:rPr lang="ja-JP" altLang="en-US" sz="2200">
                    <a:effectLst/>
                    <a:latin typeface="Google Sans Text"/>
                  </a:rPr>
                  <a:t>估計值的穩定性取決於兩件事：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個體權重的大小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如果某個人的中選機率</a:t>
                </a:r>
                <a:r>
                  <a:rPr lang="en-US" sz="2200" dirty="0">
                    <a:effectLst/>
                    <a:latin typeface="Google Sans Text"/>
                  </a:rPr>
                  <a:t> </a:t>
                </a:r>
                <a:r>
                  <a:rPr lang="ja-JP" altLang="en-US" sz="2200">
                    <a:effectLst/>
                    <a:latin typeface="Google Sans Text"/>
                  </a:rPr>
                  <a:t>非常小（窮人），權重會變大。這會直接增加變異數。這就是為什麼「抽到窮人會跟母體真相差很大」的數學原因。</a:t>
                </a:r>
              </a:p>
              <a:p>
                <a:pPr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ja-JP" altLang="en-US" sz="2200" b="1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抽樣設計的策略 </a:t>
                </a:r>
                <a:r>
                  <a:rPr lang="en-US" altLang="ja-JP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</m:ctrlPr>
                      </m:sSubPr>
                      <m:e>
                        <m:r>
                          <a:rPr lang="en-US" altLang="ja-JP" sz="2200" i="1" smtClean="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altLang="ja-JP" sz="2200" b="0" i="1" smtClean="0">
                            <a:effectLst/>
                            <a:latin typeface="Cambria Math" panose="02040503050406030204" pitchFamily="18" charset="0"/>
                            <a:ea typeface="PMingLiU" panose="02020500000000000000" pitchFamily="18" charset="-120"/>
                          </a:rPr>
                          <m:t>𝑘𝑙</m:t>
                        </m:r>
                      </m:sub>
                    </m:sSub>
                  </m:oMath>
                </a14:m>
                <a:r>
                  <a:rPr lang="en-US" sz="2200" dirty="0">
                    <a:effectLst/>
                    <a:latin typeface="PMingLiU" panose="02020500000000000000" pitchFamily="18" charset="-120"/>
                    <a:ea typeface="PMingLiU" panose="02020500000000000000" pitchFamily="18" charset="-120"/>
                  </a:rPr>
                  <a:t>)：</a:t>
                </a:r>
                <a:r>
                  <a:rPr lang="ja-JP" altLang="en-US" sz="2200">
                    <a:effectLst/>
                    <a:latin typeface="Google Sans Text"/>
                  </a:rPr>
                  <a:t>如果設計一種抽樣方式，使得數值相似的個體（例如兩個都是富人）盡量不要同時被抽中（負相關），那麼這個公式算出來的變異數就會變小，調查就更精確。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9579A7-244A-1B4E-A6EF-9B1F87EA32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r="-2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B59-1518-4C2D-ABA7-09A5F449F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2810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4106</TotalTime>
  <Words>1250</Words>
  <Application>Microsoft Macintosh PowerPoint</Application>
  <PresentationFormat>Widescreen</PresentationFormat>
  <Paragraphs>101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6" baseType="lpstr">
      <vt:lpstr>Google Sans Text</vt:lpstr>
      <vt:lpstr>MingLiU</vt:lpstr>
      <vt:lpstr>PMingLiU</vt:lpstr>
      <vt:lpstr>Angsana New</vt:lpstr>
      <vt:lpstr>Arial</vt:lpstr>
      <vt:lpstr>Calibri</vt:lpstr>
      <vt:lpstr>Calibri Light</vt:lpstr>
      <vt:lpstr>Cambria Math</vt:lpstr>
      <vt:lpstr>Times New Roman</vt:lpstr>
      <vt:lpstr>Wingdings</vt:lpstr>
      <vt:lpstr>Office Theme</vt:lpstr>
      <vt:lpstr>抽樣</vt:lpstr>
      <vt:lpstr>課程目標</vt:lpstr>
      <vt:lpstr>為何要抽樣？</vt:lpstr>
      <vt:lpstr>PowerPoint Presentation</vt:lpstr>
      <vt:lpstr>機率抽樣的元素（一）</vt:lpstr>
      <vt:lpstr>等比例分配抽樣（一）</vt:lpstr>
      <vt:lpstr>等比例分配抽樣（二）</vt:lpstr>
      <vt:lpstr>機率抽樣的元素（二）</vt:lpstr>
      <vt:lpstr>Neyman最適分配(Neyman allocation)</vt:lpstr>
      <vt:lpstr>機率抽樣的元素（三）</vt:lpstr>
      <vt:lpstr>機率抽樣的元素（四）</vt:lpstr>
      <vt:lpstr>機率抽樣的元素（五）</vt:lpstr>
      <vt:lpstr>機率抽樣的元素（六）</vt:lpstr>
      <vt:lpstr>機率抽樣的元素（七）</vt:lpstr>
      <vt:lpstr>機率抽樣的元素（八）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41</cp:revision>
  <dcterms:created xsi:type="dcterms:W3CDTF">2025-11-29T03:50:16Z</dcterms:created>
  <dcterms:modified xsi:type="dcterms:W3CDTF">2026-03-26T15:34:49Z</dcterms:modified>
</cp:coreProperties>
</file>