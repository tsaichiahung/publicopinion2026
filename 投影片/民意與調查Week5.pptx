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9" r:id="rId3"/>
    <p:sldId id="260" r:id="rId4"/>
    <p:sldId id="264" r:id="rId5"/>
    <p:sldId id="265" r:id="rId6"/>
    <p:sldId id="266" r:id="rId7"/>
    <p:sldId id="267" r:id="rId8"/>
    <p:sldId id="268" r:id="rId9"/>
    <p:sldId id="269" r:id="rId10"/>
    <p:sldId id="270" r:id="rId11"/>
    <p:sldId id="25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0"/>
    <p:restoredTop sz="95755"/>
  </p:normalViewPr>
  <p:slideViewPr>
    <p:cSldViewPr snapToGrid="0">
      <p:cViewPr varScale="1">
        <p:scale>
          <a:sx n="106" d="100"/>
          <a:sy n="106" d="100"/>
        </p:scale>
        <p:origin x="792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8549C9-F1F2-A344-9318-AC3AB4654B7E}" type="datetimeFigureOut">
              <a:rPr lang="en-US" smtClean="0"/>
              <a:t>3/17/26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8A1D9D-B5FD-8C44-B376-87A4AA1261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1954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A9D1C4-10C4-2E9F-5F3B-D835D4DB92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46E4F2-7FDB-77A9-4AB5-8E20E70E5A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CB6177-5485-5E7E-ABD3-81FAB3262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B731F-7F54-EF4E-BC14-D4454C95FF4D}" type="datetime1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4A4E5E-A7BD-3EBE-B8D5-7A666231CD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16BEE-CE7C-86EE-2914-ABE5BBD5C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38695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8689C-316C-BAC8-0C60-4D6FE59E7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EB9673-CFFC-4707-B781-2DC3EACF26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BF6D07-2657-BE71-5260-9287F1DAF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43121-CDD1-174D-9095-06B3974B3CC1}" type="datetime1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4E4C41-BB70-1FCC-8578-1360ADC59D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0CC362-7B0A-F33A-D6DC-567128B92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3355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1AE0D-CFBB-0F53-A2AD-692FBC4BDA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8EE5BC-34D8-9D68-FE7D-A0D2546A15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4F4AD3-7289-D5CB-2A5C-6D306ABA8C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2BAF9-EAD3-1641-87AF-ADC71D8222CD}" type="datetime1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ABA442-AC0E-C1C3-3308-FFAFBC78D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8EA799-1610-8A6B-77E0-A40B49B0A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3113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01B37-CD3C-31C5-04C9-76079E4FC2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1C19E3-EF27-A09D-99C4-A09F837576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445470-D1AC-A09D-7550-4360D6773A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BDF9F5-F533-F729-C898-7B1E13C6B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7A49D-4C23-6A49-AF9D-C0E1C1130921}" type="datetime1">
              <a:rPr lang="en-US" smtClean="0"/>
              <a:t>3/17/26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34E930-A44F-BD91-5CF5-8961F49DD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53436D-9139-45AE-EEE3-BE76C6A32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515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65E3F-6BE9-7D78-DCA4-B0726064E4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F79DA6-881E-5DDD-EAC7-66A8251F09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E0D745-6E3C-AFE3-6184-A162F7AF3C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0AC8FBD-C24D-C01E-AADB-C4F55CB0C53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BCF2A7-7431-1439-2261-2A41DF6F9D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961166D-85F0-EB57-9657-7D5E74543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516F59-8951-4749-B49C-6C88C0B4B6BD}" type="datetime1">
              <a:rPr lang="en-US" smtClean="0"/>
              <a:t>3/17/26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09DD5C-5F82-A1B0-7384-5495581E5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D27FAB2-DD68-52EC-029D-D14A48E52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3847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47281-6A9B-0939-7E18-80A3A800A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46B42E-DF40-D4B0-ABC7-C980F99EB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2BBDF-C485-174D-8051-FF3ED3DF33C6}" type="datetime1">
              <a:rPr lang="en-US" smtClean="0"/>
              <a:t>3/17/26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A579666-1FC2-D7B9-01A0-0EB0BF651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4DA989-73AE-785D-FC4B-CE591A0D1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51400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0EEB0E-1A66-665C-2816-8906616DB5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316C8-35EA-C448-A7DB-295F753FB635}" type="datetime1">
              <a:rPr lang="en-US" smtClean="0"/>
              <a:t>3/17/26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5B96B52-794F-DF33-0D29-76E7E8C0F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4D5823-189C-2040-1358-6D61F4146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82774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35DD4-4B4A-3455-8C21-E3BF4A50CB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43D71E-B5FF-CD05-E327-1A6DE20035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111B76-22F9-3979-2199-DB800AA2A9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8931D2-9E23-78EB-9A41-01A4326F0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BA6818-685C-B142-BE10-A6D54A85D7FF}" type="datetime1">
              <a:rPr lang="en-US" smtClean="0"/>
              <a:t>3/17/26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C873F4-4FD5-6F46-BA13-0A9FDDA52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DD0AC0-F263-C2B0-FA4B-E6D26281E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1798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245D0-04F7-A504-95F3-804098D411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1C9E57-E525-B44B-DFFF-53EA7B26EE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B3A571-088E-6D99-68E4-2984A1282E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59C560-F853-5059-139B-804BFC976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44D57B-5B66-2F49-AB7C-362DD22B45D8}" type="datetime1">
              <a:rPr lang="en-US" smtClean="0"/>
              <a:t>3/17/26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13660A-A890-E4DA-6D80-796627628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6A0F3A-753B-BC76-6F55-8CEC7CC43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013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39EF6-E576-0A12-CB1C-7E493A738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647DB6-223C-7733-A4F7-AA5625963A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E6927A-7D51-301B-AF38-CE551C01C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C0AAEB-F940-CA44-B742-2110711973A7}" type="datetime1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E16AEE-F89E-A77B-9530-F4F63AA5F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B07B94-A394-D3CF-25AB-74C40FF49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92876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AE8D4DA-0738-22C4-1450-507823704C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E699744-1523-C7A9-D865-F99F5095AB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9CB5F3-603B-CB21-555E-448030D8D6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FC7EA-A73C-4146-9B14-54C11597AA40}" type="datetime1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7CD49F-9F4B-37C1-1165-9DCA97504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D9622E-8639-E6AB-8BDE-2B7F55B88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8767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C971F1-6481-4050-00C9-A33D33CE43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408A0F-5D53-2152-E470-49923B10E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870612-6EE7-86AA-99AA-8B3E140938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25DC53-D744-A54C-8957-51F9F93FF803}" type="datetime1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970635-6FA9-E3DF-44DA-1BA068D05C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D35928-0209-EEAC-4AA5-B6BCB7B432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6756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F2190-C2B0-E47F-55A3-6BBBE700A25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ja-JP" altLang="en-US" sz="6000"/>
              <a:t>抽樣</a:t>
            </a:r>
            <a:endParaRPr lang="en-US" dirty="0">
              <a:latin typeface="Angsana New" panose="02020603050405020304" pitchFamily="18" charset="-34"/>
              <a:cs typeface="Angsana New" panose="02020603050405020304" pitchFamily="18" charset="-34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782A46-16E0-1D53-EF0E-D6580A739E6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3</a:t>
            </a:r>
            <a:r>
              <a:rPr lang="en-US"/>
              <a:t>/25/2025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53732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AB62F-DCD4-57B2-B6B1-93F7FFB5A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sz="4400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課程目標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3D5CCB-B0EE-E4AC-9EFC-B45819986D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marR="0" indent="3048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kern="100" dirty="0"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網路調查的特色</a:t>
            </a:r>
            <a:endParaRPr lang="en-US" altLang="zh-TW" kern="100" dirty="0"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0" marR="0" indent="3048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kern="100" dirty="0"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網路調查的優點</a:t>
            </a:r>
            <a:endParaRPr lang="en-US" altLang="zh-TW" kern="100" dirty="0"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0" marR="0" indent="3048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kern="100" dirty="0"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網路調查的問題</a:t>
            </a:r>
            <a:endParaRPr lang="en-US" altLang="zh-TW" kern="100" dirty="0"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0" marR="0" indent="3048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網路調查的</a:t>
            </a:r>
            <a:r>
              <a:rPr lang="zh-TW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實務</a:t>
            </a:r>
            <a:endParaRPr lang="en-US" altLang="zh-TW" sz="2000" kern="100" dirty="0">
              <a:effectLst/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0" marR="0" indent="304800" algn="just">
              <a:spcBef>
                <a:spcPts val="0"/>
              </a:spcBef>
              <a:spcAft>
                <a:spcPts val="0"/>
              </a:spcAft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5B3FC9-8666-6C80-0610-26E10A33F2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1364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66BC7-D370-DB3B-3586-0BB7D321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網路調查的特色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8E529-29DD-AB2C-94BF-694DBD41A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en-US" sz="2000" dirty="0" err="1"/>
              <a:t>網路普及之後，研究者可以利用email寄問</a:t>
            </a:r>
            <a:r>
              <a:rPr lang="zh-TW" altLang="en-US" sz="2000" dirty="0"/>
              <a:t>卷給受訪者</a:t>
            </a:r>
            <a:r>
              <a:rPr lang="en-US" sz="2000" dirty="0"/>
              <a:t>，</a:t>
            </a:r>
            <a:r>
              <a:rPr lang="en-US" sz="2000" dirty="0" err="1"/>
              <a:t>或者請受訪者直接登入網路介面回答問題</a:t>
            </a:r>
            <a:r>
              <a:rPr lang="en-US" sz="2000" dirty="0"/>
              <a:t>。</a:t>
            </a:r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en-US" sz="2000" dirty="0" err="1"/>
              <a:t>出現越來越多方法克服非機率抽樣的問題，使網路調查的結果更接近電話調查或者面對面調查</a:t>
            </a:r>
            <a:r>
              <a:rPr lang="en-US" sz="2000" dirty="0"/>
              <a:t>。</a:t>
            </a:r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en-US" sz="2000" dirty="0" err="1"/>
              <a:t>網路調查有許多優點，主要可以克服透過訪員接觸受訪者的問題，改由受訪者自己填寫</a:t>
            </a:r>
            <a:r>
              <a:rPr lang="en-US" sz="2000" dirty="0"/>
              <a:t>。</a:t>
            </a:r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en-US" sz="2000" dirty="0" err="1"/>
              <a:t>網路調查加上實驗設計，受到研究者的歡迎</a:t>
            </a:r>
            <a:r>
              <a:rPr lang="en-US" sz="2000" dirty="0"/>
              <a:t>。</a:t>
            </a:r>
          </a:p>
          <a:p>
            <a:pPr>
              <a:buFont typeface="Wingdings" pitchFamily="2" charset="2"/>
              <a:buChar char="l"/>
            </a:pPr>
            <a:endParaRPr lang="en-US" sz="2000" dirty="0"/>
          </a:p>
          <a:p>
            <a:pPr>
              <a:buFont typeface="Wingdings" pitchFamily="2" charset="2"/>
              <a:buChar char="l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C166A0-0716-0F20-CCC6-258987145E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3617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66BC7-D370-DB3B-3586-0BB7D321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機率抽樣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08E529-29DD-AB2C-94BF-694DBD41AB6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ja-JP" altLang="en-US" sz="2000"/>
                  <a:t>如果母體中的每一個成員都有一個大於零且已知的被選中機會，稱為機率抽樣。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ja-JP" altLang="en-US" sz="2000"/>
                  <a:t>由於遵循隨機原則，研究者可以使用統計公式計算信心水準與誤差範圍，使得樣本特徵可以推論至整個母體。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ja-JP" altLang="en-US" sz="2000"/>
                  <a:t>假設我們進行了一次網路調查，回收了 </a:t>
                </a:r>
                <a:r>
                  <a:rPr lang="en-US" altLang="ja-JP" sz="2000" dirty="0"/>
                  <a:t>1,067 </a:t>
                </a:r>
                <a:r>
                  <a:rPr lang="ja-JP" altLang="en-US" sz="2000"/>
                  <a:t>份 有效問卷，假設得到結果如下：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ja-JP" altLang="en-US" sz="2000"/>
                  <a:t>樣本平均值 </a:t>
                </a:r>
                <a:r>
                  <a:rPr lang="en-US" altLang="ja-JP" sz="2000" dirty="0"/>
                  <a:t>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US" altLang="ja-JP" sz="2000" dirty="0"/>
                  <a:t>)</a:t>
                </a:r>
                <a:r>
                  <a:rPr lang="ja-JP" altLang="en-US" sz="2000"/>
                  <a:t>：</a:t>
                </a:r>
                <a:r>
                  <a:rPr lang="en-US" altLang="ja-JP" sz="2000" dirty="0"/>
                  <a:t>5.5 </a:t>
                </a:r>
                <a:r>
                  <a:rPr lang="ja-JP" altLang="en-US" sz="2000"/>
                  <a:t>分，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ja-JP" altLang="en-US" sz="2000"/>
                  <a:t>樣本標準差 </a:t>
                </a:r>
                <a:r>
                  <a:rPr lang="en-US" altLang="ja-JP" sz="2000" dirty="0"/>
                  <a:t>(s )</a:t>
                </a:r>
                <a:r>
                  <a:rPr lang="ja-JP" altLang="en-US" sz="2000"/>
                  <a:t>： </a:t>
                </a:r>
                <a:r>
                  <a:rPr lang="en-US" altLang="ja-JP" sz="2000" dirty="0"/>
                  <a:t>2.5 </a:t>
                </a:r>
                <a:r>
                  <a:rPr lang="ja-JP" altLang="en-US" sz="2000"/>
                  <a:t>分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ja-JP" altLang="en-US" sz="2000"/>
                  <a:t>信心水準：</a:t>
                </a:r>
                <a:r>
                  <a:rPr lang="en-US" altLang="ja-JP" sz="2000" dirty="0"/>
                  <a:t>95% (</a:t>
                </a:r>
                <a:r>
                  <a:rPr lang="en-US" altLang="ja-JP" sz="2000" i="1" dirty="0"/>
                  <a:t>z</a:t>
                </a:r>
                <a:r>
                  <a:rPr lang="en-US" altLang="ja-JP" sz="2000" dirty="0"/>
                  <a:t> = 1.96)</a:t>
                </a:r>
                <a:r>
                  <a:rPr lang="ja-JP" altLang="en-US" sz="2000"/>
                  <a:t> 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ja-JP" altLang="en-US" sz="2000"/>
                  <a:t>標準誤 </a:t>
                </a:r>
                <a:r>
                  <a:rPr lang="en-US" altLang="ja-JP" sz="2000" dirty="0"/>
                  <a:t>(Standard Error)</a:t>
                </a:r>
                <a:r>
                  <a:rPr lang="ja-JP" altLang="en-US" sz="2000"/>
                  <a:t>：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2.5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altLang="ja-JP" sz="200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1067</m:t>
                            </m:r>
                          </m:e>
                        </m:rad>
                      </m:den>
                    </m:f>
                  </m:oMath>
                </a14:m>
                <a:r>
                  <a:rPr lang="en-US" altLang="ja-JP" sz="2000" dirty="0"/>
                  <a:t> </a:t>
                </a:r>
                <a14:m>
                  <m:oMath xmlns:m="http://schemas.openxmlformats.org/officeDocument/2006/math">
                    <m:r>
                      <a:rPr lang="en-US" altLang="ja-JP" sz="20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en-US" altLang="ja-JP" sz="2000" dirty="0"/>
                  <a:t> 0.0766</a:t>
                </a:r>
                <a:endParaRPr lang="en-US" sz="2000" dirty="0"/>
              </a:p>
              <a:p>
                <a:pPr>
                  <a:buFont typeface="Wingdings" pitchFamily="2" charset="2"/>
                  <a:buChar char="l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08E529-29DD-AB2C-94BF-694DBD41AB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085D9-FBDD-C940-3F14-8994BAC36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3214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90E2491-AA9A-BF63-9395-E47BB3443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5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575C55C-39ED-D1E3-ADBC-6F08C2F7E1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0158" y="0"/>
            <a:ext cx="777168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56175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66BC7-D370-DB3B-3586-0BB7D321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非機率抽樣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8E529-29DD-AB2C-94BF-694DBD41A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ja-JP" altLang="en-US" sz="2000"/>
              <a:t>非機率抽樣並非基於隨機原則，而是根據研究者的便利性、判斷或特定標準來選取樣本。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ja-JP" altLang="en-US" sz="2000"/>
              <a:t>缺乏代表性， 可能集中在少數人，無法推論至全體母體。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ja-JP" altLang="en-US" sz="2000"/>
              <a:t>抽樣機率不明，無法計算精確的抽樣誤差。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ja-JP" altLang="en-US" sz="2000"/>
              <a:t>便利抽樣、判斷抽樣（專家抽樣）、滾雪球抽樣、配額抽樣都屬於非機率抽樣。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endParaRPr lang="en-US" sz="2000" dirty="0"/>
          </a:p>
          <a:p>
            <a:pPr>
              <a:buFont typeface="Wingdings" pitchFamily="2" charset="2"/>
              <a:buChar char="l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085D9-FBDD-C940-3F14-8994BAC36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227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59EBEF9-A064-EC8F-F179-60480554D8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7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C7825AB-9123-046E-5144-047BBDB4FE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9405" y="993274"/>
            <a:ext cx="7772400" cy="5097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31867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66BC7-D370-DB3B-3586-0BB7D321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網路調查的非機率抽樣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8E529-29DD-AB2C-94BF-694DBD41A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ja-JP" altLang="en-US" sz="2000"/>
              <a:t>自願參與偏差 </a:t>
            </a:r>
            <a:r>
              <a:rPr lang="en-US" altLang="ja-JP" sz="2000" dirty="0"/>
              <a:t>(Self-Selection Bias)</a:t>
            </a:r>
            <a:r>
              <a:rPr lang="ja-JP" altLang="en-US" sz="2000"/>
              <a:t>：由對該主題感興趣、有強烈意見，或單純想領取獎勵的人自行決定加入。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ja-JP" altLang="en-US" sz="2000"/>
              <a:t>涵蓋誤差 </a:t>
            </a:r>
            <a:r>
              <a:rPr lang="en-US" altLang="ja-JP" sz="2000" dirty="0"/>
              <a:t>(Coverage Error)</a:t>
            </a:r>
            <a:r>
              <a:rPr lang="ja-JP" altLang="en-US" sz="2000"/>
              <a:t>：並非所有人都有同等的機會上網或看到調查連結。例如高齡族群、低收入者的上網頻率較低。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ja-JP" altLang="en-US" sz="2000"/>
              <a:t>非隨機的「便利性」：研究者通常將連結發布在自己能觸及的社群媒體、論壇或 </a:t>
            </a:r>
            <a:r>
              <a:rPr lang="en-US" altLang="ja-JP" sz="2000" dirty="0"/>
              <a:t>LINE </a:t>
            </a:r>
            <a:r>
              <a:rPr lang="ja-JP" altLang="en-US" sz="2000"/>
              <a:t>群組中。受限於研究者的「同溫層」。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ja-JP" altLang="en-US" sz="2000"/>
              <a:t>樣本性質難以驗證：</a:t>
            </a:r>
          </a:p>
          <a:p>
            <a:pPr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ja-JP" altLang="en-US" sz="2000"/>
              <a:t>重複填答： 同一人可能為了獎品多次填寫。</a:t>
            </a:r>
          </a:p>
          <a:p>
            <a:pPr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ja-JP" altLang="en-US" sz="2000"/>
              <a:t>機器人與無效樣本： </a:t>
            </a:r>
            <a:r>
              <a:rPr lang="en-US" altLang="ja-JP" sz="2000" dirty="0"/>
              <a:t>AI </a:t>
            </a:r>
            <a:r>
              <a:rPr lang="ja-JP" altLang="en-US" sz="2000"/>
              <a:t>或自動化程式可能產生大量垃圾數據。</a:t>
            </a:r>
          </a:p>
          <a:p>
            <a:pPr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ja-JP" altLang="en-US" sz="2000"/>
              <a:t>身分造假： 受訪者可能為了領取獎勵而虛報符合填答問卷條件的年齡或職業。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endParaRPr lang="en-US" sz="2000" dirty="0"/>
          </a:p>
          <a:p>
            <a:pPr>
              <a:buFont typeface="Wingdings" pitchFamily="2" charset="2"/>
              <a:buChar char="l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085D9-FBDD-C940-3F14-8994BAC36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7278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66BC7-D370-DB3B-3586-0BB7D321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如何修正網路調查的非機率抽樣？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08E529-29DD-AB2C-94BF-694DBD41AB6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  <a:buFont typeface="Wingdings" pitchFamily="2" charset="2"/>
                  <a:buChar char="q"/>
                </a:pPr>
                <a:r>
                  <a:rPr lang="ja-JP" altLang="en-US" sz="2000"/>
                  <a:t>配額抽樣 </a:t>
                </a:r>
                <a:r>
                  <a:rPr lang="en-US" altLang="ja-JP" sz="2000" dirty="0"/>
                  <a:t>(Quota Sampling)</a:t>
                </a:r>
                <a:r>
                  <a:rPr lang="ja-JP" altLang="en-US" sz="2000"/>
                  <a:t>： 如果資料庫中有足夠的樣本，可以設定性別、年齡比例，一旦某族群收滿足夠的樣本，就停止發送給受訪者。</a:t>
                </a:r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q"/>
                </a:pPr>
                <a:r>
                  <a:rPr lang="ja-JP" altLang="en-US" sz="2000"/>
                  <a:t>加權校正 </a:t>
                </a:r>
                <a:r>
                  <a:rPr lang="en-US" altLang="ja-JP" sz="2000" dirty="0"/>
                  <a:t>(Weighting)</a:t>
                </a:r>
                <a:r>
                  <a:rPr lang="ja-JP" altLang="en-US" sz="2000"/>
                  <a:t>： 根據人口普查數據，對受訪者進行事後數學調整。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q"/>
                </a:pPr>
                <a:r>
                  <a:rPr lang="ja-JP" altLang="en-US" sz="2000"/>
                  <a:t>例如：如果用電話訪問招募受訪者，然後寄同意書給受訪者，最後寄問卷給受訪者。這一套過程，有三次的選擇偏誤。</a:t>
                </a:r>
                <a:endParaRPr lang="en-US" altLang="ja-JP" sz="2000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：</a:t>
                </a:r>
                <a:r>
                  <a:rPr lang="ja-JP" altLang="en-US"/>
                  <a:t>電話樣本「被抽到且完成訪問」（</a:t>
                </a:r>
                <a:r>
                  <a:rPr lang="en-US" dirty="0"/>
                  <a:t>reference sample）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=1 </m:t>
                    </m:r>
                  </m:oMath>
                </a14:m>
                <a:r>
                  <a:rPr lang="en-US" dirty="0"/>
                  <a:t>：</a:t>
                </a:r>
                <a:r>
                  <a:rPr lang="ja-JP" altLang="en-US"/>
                  <a:t>在電話訪問後「同意加入 </a:t>
                </a:r>
                <a:r>
                  <a:rPr lang="en-US" dirty="0"/>
                  <a:t>panel」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=1 </m:t>
                    </m:r>
                  </m:oMath>
                </a14:m>
                <a:r>
                  <a:rPr lang="en-US" dirty="0"/>
                  <a:t>：</a:t>
                </a:r>
                <a:r>
                  <a:rPr lang="ja-JP" altLang="en-US"/>
                  <a:t>在同意加入後「實際完成線上問卷」</a:t>
                </a:r>
              </a:p>
              <a:p>
                <a:r>
                  <a:rPr lang="ja-JP" altLang="en-US" sz="2100"/>
                  <a:t>最後資料的集合是：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altLang="ja-JP" sz="21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1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ja-JP" sz="2100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=1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=1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=1</m:t>
                        </m:r>
                      </m:e>
                    </m:d>
                  </m:oMath>
                </a14:m>
                <a:endParaRPr lang="ja-JP" altLang="en-US" sz="2100"/>
              </a:p>
              <a:p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q"/>
                </a:pP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endParaRPr lang="en-US" sz="2000" dirty="0"/>
              </a:p>
              <a:p>
                <a:pPr>
                  <a:buFont typeface="Wingdings" pitchFamily="2" charset="2"/>
                  <a:buChar char="l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08E529-29DD-AB2C-94BF-694DBD41AB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085D9-FBDD-C940-3F14-8994BAC36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64970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43FC3-4047-4A6A-6B74-C624EA381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網路調查的</a:t>
            </a:r>
            <a:r>
              <a:rPr lang="en-US" dirty="0" err="1"/>
              <a:t>加權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3CE2E6-2E15-4EE8-1671-5A91A471FF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ja-JP" altLang="en-US" sz="2400"/>
                  <a:t>在電話樣本內，完成線上問卷的條件機率為：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𝐽𝑅</m:t>
                        </m:r>
                      </m:sub>
                    </m:sSub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ja-JP" sz="2400" b="0" i="0" smtClean="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𝐽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=1,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e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e>
                        </m:d>
                      </m:e>
                    </m:func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sub>
                    </m:sSub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ja-JP" sz="2400" dirty="0"/>
              </a:p>
              <a:p>
                <a:r>
                  <a:rPr lang="ja-JP" altLang="en-US" sz="2400"/>
                  <a:t>「線上完成者」的總權重可以寫成：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  <m:r>
                      <a:rPr lang="en-US" altLang="ja-JP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sub>
                        </m:s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altLang="ja-JP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en-US" altLang="ja-JP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</m:sub>
                        </m:sSub>
                        <m:r>
                          <a:rPr lang="en-US" altLang="ja-JP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altLang="ja-JP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ja-JP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en-US" altLang="ja-JP" sz="2400" dirty="0"/>
              </a:p>
              <a:p>
                <a:r>
                  <a:rPr lang="ja-JP" altLang="en-US" sz="2400"/>
                  <a:t>加權後能回到母體平均</a:t>
                </a:r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3CE2E6-2E15-4EE8-1671-5A91A471FF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44" t="-2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26EBF-36D7-2773-E645-6C866621B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67446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66BC7-D370-DB3B-3586-0BB7D321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期末報告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8E529-29DD-AB2C-94BF-694DBD41A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zh-TW" altLang="en-US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為鼓勵團隊合作，期末報告係由學生分組針對民意或者調查的主題進行研究，例如政府是否回應民意？個人的意見如何形成？如何改進問卷的設計或者執行方式等等？</a:t>
            </a:r>
            <a:endParaRPr lang="en-US" altLang="zh-TW" kern="100" dirty="0">
              <a:effectLst/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zh-TW" altLang="en-US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期末進行分組發表報告後，於兩週後繳交完整報告。</a:t>
            </a:r>
            <a:endParaRPr lang="en-US" altLang="zh-TW" kern="100" dirty="0">
              <a:effectLst/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zh-TW" altLang="en-US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每一組最少</a:t>
            </a:r>
            <a:r>
              <a:rPr lang="en-US" altLang="zh-TW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2</a:t>
            </a:r>
            <a:r>
              <a:rPr lang="zh-TW" altLang="en-US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人，最多</a:t>
            </a:r>
            <a:r>
              <a:rPr lang="en-US" altLang="zh-TW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4</a:t>
            </a:r>
            <a:r>
              <a:rPr lang="zh-TW" altLang="en-US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人。</a:t>
            </a:r>
            <a:endParaRPr lang="en-US" altLang="zh-TW" kern="100" dirty="0">
              <a:effectLst/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zh-TW" altLang="en-US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報告至少包括：研究問題與可能貢獻、文獻回顧、研究發現與建議以及結論。</a:t>
            </a:r>
            <a:endParaRPr lang="en-US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3E27AD-FE49-2E5F-F622-F163350A2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89994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2968</TotalTime>
  <Words>489</Words>
  <Application>Microsoft Macintosh PowerPoint</Application>
  <PresentationFormat>Widescreen</PresentationFormat>
  <Paragraphs>64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20" baseType="lpstr">
      <vt:lpstr>Angsana New</vt:lpstr>
      <vt:lpstr>Arial</vt:lpstr>
      <vt:lpstr>Calibri</vt:lpstr>
      <vt:lpstr>Calibri Light</vt:lpstr>
      <vt:lpstr>Cambria Math</vt:lpstr>
      <vt:lpstr>Courier New</vt:lpstr>
      <vt:lpstr>Times New Roman</vt:lpstr>
      <vt:lpstr>Wingdings</vt:lpstr>
      <vt:lpstr>Office Theme</vt:lpstr>
      <vt:lpstr>抽樣</vt:lpstr>
      <vt:lpstr>課程目標</vt:lpstr>
      <vt:lpstr>網路調查的特色</vt:lpstr>
      <vt:lpstr>機率抽樣</vt:lpstr>
      <vt:lpstr>PowerPoint Presentation</vt:lpstr>
      <vt:lpstr>非機率抽樣</vt:lpstr>
      <vt:lpstr>PowerPoint Presentation</vt:lpstr>
      <vt:lpstr>網路調查的非機率抽樣</vt:lpstr>
      <vt:lpstr>如何修正網路調查的非機率抽樣？</vt:lpstr>
      <vt:lpstr>網路調查的加權</vt:lpstr>
      <vt:lpstr>期末報告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民意與調查</dc:title>
  <dc:creator>Chia-hung Tsai</dc:creator>
  <cp:lastModifiedBy>Chia-hung Tsai</cp:lastModifiedBy>
  <cp:revision>25</cp:revision>
  <dcterms:created xsi:type="dcterms:W3CDTF">2025-11-29T03:50:16Z</dcterms:created>
  <dcterms:modified xsi:type="dcterms:W3CDTF">2026-03-17T12:53:52Z</dcterms:modified>
</cp:coreProperties>
</file>