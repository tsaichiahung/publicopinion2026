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71" r:id="rId5"/>
    <p:sldId id="264" r:id="rId6"/>
    <p:sldId id="273" r:id="rId7"/>
    <p:sldId id="274" r:id="rId8"/>
    <p:sldId id="275" r:id="rId9"/>
    <p:sldId id="276" r:id="rId10"/>
    <p:sldId id="277" r:id="rId11"/>
    <p:sldId id="272" r:id="rId12"/>
    <p:sldId id="265" r:id="rId13"/>
    <p:sldId id="266" r:id="rId14"/>
    <p:sldId id="267" r:id="rId15"/>
    <p:sldId id="268" r:id="rId16"/>
    <p:sldId id="269" r:id="rId17"/>
    <p:sldId id="270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755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549C9-F1F2-A344-9318-AC3AB4654B7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A1D9D-B5FD-8C44-B376-87A4AA126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9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D1C4-10C4-2E9F-5F3B-D835D4DB9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6E4F2-7FDB-77A9-4AB5-8E20E70E5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B6177-5485-5E7E-ABD3-81FAB3262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731F-7F54-EF4E-BC14-D4454C95FF4D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4E5E-A7BD-3EBE-B8D5-7A666231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6BEE-CE7C-86EE-2914-ABE5BBD5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6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689C-316C-BAC8-0C60-4D6FE59E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9673-CFFC-4707-B781-2DC3EACF2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6D07-2657-BE71-5260-9287F1DA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3121-CDD1-174D-9095-06B3974B3CC1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4C41-BB70-1FCC-8578-1360ADC5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C362-7B0A-F33A-D6DC-567128B9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AE0D-CFBB-0F53-A2AD-692FBC4B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E5BC-34D8-9D68-FE7D-A0D2546A1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4AD3-7289-D5CB-2A5C-6D306ABA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2BAF9-EAD3-1641-87AF-ADC71D8222CD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A442-AC0E-C1C3-3308-FFAFBC78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EA799-1610-8A6B-77E0-A40B49B0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1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01B37-CD3C-31C5-04C9-76079E4F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19E3-EF27-A09D-99C4-A09F83757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45470-D1AC-A09D-7550-4360D6773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DF9F5-F533-F729-C898-7B1E13C6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7A49D-4C23-6A49-AF9D-C0E1C1130921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4E930-A44F-BD91-5CF5-8961F49D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436D-9139-45AE-EEE3-BE76C6A3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5E3F-6BE9-7D78-DCA4-B0726064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79DA6-881E-5DDD-EAC7-66A8251F0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D745-6E3C-AFE3-6184-A162F7AF3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C8FBD-C24D-C01E-AADB-C4F55CB0C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CF2A7-7431-1439-2261-2A41DF6F9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1166D-85F0-EB57-9657-7D5E7454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6F59-8951-4749-B49C-6C88C0B4B6BD}" type="datetime1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9DD5C-5F82-A1B0-7384-5495581E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7FAB2-DD68-52EC-029D-D14A48E5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8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281-6A9B-0939-7E18-80A3A800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6B42E-DF40-D4B0-ABC7-C980F99E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BBDF-C485-174D-8051-FF3ED3DF33C6}" type="datetime1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79666-1FC2-D7B9-01A0-0EB0BF6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DA989-73AE-785D-FC4B-CE591A0D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EEB0E-1A66-665C-2816-8906616D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316C8-35EA-C448-A7DB-295F753FB635}" type="datetime1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96B52-794F-DF33-0D29-76E7E8C0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D5823-189C-2040-1358-6D61F414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7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5DD4-4B4A-3455-8C21-E3BF4A50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D71E-B5FF-CD05-E327-1A6DE200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11B76-22F9-3979-2199-DB800AA2A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931D2-9E23-78EB-9A41-01A4326F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6818-685C-B142-BE10-A6D54A85D7FF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873F4-4FD5-6F46-BA13-0A9FDDA5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D0AC0-F263-C2B0-FA4B-E6D26281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7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45D0-04F7-A504-95F3-804098D4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E57-E525-B44B-DFFF-53EA7B26E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3A571-088E-6D99-68E4-2984A128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9C560-F853-5059-139B-804BFC97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4D57B-5B66-2F49-AB7C-362DD22B45D8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3660A-A890-E4DA-6D80-79662762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0F3A-753B-BC76-6F55-8CEC7CC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1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EF6-E576-0A12-CB1C-7E493A73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47DB6-223C-7733-A4F7-AA562596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6927A-7D51-301B-AF38-CE551C01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AAEB-F940-CA44-B742-2110711973A7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6AEE-F89E-A77B-9530-F4F63AA5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7B94-A394-D3CF-25AB-74C40FF4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8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8D4DA-0738-22C4-1450-507823704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99744-1523-C7A9-D865-F99F5095A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B5F3-603B-CB21-555E-448030D8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C7EA-A73C-4146-9B14-54C11597AA40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D49F-9F4B-37C1-1165-9DCA9750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22E-8639-E6AB-8BDE-2B7F55B8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7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971F1-6481-4050-00C9-A33D33CE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08A0F-5D53-2152-E470-49923B10E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0612-6EE7-86AA-99AA-8B3E14093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5DC53-D744-A54C-8957-51F9F93FF803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0635-6FA9-E3DF-44DA-1BA068D05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5928-0209-EEAC-4AA5-B6BCB7B43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1383-B02B-694B-B2AD-A967203C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2190-C2B0-E47F-55A3-6BBBE700A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6000"/>
              <a:t>抽樣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82A46-16E0-1D53-EF0E-D6580A739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/>
              <a:t>/25/2025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7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B62F-DCD4-57B2-B6B1-93F7FFB5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sz="4400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課程目標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D5CCB-B0EE-E4AC-9EFC-B4581998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為何要抽樣？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抽樣方法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kern="1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推論統計</a:t>
            </a:r>
            <a:endParaRPr lang="en-US" altLang="zh-TW" kern="1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000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0" marR="0" indent="304800" algn="just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B3FC9-8666-6C80-0610-26E10A33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3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為何要抽樣？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>
                <a:latin typeface="MingLiU" panose="02020509000000000000" pitchFamily="49" charset="-120"/>
                <a:ea typeface="MingLiU" panose="02020509000000000000" pitchFamily="49" charset="-120"/>
              </a:rPr>
              <a:t>早在巴比倫時代，當時的人想要對農耕的方式與面積進行調查</a:t>
            </a:r>
            <a:r>
              <a:rPr 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 err="1">
                <a:latin typeface="MingLiU" panose="02020509000000000000" pitchFamily="49" charset="-120"/>
                <a:ea typeface="MingLiU" panose="02020509000000000000" pitchFamily="49" charset="-120"/>
              </a:rPr>
              <a:t>工業革命之前，人口不多，可以把全國分成若干區域進行全體人口的調查</a:t>
            </a:r>
            <a:r>
              <a:rPr 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(census)。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TW" alt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人口增加之後，</a:t>
            </a:r>
            <a:r>
              <a:rPr lang="en-US" altLang="zh-TW" sz="2000" dirty="0" err="1">
                <a:latin typeface="MingLiU" panose="02020509000000000000" pitchFamily="49" charset="-120"/>
                <a:ea typeface="MingLiU" panose="02020509000000000000" pitchFamily="49" charset="-120"/>
              </a:rPr>
              <a:t>調查全體母體</a:t>
            </a:r>
            <a:r>
              <a:rPr lang="zh-TW" alt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變得</a:t>
            </a:r>
            <a:r>
              <a:rPr lang="en-US" altLang="zh-TW" sz="2000" dirty="0" err="1">
                <a:latin typeface="MingLiU" panose="02020509000000000000" pitchFamily="49" charset="-120"/>
                <a:ea typeface="MingLiU" panose="02020509000000000000" pitchFamily="49" charset="-120"/>
              </a:rPr>
              <a:t>不可行</a:t>
            </a:r>
            <a:r>
              <a:rPr lang="zh-TW" alt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。因此從</a:t>
            </a:r>
            <a:r>
              <a:rPr 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1895年到1934年，學者開始討論抽樣調查的方法，包括立意抽樣，也就是根據普查把全國一直細分到街道進行抽樣。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到了1940年代，機率抽樣成為主流，政府與民調公司從母體中抽取部分的樣本，透過電話、面對面、郵寄問卷進行調查。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sz="2000" dirty="0">
                <a:latin typeface="MingLiU" panose="02020509000000000000" pitchFamily="49" charset="-120"/>
                <a:ea typeface="MingLiU" panose="02020509000000000000" pitchFamily="49" charset="-120"/>
              </a:rPr>
              <a:t>到了1970年代，以電腦輔助的電話訪問(CATI)開始流行。1982年出現網際網路，開始有人使用email進行調查。</a:t>
            </a:r>
          </a:p>
          <a:p>
            <a:pPr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166A0-0716-0F20-CCC6-25898714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251C1C1-BCDC-0FFC-A3C6-ACED3BC6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69BFB84-0026-A6D9-C983-8B4284284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630984"/>
            <a:ext cx="10515600" cy="763708"/>
          </a:xfrm>
        </p:spPr>
        <p:txBody>
          <a:bodyPr>
            <a:normAutofit/>
          </a:bodyPr>
          <a:lstStyle/>
          <a:p>
            <a:r>
              <a:rPr lang="en" altLang="zh-TW" dirty="0">
                <a:solidFill>
                  <a:schemeClr val="tx1"/>
                </a:solidFill>
              </a:rPr>
              <a:t>Source: </a:t>
            </a:r>
            <a:r>
              <a:rPr lang="en" altLang="zh-TW" dirty="0" err="1">
                <a:solidFill>
                  <a:schemeClr val="tx1"/>
                </a:solidFill>
              </a:rPr>
              <a:t>Biffignandi</a:t>
            </a:r>
            <a:r>
              <a:rPr lang="en-US" altLang="zh-TW" dirty="0">
                <a:solidFill>
                  <a:schemeClr val="tx1"/>
                </a:solidFill>
              </a:rPr>
              <a:t> and </a:t>
            </a:r>
            <a:r>
              <a:rPr lang="en" altLang="zh-TW" dirty="0">
                <a:solidFill>
                  <a:schemeClr val="tx1"/>
                </a:solidFill>
              </a:rPr>
              <a:t>Bethlehem (2021) Handbook of Web Survey, p. 111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9B96B5E-71A0-1AB2-9C3C-172ABD68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4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1BC76C-E4A5-129F-7659-C25E3860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641229"/>
            <a:ext cx="7772400" cy="481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3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機率抽樣的元素（一）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ja-JP" sz="2000" dirty="0"/>
              <a:t>Bowley(1906)</a:t>
            </a:r>
            <a:r>
              <a:rPr lang="ja-JP" altLang="en-US" sz="2000"/>
              <a:t>提出大數法則：只要樣本量足夠大且具備隨機性，樣本的平均值就會趨近於母體的平均值。抽樣調查的精確度是可以透過數學公式（標準誤）來衡量的。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ja-JP" sz="2000" dirty="0"/>
              <a:t>Bowley (1926)</a:t>
            </a:r>
            <a:r>
              <a:rPr lang="ja-JP" altLang="en-US" sz="2000"/>
              <a:t>提出</a:t>
            </a:r>
            <a:r>
              <a:rPr lang="zh-TW" altLang="en-US" sz="2000" dirty="0"/>
              <a:t>分層抽樣理論：</a:t>
            </a:r>
            <a:endParaRPr lang="en-US" altLang="zh-TW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將母體依照已知特徵（如地區、職業）分成若干「層」（</a:t>
            </a:r>
            <a:r>
              <a:rPr lang="en-US" altLang="ja-JP" sz="2000" dirty="0"/>
              <a:t>Strata</a:t>
            </a:r>
            <a:r>
              <a:rPr lang="ja-JP" altLang="en-US" sz="2000"/>
              <a:t>）。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在每一層內進行隨機抽樣。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等比例分配 </a:t>
            </a:r>
            <a:r>
              <a:rPr lang="en-US" altLang="zh-TW" sz="2000" dirty="0"/>
              <a:t>(</a:t>
            </a:r>
            <a:r>
              <a:rPr lang="en-US" altLang="ja-JP" sz="2000" dirty="0"/>
              <a:t>Proportional Allocation)</a:t>
            </a:r>
            <a:r>
              <a:rPr lang="ja-JP" altLang="en-US" sz="2000"/>
              <a:t>： </a:t>
            </a:r>
            <a:r>
              <a:rPr lang="zh-TW" altLang="en-US" sz="2000" dirty="0"/>
              <a:t>各層抽取的樣本數應與該層在母體中的比例一致，以確保樣本結構與母體完全相同。</a:t>
            </a:r>
            <a:endParaRPr lang="en-US" altLang="ja-JP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00A7CD4-8BCE-CB26-0945-784DFDC0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dirty="0"/>
              <a:t>等比例分配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9B38302-3344-5246-4FF4-E49ADEAD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F5D712-AF58-8E6E-1CE2-D7DAE492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6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3CDD0B-B711-97A5-2078-238874EDA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57" y="1825625"/>
            <a:ext cx="7772400" cy="47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4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4DDB-15EC-29FF-ECB8-4B888946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1805-6F04-E425-0D4E-A3915F73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機率抽樣的元素（二）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ACAF2-D8D8-8333-5783-CC2CE5195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en-US" altLang="zh-TW" sz="2000" dirty="0"/>
                  <a:t>Jerzy </a:t>
                </a:r>
                <a:r>
                  <a:rPr lang="en-US" altLang="zh-TW" sz="2000" dirty="0" err="1"/>
                  <a:t>Neyman</a:t>
                </a:r>
                <a:r>
                  <a:rPr lang="zh-TW" altLang="en-US" sz="2000" dirty="0"/>
                  <a:t>提出雖然我們無法得知母體參數，但可以建立一個區間，並宣稱：「如果我們重複抽樣 </a:t>
                </a:r>
                <a:r>
                  <a:rPr lang="en-US" altLang="zh-TW" sz="2000" dirty="0"/>
                  <a:t>100 </a:t>
                </a:r>
                <a:r>
                  <a:rPr lang="zh-TW" altLang="en-US" sz="2000" dirty="0"/>
                  <a:t>次，有 </a:t>
                </a:r>
                <a:r>
                  <a:rPr lang="en-US" altLang="zh-TW" sz="2000" dirty="0"/>
                  <a:t>95 </a:t>
                </a:r>
                <a:r>
                  <a:rPr lang="zh-TW" altLang="en-US" sz="2000" dirty="0"/>
                  <a:t>次這個區間會包含真實的母體參數。」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en-US" altLang="zh-TW" sz="2000" dirty="0" err="1"/>
                  <a:t>Neyman</a:t>
                </a:r>
                <a:r>
                  <a:rPr lang="zh-TW" altLang="en-US" sz="2000" dirty="0"/>
                  <a:t>主張推論的有效性來自於抽樣設計（</a:t>
                </a:r>
                <a:r>
                  <a:rPr lang="en-US" altLang="ja-JP" sz="2000" dirty="0"/>
                  <a:t>Sampling Design</a:t>
                </a:r>
                <a:r>
                  <a:rPr lang="ja-JP" altLang="en-US" sz="2000"/>
                  <a:t>）</a:t>
                </a:r>
                <a:r>
                  <a:rPr lang="zh-TW" altLang="en-US" sz="2000" dirty="0"/>
                  <a:t>本身，而不是對母體分佈的假設。只要抽樣過程是機率導向的，不論母體是什麼分佈，我們都能得到不偏的估計值（</a:t>
                </a:r>
                <a:r>
                  <a:rPr lang="en-US" altLang="ja-JP" sz="2000" dirty="0"/>
                  <a:t>Unbiased Estimator</a:t>
                </a:r>
                <a:r>
                  <a:rPr lang="ja-JP" altLang="en-US" sz="2000"/>
                  <a:t>）。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zh-TW" altLang="en-US" sz="2000" dirty="0"/>
                  <a:t>最優分配法 </a:t>
                </a:r>
                <a:r>
                  <a:rPr lang="en-US" altLang="zh-TW" sz="2000" dirty="0"/>
                  <a:t>(</a:t>
                </a:r>
                <a:r>
                  <a:rPr lang="en-US" altLang="ja-JP" sz="2000" dirty="0" err="1"/>
                  <a:t>Neyman</a:t>
                </a:r>
                <a:r>
                  <a:rPr lang="en-US" altLang="ja-JP" sz="2000" dirty="0"/>
                  <a:t> Allocation)</a:t>
                </a:r>
                <a:r>
                  <a:rPr lang="ja-JP" altLang="en-US" sz="2000"/>
                  <a:t>：如果某一「層」（例如高收入戶）的內部變異非常大，而另一層（例如固定薪資族）的變異很小，我們應該在變異大的那一層抽取更多樣本。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zh-TW" altLang="en-US" sz="2000" dirty="0"/>
                  <a:t>決定每一層的樣本數的公式：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ACAF2-D8D8-8333-5783-CC2CE5195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r="-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51AA-21FF-3A73-E78A-CABF3C98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06E1-CF63-3145-5A92-C69BD208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8C6F-211A-7AA3-0C69-B61C040A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機率抽樣的元素（三）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E9C41-B4EA-2EE4-7488-91928CBB7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en-US" altLang="zh-TW" sz="2000" dirty="0"/>
                  <a:t>Horvitz &amp; Thompson (1952)</a:t>
                </a:r>
                <a:r>
                  <a:rPr lang="zh-TW" altLang="en-US" sz="2000" dirty="0"/>
                  <a:t>提出不論抽樣設計多麼複雜，只要我們計算出每個樣本的入選機率或者權重，都能得到母體總和的不偏估計。</a:t>
                </a:r>
                <a:r>
                  <a:rPr lang="en-US" altLang="zh-TW" sz="2000" dirty="0"/>
                  <a:t>H-Y</a:t>
                </a:r>
                <a:r>
                  <a:rPr lang="zh-TW" altLang="en-US" sz="2000" dirty="0"/>
                  <a:t>估計式：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Ｙ</m:t>
                        </m:r>
                      </m:e>
                    </m:acc>
                  </m:oMath>
                </a14:m>
                <a:r>
                  <a:rPr lang="en-US" altLang="zh-TW" sz="20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000" dirty="0"/>
                  <a:t>是被抽中的機率。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zh-TW" altLang="en-US" sz="2000" dirty="0"/>
                  <a:t>例如有</a:t>
                </a:r>
                <a:r>
                  <a:rPr lang="en-US" altLang="zh-TW" sz="2000" dirty="0"/>
                  <a:t>10</a:t>
                </a:r>
                <a:r>
                  <a:rPr lang="zh-TW" altLang="en-US" sz="2000" dirty="0"/>
                  <a:t>人，已知有</a:t>
                </a:r>
                <a:r>
                  <a:rPr lang="en-US" altLang="zh-TW" sz="2000" dirty="0"/>
                  <a:t>8</a:t>
                </a:r>
                <a:r>
                  <a:rPr lang="zh-TW" altLang="en-US" sz="2000" dirty="0"/>
                  <a:t>人的年薪是</a:t>
                </a:r>
                <a:r>
                  <a:rPr lang="en-US" altLang="zh-TW" sz="2000" dirty="0"/>
                  <a:t>100</a:t>
                </a:r>
                <a:r>
                  <a:rPr lang="zh-TW" altLang="en-US" sz="2000" dirty="0"/>
                  <a:t>萬，</a:t>
                </a:r>
                <a:r>
                  <a:rPr lang="en-US" altLang="zh-TW" sz="2000" dirty="0"/>
                  <a:t>2</a:t>
                </a:r>
                <a:r>
                  <a:rPr lang="zh-TW" altLang="en-US" sz="2000" dirty="0"/>
                  <a:t>人的年薪是</a:t>
                </a:r>
                <a:r>
                  <a:rPr lang="en-US" altLang="zh-TW" sz="2000" dirty="0"/>
                  <a:t>20</a:t>
                </a:r>
                <a:r>
                  <a:rPr lang="zh-TW" altLang="en-US" sz="2000" dirty="0"/>
                  <a:t>萬，如果只能抽出一位，請問年薪的估計是多少？如果抽中年薪</a:t>
                </a:r>
                <a:r>
                  <a:rPr lang="en-US" altLang="zh-TW" sz="2000" dirty="0"/>
                  <a:t>100</a:t>
                </a:r>
                <a:r>
                  <a:rPr lang="zh-TW" altLang="en-US" sz="2000" dirty="0"/>
                  <a:t>萬的</a:t>
                </a:r>
                <a:r>
                  <a:rPr lang="en-US" altLang="zh-TW" sz="2000" dirty="0"/>
                  <a:t>8</a:t>
                </a:r>
                <a:r>
                  <a:rPr lang="zh-TW" altLang="en-US" sz="2000" dirty="0"/>
                  <a:t>個人其中之一，</a:t>
                </a:r>
                <a:r>
                  <a:rPr lang="en-US" altLang="zh-TW" sz="2000" dirty="0"/>
                  <a:t>100</a:t>
                </a:r>
                <a:r>
                  <a:rPr lang="zh-TW" altLang="en-US" sz="2000" dirty="0"/>
                  <a:t>萬雖然是無偏估計，卻不如用</a:t>
                </a:r>
                <a:r>
                  <a:rPr lang="en-US" altLang="zh-TW" sz="2000" dirty="0"/>
                  <a:t>H-Y</a:t>
                </a:r>
                <a:r>
                  <a:rPr lang="zh-TW" altLang="en-US" sz="2000" dirty="0"/>
                  <a:t>估計式：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0.1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=1000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萬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。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如果抽中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年薪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萬，則是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0.1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=200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萬。</m:t>
                    </m:r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期望值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×1000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0.2×200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=800+40=840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萬。</m:t>
                    </m:r>
                  </m:oMath>
                </a14:m>
                <a:r>
                  <a:rPr lang="en-US" altLang="zh-TW" sz="2000" dirty="0"/>
                  <a:t> 840</a:t>
                </a:r>
                <a:r>
                  <a:rPr lang="zh-TW" altLang="en-US" sz="2000" dirty="0"/>
                  <a:t>萬剛好是這</a:t>
                </a:r>
                <a:r>
                  <a:rPr lang="en-US" altLang="zh-TW" sz="2000" dirty="0"/>
                  <a:t>10</a:t>
                </a:r>
                <a:r>
                  <a:rPr lang="zh-TW" altLang="en-US" sz="2000" dirty="0"/>
                  <a:t>個人的平均年薪。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zh-TW" altLang="en-US" sz="2000" dirty="0"/>
                  <a:t>入選機率只要不是 </a:t>
                </a:r>
                <a:r>
                  <a:rPr lang="en-US" altLang="zh-TW" sz="2000" dirty="0"/>
                  <a:t>0</a:t>
                </a:r>
                <a:r>
                  <a:rPr lang="zh-TW" altLang="en-US" sz="2000" dirty="0"/>
                  <a:t>，在計算時除回正確的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" sz="2000" dirty="0"/>
                  <a:t>，</a:t>
                </a:r>
                <a:r>
                  <a:rPr lang="zh-TW" altLang="en-US" sz="2000" dirty="0"/>
                  <a:t>算出的平均收入會等於母體的真實真相。期望值寫成：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>
                          <m:f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∑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ja-JP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E9C41-B4EA-2EE4-7488-91928CBB72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 r="-603" b="-87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B54FE-2AC9-E283-7F28-80727A4E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0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B92D8-39C7-1636-8E9E-421E5549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機率抽樣的元素（四）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7F4EED-7909-5AF8-5411-8811C2034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如果已經知道收入高的人的中選機率是收入低的人的</a:t>
                </a:r>
                <a:r>
                  <a:rPr kumimoji="1" lang="en-US" altLang="zh-TW" sz="2000" dirty="0"/>
                  <a:t>4</a:t>
                </a:r>
                <a:r>
                  <a:rPr kumimoji="1" lang="zh-TW" altLang="en-US" sz="2000" dirty="0"/>
                  <a:t>倍，只抽出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人，也可以用</a:t>
                </a:r>
                <a:r>
                  <a:rPr kumimoji="1" lang="en-US" altLang="zh-TW" sz="2000" dirty="0"/>
                  <a:t>H-T</a:t>
                </a:r>
                <a:r>
                  <a:rPr kumimoji="1" lang="zh-TW" altLang="en-US" sz="2000" dirty="0"/>
                  <a:t>估計式。先計算每個人的中選機率：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×4+2</m:t>
                        </m:r>
                      </m:den>
                    </m:f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</m:oMath>
                </a14:m>
                <a:endParaRPr kumimoji="1" lang="en-US" altLang="zh-TW" sz="2000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期望值：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>
                          <m:f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34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4×</m:t>
                            </m:r>
                            <m:f>
                              <m:f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34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+2×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34</m:t>
                            </m:r>
                          </m:den>
                        </m:f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34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=800+40=840=</m:t>
                    </m:r>
                    <m:nary>
                      <m:naryPr>
                        <m:chr m:val="∑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zh-TW" sz="2000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如果樣本從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人增加到</a:t>
                </a:r>
                <a:r>
                  <a:rPr kumimoji="1" lang="en-US" altLang="zh-TW" sz="2000" dirty="0"/>
                  <a:t>2</a:t>
                </a:r>
                <a:r>
                  <a:rPr kumimoji="1" lang="zh-TW" altLang="en-US" sz="2000" dirty="0"/>
                  <a:t>人，其他條件不變，那麼每個人中選機率變成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kumimoji="1" lang="en-US" altLang="zh-TW" sz="2000" b="0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抽出</a:t>
                </a:r>
                <a:r>
                  <a:rPr kumimoji="1" lang="en-US" altLang="zh-TW" sz="2000" dirty="0"/>
                  <a:t>2</a:t>
                </a:r>
                <a:r>
                  <a:rPr kumimoji="1" lang="zh-TW" altLang="en-US" sz="2000" dirty="0"/>
                  <a:t>人可能是一個高薪一個低薪、兩個高薪、兩個低薪，分別計算這三種組合的期望值，</a:t>
                </a:r>
                <a:r>
                  <a:rPr kumimoji="1" lang="zh-TW" altLang="en-US" sz="2000"/>
                  <a:t>然後再加權平均</a:t>
                </a:r>
                <a:r>
                  <a:rPr kumimoji="1" lang="zh-TW" altLang="en-US" sz="2000" dirty="0"/>
                  <a:t>，會得到</a:t>
                </a:r>
                <a:r>
                  <a:rPr kumimoji="1" lang="en-US" altLang="zh-TW" sz="2000" dirty="0"/>
                  <a:t>840</a:t>
                </a:r>
                <a:r>
                  <a:rPr kumimoji="1" lang="zh-TW" altLang="en-US" sz="2000" dirty="0"/>
                  <a:t>萬（為什麼？）</a:t>
                </a:r>
                <a:endParaRPr kumimoji="1" lang="en-US" altLang="zh-TW" sz="2000" dirty="0"/>
              </a:p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比起只抽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人，如果抽中組合是一個高薪一個低薪，會更接近最後的期望值。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7F4EED-7909-5AF8-5411-8811C2034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r="-2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4C5D14-5932-A53B-6231-86CE0BBF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48C4BE4-7B96-743F-FB37-78B98C6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機率抽樣的元素（五）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6C7FE0-E2B6-85E4-2700-04A06C4B7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E739CE-D578-4E0C-7CD3-E1A196D8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ABDC07-D2D8-76EB-255B-5B03BE0D1E3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53494"/>
          <a:ext cx="10515599" cy="2895600"/>
        </p:xfrm>
        <a:graphic>
          <a:graphicData uri="http://schemas.openxmlformats.org/drawingml/2006/table">
            <a:tbl>
              <a:tblPr/>
              <a:tblGrid>
                <a:gridCol w="2695548">
                  <a:extLst>
                    <a:ext uri="{9D8B030D-6E8A-4147-A177-3AD203B41FA5}">
                      <a16:colId xmlns:a16="http://schemas.microsoft.com/office/drawing/2014/main" val="1092537034"/>
                    </a:ext>
                  </a:extLst>
                </a:gridCol>
                <a:gridCol w="2695548">
                  <a:extLst>
                    <a:ext uri="{9D8B030D-6E8A-4147-A177-3AD203B41FA5}">
                      <a16:colId xmlns:a16="http://schemas.microsoft.com/office/drawing/2014/main" val="4071730486"/>
                    </a:ext>
                  </a:extLst>
                </a:gridCol>
                <a:gridCol w="2695548">
                  <a:extLst>
                    <a:ext uri="{9D8B030D-6E8A-4147-A177-3AD203B41FA5}">
                      <a16:colId xmlns:a16="http://schemas.microsoft.com/office/drawing/2014/main" val="555145253"/>
                    </a:ext>
                  </a:extLst>
                </a:gridCol>
                <a:gridCol w="2428955">
                  <a:extLst>
                    <a:ext uri="{9D8B030D-6E8A-4147-A177-3AD203B41FA5}">
                      <a16:colId xmlns:a16="http://schemas.microsoft.com/office/drawing/2014/main" val="3059292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組合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H-T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估計值 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Y^)</a:t>
                      </a:r>
                      <a:endParaRPr lang="e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發生機率 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P)</a:t>
                      </a:r>
                      <a:endParaRPr lang="e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加權結果 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Y^×P)</a:t>
                      </a:r>
                      <a:endParaRPr lang="e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181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富人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850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0.8784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746.64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08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富 </a:t>
                      </a:r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窮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765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0.1197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91.57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357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窮人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680 </a:t>
                      </a:r>
                      <a:r>
                        <a:rPr lang="zh-TW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0.0018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1.22 </a:t>
                      </a:r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020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zh-TW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總計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1.0000</a:t>
                      </a:r>
                      <a:endParaRPr lang="zh-TW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839.43 </a:t>
                      </a: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萬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3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60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A6A0-D0A4-5C45-40A5-D1303876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4BC0-34C7-DDBF-FA25-8D0B64CA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機率抽樣方式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72A33-6DF2-AAC5-553F-AADBC53C2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如果母體中的每一個成員都有一個大於零且已知的被選中機會，稱為機率抽樣。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由於遵循隨機原則，研究者可以使用統計公式計算信心水準與誤差範圍，使得樣本特徵可以推論至整個母體。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假設我們進行了一次網路調查，回收了 </a:t>
                </a:r>
                <a:r>
                  <a:rPr lang="en-US" altLang="ja-JP" sz="2900" dirty="0"/>
                  <a:t>1,067 </a:t>
                </a:r>
                <a:r>
                  <a:rPr lang="ja-JP" altLang="en-US" sz="2900"/>
                  <a:t>份 有效問卷，假設得到結果如下：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樣本平均值 </a:t>
                </a:r>
                <a:r>
                  <a:rPr lang="en-US" altLang="ja-JP" sz="290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9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9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sz="2900" dirty="0"/>
                  <a:t>)</a:t>
                </a:r>
                <a:r>
                  <a:rPr lang="ja-JP" altLang="en-US" sz="2900"/>
                  <a:t>：</a:t>
                </a:r>
                <a:r>
                  <a:rPr lang="en-US" altLang="ja-JP" sz="2900" dirty="0"/>
                  <a:t>5.5 </a:t>
                </a:r>
                <a:r>
                  <a:rPr lang="ja-JP" altLang="en-US" sz="2900"/>
                  <a:t>分，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樣本標準差 </a:t>
                </a:r>
                <a:r>
                  <a:rPr lang="en-US" altLang="ja-JP" sz="2900" dirty="0"/>
                  <a:t>(s )</a:t>
                </a:r>
                <a:r>
                  <a:rPr lang="ja-JP" altLang="en-US" sz="2900"/>
                  <a:t>： </a:t>
                </a:r>
                <a:r>
                  <a:rPr lang="en-US" altLang="ja-JP" sz="2900" dirty="0"/>
                  <a:t>2.5 </a:t>
                </a:r>
                <a:r>
                  <a:rPr lang="ja-JP" altLang="en-US" sz="2900"/>
                  <a:t>分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信心水準：</a:t>
                </a:r>
                <a:r>
                  <a:rPr lang="en-US" altLang="ja-JP" sz="2900" dirty="0"/>
                  <a:t>95% (</a:t>
                </a:r>
                <a:r>
                  <a:rPr lang="en-US" altLang="ja-JP" sz="2900" i="1" dirty="0"/>
                  <a:t>z</a:t>
                </a:r>
                <a:r>
                  <a:rPr lang="en-US" altLang="ja-JP" sz="2900" dirty="0"/>
                  <a:t> = 1.96)</a:t>
                </a:r>
                <a:r>
                  <a:rPr lang="ja-JP" altLang="en-US" sz="2900"/>
                  <a:t> </a:t>
                </a:r>
                <a:endParaRPr lang="en-US" altLang="ja-JP" sz="29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r>
                  <a:rPr lang="ja-JP" altLang="en-US" sz="2900"/>
                  <a:t>標準誤 </a:t>
                </a:r>
                <a:r>
                  <a:rPr lang="en-US" altLang="ja-JP" sz="2900" dirty="0"/>
                  <a:t>(Standard Error)</a:t>
                </a:r>
                <a:r>
                  <a:rPr lang="ja-JP" altLang="en-US" sz="2900"/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900" b="0" i="1" smtClean="0">
                            <a:latin typeface="Cambria Math" panose="02040503050406030204" pitchFamily="18" charset="0"/>
                          </a:rPr>
                          <m:t>2.5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9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900" b="0" i="1" smtClean="0">
                                <a:latin typeface="Cambria Math" panose="02040503050406030204" pitchFamily="18" charset="0"/>
                              </a:rPr>
                              <m:t>1067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ja-JP" sz="29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ja-JP" sz="2900" dirty="0"/>
                  <a:t> 0.0766</a:t>
                </a:r>
                <a:endParaRPr lang="en-US" sz="2900" dirty="0"/>
              </a:p>
              <a:p>
                <a:pPr>
                  <a:buFont typeface="Wingdings" pitchFamily="2" charset="2"/>
                  <a:buChar char="l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72A33-6DF2-AAC5-553F-AADBC53C2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A0B99-9112-8E28-D4DA-773C2721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3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E2491-AA9A-BF63-9395-E47BB344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5C55C-39ED-D1E3-ADBC-6F08C2F7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58" y="0"/>
            <a:ext cx="7771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17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非機率抽樣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非機率抽樣並非基於隨機原則，而是根據研究者的便利性、判斷或特定標準來選取樣本。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缺乏代表性， 可能集中在少數人，無法推論至全體母體。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抽樣機率不明，無法計算精確的抽樣誤差。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便利抽樣、判斷抽樣（專家抽樣）、滾雪球抽樣、配額抽樣都屬於非機率抽樣。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9EBEF9-A064-EC8F-F179-60480554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825AB-9123-046E-5144-047BBDB4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05" y="993274"/>
            <a:ext cx="7772400" cy="509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8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網路調查的非機率抽樣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自願參與偏差 </a:t>
            </a:r>
            <a:r>
              <a:rPr lang="en-US" altLang="ja-JP" sz="2000" dirty="0"/>
              <a:t>(Self-Selection Bias)</a:t>
            </a:r>
            <a:r>
              <a:rPr lang="ja-JP" altLang="en-US" sz="2000"/>
              <a:t>：由對該主題感興趣、有強烈意見，或單純想領取獎勵的人自行決定加入。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涵蓋誤差 </a:t>
            </a:r>
            <a:r>
              <a:rPr lang="en-US" altLang="ja-JP" sz="2000" dirty="0"/>
              <a:t>(Coverage Error)</a:t>
            </a:r>
            <a:r>
              <a:rPr lang="ja-JP" altLang="en-US" sz="2000"/>
              <a:t>：並非所有人都有同等的機會上網或看到調查連結。例如高齡族群、低收入者的上網頻率較低。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非隨機的「便利性」：研究者通常將連結發布在自己能觸及的社群媒體、論壇或 </a:t>
            </a:r>
            <a:r>
              <a:rPr lang="en-US" altLang="ja-JP" sz="2000" dirty="0"/>
              <a:t>LINE </a:t>
            </a:r>
            <a:r>
              <a:rPr lang="ja-JP" altLang="en-US" sz="2000"/>
              <a:t>群組中。受限於研究者的「同溫層」。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ja-JP" altLang="en-US" sz="2000"/>
              <a:t>樣本性質難以驗證：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重複填答： 同一人可能為了獎品多次填寫。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機器人與無效樣本： </a:t>
            </a:r>
            <a:r>
              <a:rPr lang="en-US" altLang="ja-JP" sz="2000" dirty="0"/>
              <a:t>AI </a:t>
            </a:r>
            <a:r>
              <a:rPr lang="ja-JP" altLang="en-US" sz="2000"/>
              <a:t>或自動化程式可能產生大量垃圾數據。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ja-JP" altLang="en-US" sz="2000"/>
              <a:t>身分造假： 受訪者可能為了領取獎勵而虛報符合填答問卷條件的年齡或職業。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endParaRPr lang="en-US" sz="2000" dirty="0"/>
          </a:p>
          <a:p>
            <a:pPr>
              <a:buFont typeface="Wingdings" pitchFamily="2" charset="2"/>
              <a:buChar char="l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2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如何修正網路調查的非機率抽樣？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配額抽樣 </a:t>
                </a:r>
                <a:r>
                  <a:rPr lang="en-US" altLang="ja-JP" sz="2000" dirty="0"/>
                  <a:t>(Quota Sampling)</a:t>
                </a:r>
                <a:r>
                  <a:rPr lang="ja-JP" altLang="en-US" sz="2000"/>
                  <a:t>： 如果資料庫中有足夠的樣本，可以設定性別、年齡比例，一旦某族群收滿足夠的樣本，就停止發送給受訪者。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加權校正 </a:t>
                </a:r>
                <a:r>
                  <a:rPr lang="en-US" altLang="ja-JP" sz="2000" dirty="0"/>
                  <a:t>(Weighting)</a:t>
                </a:r>
                <a:r>
                  <a:rPr lang="ja-JP" altLang="en-US" sz="2000"/>
                  <a:t>： 根據人口普查數據，對受訪者進行事後數學調整。</a:t>
                </a: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r>
                  <a:rPr lang="ja-JP" altLang="en-US" sz="2000"/>
                  <a:t>例如：如果用電話訪問招募受訪者，然後寄同意書給受訪者，最後寄問卷給受訪者。這一套過程，有三次的選擇偏誤。</a:t>
                </a:r>
                <a:endParaRPr lang="en-US" altLang="ja-JP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電話樣本「被抽到且完成訪問」（</a:t>
                </a:r>
                <a:r>
                  <a:rPr lang="en-US" dirty="0"/>
                  <a:t>reference sample）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在電話訪問後「同意加入 </a:t>
                </a:r>
                <a:r>
                  <a:rPr lang="en-US" dirty="0"/>
                  <a:t>panel」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：</a:t>
                </a:r>
                <a:r>
                  <a:rPr lang="ja-JP" altLang="en-US"/>
                  <a:t>在同意加入後「實際完成線上問卷」</a:t>
                </a:r>
              </a:p>
              <a:p>
                <a:r>
                  <a:rPr lang="ja-JP" altLang="en-US" sz="2100"/>
                  <a:t>最後資料的集合是：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sz="21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1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ja-JP" altLang="en-US" sz="2100"/>
              </a:p>
              <a:p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q"/>
                </a:pPr>
                <a:endParaRPr lang="en-US" altLang="ja-JP" sz="2000" dirty="0"/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l"/>
                </a:pPr>
                <a:endParaRPr lang="en-US" sz="2000" dirty="0"/>
              </a:p>
              <a:p>
                <a:pPr>
                  <a:buFont typeface="Wingdings" pitchFamily="2" charset="2"/>
                  <a:buChar char="l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8E529-29DD-AB2C-94BF-694DBD41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85D9-FBDD-C940-3F14-8994BAC3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9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3FC3-4047-4A6A-6B74-C624EA38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網路調查的</a:t>
            </a:r>
            <a:r>
              <a:rPr lang="en-US" dirty="0" err="1"/>
              <a:t>加權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CE2E6-2E15-4EE8-1671-5A91A471F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/>
                  <a:t>在電話樣本內，完成線上問卷的條件機率為：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𝐽𝑅</m:t>
                        </m:r>
                      </m:sub>
                    </m:sSub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=1,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/>
                  <a:t>「線上完成者」的總權重可以寫成：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ja-JP" sz="2400" dirty="0"/>
              </a:p>
              <a:p>
                <a:r>
                  <a:rPr lang="ja-JP" altLang="en-US" sz="2400"/>
                  <a:t>加權後能回到母體平均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CE2E6-2E15-4EE8-1671-5A91A471F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6EBF-36D7-2773-E645-6C866621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4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6BC7-D370-DB3B-3586-0BB7D32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期末報告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E529-29DD-AB2C-94BF-694DBD41A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為鼓勵團隊合作，期末報告係由學生分組針對民意或者調查的主題進行研究，例如政府是否回應民意？個人的意見如何形成？如何改進問卷的設計或者執行方式等等？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期末進行分組發表報告後，於兩週後繳交完整報告。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每一組最少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2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人，最多</a:t>
            </a:r>
            <a:r>
              <a:rPr lang="en-US" altLang="zh-TW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4</a:t>
            </a: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人。</a:t>
            </a:r>
            <a:endParaRPr lang="en-US" altLang="zh-TW" kern="100" dirty="0">
              <a:effectLst/>
              <a:latin typeface="Times New Roman" panose="02020603050405020304" pitchFamily="18" charset="0"/>
              <a:ea typeface="DFKai-SB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TW" altLang="en-US" kern="100" dirty="0">
                <a:effectLst/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</a:rPr>
              <a:t>報告至少包括：研究問題與可能貢獻、文獻回顧、研究發現與建議以及結論。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E27AD-FE49-2E5F-F622-F163350A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1383-B02B-694B-B2AD-A967203CDE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1189</Words>
  <Application>Microsoft Macintosh PowerPoint</Application>
  <PresentationFormat>寬螢幕</PresentationFormat>
  <Paragraphs>116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9" baseType="lpstr">
      <vt:lpstr>MingLiU</vt:lpstr>
      <vt:lpstr>Google Sans Text</vt:lpstr>
      <vt:lpstr>Angsana New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抽樣</vt:lpstr>
      <vt:lpstr>課程目標</vt:lpstr>
      <vt:lpstr>為何要抽樣？</vt:lpstr>
      <vt:lpstr>PowerPoint 簡報</vt:lpstr>
      <vt:lpstr>機率抽樣的元素（一）</vt:lpstr>
      <vt:lpstr>等比例分配</vt:lpstr>
      <vt:lpstr>機率抽樣的元素（二）</vt:lpstr>
      <vt:lpstr>機率抽樣的元素（三）</vt:lpstr>
      <vt:lpstr>機率抽樣的元素（四）</vt:lpstr>
      <vt:lpstr>機率抽樣的元素（五）</vt:lpstr>
      <vt:lpstr>機率抽樣方式</vt:lpstr>
      <vt:lpstr>PowerPoint 簡報</vt:lpstr>
      <vt:lpstr>非機率抽樣</vt:lpstr>
      <vt:lpstr>PowerPoint 簡報</vt:lpstr>
      <vt:lpstr>網路調查的非機率抽樣</vt:lpstr>
      <vt:lpstr>如何修正網路調查的非機率抽樣？</vt:lpstr>
      <vt:lpstr>網路調查的加權</vt:lpstr>
      <vt:lpstr>期末報告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民意與調查</dc:title>
  <dc:creator>Chia-hung Tsai</dc:creator>
  <cp:lastModifiedBy>CHT</cp:lastModifiedBy>
  <cp:revision>35</cp:revision>
  <dcterms:created xsi:type="dcterms:W3CDTF">2025-11-29T03:50:16Z</dcterms:created>
  <dcterms:modified xsi:type="dcterms:W3CDTF">2026-03-24T08:43:18Z</dcterms:modified>
</cp:coreProperties>
</file>