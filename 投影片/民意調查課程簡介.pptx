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755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D1C4-10C4-2E9F-5F3B-D835D4DB9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6E4F2-7FDB-77A9-4AB5-8E20E70E5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B6177-5485-5E7E-ABD3-81FAB326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4E5E-A7BD-3EBE-B8D5-7A666231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6BEE-CE7C-86EE-2914-ABE5BBD5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6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689C-316C-BAC8-0C60-4D6FE59E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B9673-CFFC-4707-B781-2DC3EACF2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F6D07-2657-BE71-5260-9287F1DA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E4C41-BB70-1FCC-8578-1360ADC5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C362-7B0A-F33A-D6DC-567128B9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3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AE0D-CFBB-0F53-A2AD-692FBC4B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EE5BC-34D8-9D68-FE7D-A0D2546A1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F4AD3-7289-D5CB-2A5C-6D306ABA8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A442-AC0E-C1C3-3308-FFAFBC78D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EA799-1610-8A6B-77E0-A40B49B0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1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1B37-CD3C-31C5-04C9-76079E4F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C19E3-EF27-A09D-99C4-A09F83757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45470-D1AC-A09D-7550-4360D6773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DF9F5-F533-F729-C898-7B1E13C6B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4E930-A44F-BD91-5CF5-8961F49D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3436D-9139-45AE-EEE3-BE76C6A3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65E3F-6BE9-7D78-DCA4-B0726064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79DA6-881E-5DDD-EAC7-66A8251F0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0D745-6E3C-AFE3-6184-A162F7AF3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C8FBD-C24D-C01E-AADB-C4F55CB0C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BCF2A7-7431-1439-2261-2A41DF6F9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1166D-85F0-EB57-9657-7D5E7454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9DD5C-5F82-A1B0-7384-5495581E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7FAB2-DD68-52EC-029D-D14A48E5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8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7281-6A9B-0939-7E18-80A3A800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6B42E-DF40-D4B0-ABC7-C980F99E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79666-1FC2-D7B9-01A0-0EB0BF65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DA989-73AE-785D-FC4B-CE591A0D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4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EEB0E-1A66-665C-2816-8906616D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96B52-794F-DF33-0D29-76E7E8C0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D5823-189C-2040-1358-6D61F414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7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5DD4-4B4A-3455-8C21-E3BF4A50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D71E-B5FF-CD05-E327-1A6DE200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11B76-22F9-3979-2199-DB800AA2A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931D2-9E23-78EB-9A41-01A4326F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873F4-4FD5-6F46-BA13-0A9FDDA5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D0AC0-F263-C2B0-FA4B-E6D26281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7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45D0-04F7-A504-95F3-804098D4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C9E57-E525-B44B-DFFF-53EA7B26E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3A571-088E-6D99-68E4-2984A1282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9C560-F853-5059-139B-804BFC97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3660A-A890-E4DA-6D80-79662762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A0F3A-753B-BC76-6F55-8CEC7CC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1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9EF6-E576-0A12-CB1C-7E493A738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47DB6-223C-7733-A4F7-AA5625963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6927A-7D51-301B-AF38-CE551C01C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16AEE-F89E-A77B-9530-F4F63AA5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07B94-A394-D3CF-25AB-74C40FF4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8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8D4DA-0738-22C4-1450-507823704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99744-1523-C7A9-D865-F99F5095A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CB5F3-603B-CB21-555E-448030D8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CD49F-9F4B-37C1-1165-9DCA9750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622E-8639-E6AB-8BDE-2B7F55B8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7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971F1-6481-4050-00C9-A33D33CE4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08A0F-5D53-2152-E470-49923B10E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70612-6EE7-86AA-99AA-8B3E14093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0DB73-A871-E64A-B111-9D507374B2B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70635-6FA9-E3DF-44DA-1BA068D05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5928-0209-EEAC-4AA5-B6BCB7B43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2190-C2B0-E47F-55A3-6BBBE700A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民意與調查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82A46-16E0-1D53-EF0E-D6580A739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2/25/2025</a:t>
            </a:r>
          </a:p>
        </p:txBody>
      </p:sp>
    </p:spTree>
    <p:extLst>
      <p:ext uri="{BB962C8B-B14F-4D97-AF65-F5344CB8AC3E}">
        <p14:creationId xmlns:p14="http://schemas.microsoft.com/office/powerpoint/2010/main" val="51537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B62F-DCD4-57B2-B6B1-93F7FFB5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課程介紹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D5CCB-B0EE-E4AC-9EFC-B4581998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授課教師</a:t>
            </a:r>
            <a:r>
              <a:rPr lang="en-US" altLang="ja-JP" dirty="0"/>
              <a:t>: </a:t>
            </a:r>
            <a:r>
              <a:rPr lang="ja-JP" altLang="en-US"/>
              <a:t>蔡佳泓 </a:t>
            </a:r>
            <a:r>
              <a:rPr lang="en-US" altLang="ja-JP" dirty="0"/>
              <a:t>(</a:t>
            </a:r>
            <a:r>
              <a:rPr lang="ja-JP" altLang="en-US"/>
              <a:t>選舉研究中心特聘研究員</a:t>
            </a:r>
            <a:r>
              <a:rPr lang="en-US" altLang="ja-JP" dirty="0"/>
              <a:t>/</a:t>
            </a:r>
            <a:r>
              <a:rPr lang="ja-JP" altLang="en-US"/>
              <a:t>東亞研究所教授</a:t>
            </a:r>
            <a:r>
              <a:rPr lang="en-US" altLang="ja-JP" dirty="0"/>
              <a:t>)</a:t>
            </a:r>
          </a:p>
          <a:p>
            <a:endParaRPr lang="en-US" altLang="ja-JP" dirty="0"/>
          </a:p>
          <a:p>
            <a:r>
              <a:rPr lang="ja-JP" altLang="en-US"/>
              <a:t>授課時間與教室</a:t>
            </a:r>
            <a:r>
              <a:rPr lang="en-US" altLang="ja-JP" dirty="0"/>
              <a:t>: </a:t>
            </a:r>
            <a:r>
              <a:rPr lang="ja-JP" altLang="en-US"/>
              <a:t>星期三</a:t>
            </a:r>
            <a:r>
              <a:rPr lang="en-US" altLang="ja-JP" dirty="0"/>
              <a:t> 234(09:10-12:00)</a:t>
            </a:r>
            <a:r>
              <a:rPr lang="ja-JP" altLang="en-US"/>
              <a:t>，教室（</a:t>
            </a:r>
            <a:r>
              <a:rPr lang="en-US" altLang="ja-JP" dirty="0"/>
              <a:t>270211</a:t>
            </a:r>
            <a:r>
              <a:rPr lang="ja-JP" altLang="en-US"/>
              <a:t>）</a:t>
            </a:r>
          </a:p>
          <a:p>
            <a:endParaRPr lang="ja-JP" altLang="en-US"/>
          </a:p>
          <a:p>
            <a:r>
              <a:rPr lang="en-US" dirty="0" err="1"/>
              <a:t>晤談時間</a:t>
            </a:r>
            <a:r>
              <a:rPr lang="en-US" dirty="0"/>
              <a:t>: </a:t>
            </a:r>
            <a:r>
              <a:rPr lang="ja-JP" altLang="en-US"/>
              <a:t>每週二</a:t>
            </a:r>
            <a:r>
              <a:rPr lang="en-US" altLang="ja-JP" dirty="0"/>
              <a:t>14:00-15:00</a:t>
            </a:r>
            <a:r>
              <a:rPr lang="ja-JP" altLang="en-US"/>
              <a:t>綜合院館北棟五樓研究室或用</a:t>
            </a:r>
            <a:r>
              <a:rPr lang="en-US" altLang="ja-JP" dirty="0"/>
              <a:t>E-mail</a:t>
            </a:r>
            <a:r>
              <a:rPr lang="ja-JP" altLang="en-US"/>
              <a:t>約時間</a:t>
            </a:r>
          </a:p>
          <a:p>
            <a:endParaRPr lang="ja-JP" altLang="en-US"/>
          </a:p>
          <a:p>
            <a:r>
              <a:rPr lang="ja-JP" altLang="en-US"/>
              <a:t>聯絡方式</a:t>
            </a:r>
            <a:r>
              <a:rPr lang="en-US" altLang="ja-JP" dirty="0"/>
              <a:t>:</a:t>
            </a:r>
            <a:r>
              <a:rPr lang="ja-JP" altLang="en-US"/>
              <a:t>電話</a:t>
            </a:r>
            <a:r>
              <a:rPr lang="zh-TW" altLang="en-US" dirty="0"/>
              <a:t> </a:t>
            </a:r>
            <a:r>
              <a:rPr lang="en-US" altLang="ja-JP" dirty="0"/>
              <a:t>2938-7134</a:t>
            </a:r>
            <a:r>
              <a:rPr lang="ja-JP" altLang="en-US"/>
              <a:t>；校內分機</a:t>
            </a:r>
            <a:r>
              <a:rPr lang="en-US" altLang="ja-JP" dirty="0"/>
              <a:t>50501; E-mail </a:t>
            </a:r>
            <a:r>
              <a:rPr lang="en-US" dirty="0" err="1"/>
              <a:t>tsaich@nccu.edu.tw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23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B62F-DCD4-57B2-B6B1-93F7FFB5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sz="4400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課程目標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D5CCB-B0EE-E4AC-9EFC-B4581998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本課程目的在</a:t>
            </a:r>
            <a:r>
              <a:rPr lang="zh-TW" altLang="en-US" kern="1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介紹民意的概念，以及</a:t>
            </a: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當前廣為運用的民意調查的研究方法</a:t>
            </a:r>
            <a:r>
              <a:rPr lang="zh-TW" altLang="en-US" kern="1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。</a:t>
            </a:r>
            <a:endParaRPr lang="en-US" altLang="zh-TW" kern="100" dirty="0"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理論方面，</a:t>
            </a: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本課程探討</a:t>
            </a: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民意的形成與特質、蒐集民意的各種調查研究方式、問卷設計以及研究設計相關的概念</a:t>
            </a: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。</a:t>
            </a:r>
            <a:endParaRPr lang="en-US" altLang="zh-TW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實務方面，修習者不但有機會實際操作電腦輔助電話訪問系統，並得</a:t>
            </a: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在選舉研究中心</a:t>
            </a: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參與實際的電話訪問或是面訪工作。</a:t>
            </a:r>
            <a:endParaRPr lang="en-US" altLang="zh-TW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000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13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成績評定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期中考佔</a:t>
            </a:r>
            <a:r>
              <a:rPr lang="en-US" kern="100" dirty="0">
                <a:effectLst/>
                <a:latin typeface="Times New Roman" panose="02020603050405020304" pitchFamily="18" charset="0"/>
                <a:ea typeface="DFKai-SB"/>
              </a:rPr>
              <a:t>25%</a:t>
            </a:r>
            <a:r>
              <a:rPr lang="en-US" dirty="0">
                <a:effectLst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期末考佔</a:t>
            </a:r>
            <a:r>
              <a:rPr lang="en-US" kern="100" dirty="0">
                <a:effectLst/>
                <a:latin typeface="Times New Roman" panose="02020603050405020304" pitchFamily="18" charset="0"/>
                <a:ea typeface="DFKai-SB"/>
              </a:rPr>
              <a:t>35%;</a:t>
            </a:r>
            <a:r>
              <a:rPr lang="en-US" dirty="0">
                <a:effectLst/>
              </a:rPr>
              <a:t>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期末報告</a:t>
            </a:r>
            <a:r>
              <a:rPr lang="en-US" kern="100" dirty="0">
                <a:effectLst/>
                <a:latin typeface="Times New Roman" panose="02020603050405020304" pitchFamily="18" charset="0"/>
                <a:ea typeface="DFKai-SB"/>
              </a:rPr>
              <a:t>30%;</a:t>
            </a:r>
            <a:r>
              <a:rPr lang="en-US" dirty="0">
                <a:effectLst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上課出席與其他佔</a:t>
            </a:r>
            <a:r>
              <a:rPr lang="en-US" kern="100" dirty="0">
                <a:effectLst/>
                <a:latin typeface="Times New Roman" panose="02020603050405020304" pitchFamily="18" charset="0"/>
                <a:ea typeface="DFKai-SB"/>
              </a:rPr>
              <a:t>10%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endParaRPr lang="en-US" altLang="ja-JP" dirty="0"/>
          </a:p>
          <a:p>
            <a:pPr>
              <a:buFont typeface="Courier New" panose="02070309020205020404" pitchFamily="49" charset="0"/>
              <a:buChar char="o"/>
            </a:pPr>
            <a:r>
              <a:rPr lang="ja-JP" altLang="en-US"/>
              <a:t>考試題目可能包括：選擇題、解釋名詞、計算題、簡答題以及長問答題。</a:t>
            </a:r>
            <a:endParaRPr lang="en-US" altLang="ja-JP" dirty="0"/>
          </a:p>
          <a:p>
            <a:pPr>
              <a:buFont typeface="Courier New" panose="02070309020205020404" pitchFamily="49" charset="0"/>
              <a:buChar char="o"/>
            </a:pPr>
            <a:r>
              <a:rPr lang="ja-JP" altLang="en-US"/>
              <a:t>期中考與期末考的日期如課程大綱所訂，有衝突者請自行退選。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61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期末報告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為鼓勵團隊合作，期末報告係由學生分組針對民意或者調查的主題進行研究，例如政府是否回應民意？個人的意見如何形成？如何改進問卷的設計或者執行方式等等？</a:t>
            </a:r>
            <a:endParaRPr lang="en-US" altLang="zh-TW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期末進行分組發表報告後，於兩週後繳交完整報告。</a:t>
            </a:r>
            <a:endParaRPr lang="en-US" altLang="zh-TW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每一組最少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2</a:t>
            </a: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人，最多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4</a:t>
            </a: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人。</a:t>
            </a:r>
            <a:endParaRPr lang="en-US" altLang="zh-TW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報告至少包括：研究問題與可能貢獻、文獻回顧、研究發現與建議以及結論。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8999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9C80-23CF-F187-94DC-5131C0D2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指定教科書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879BF-F02E-30E2-7EBF-A3F6D14C9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  <a:p>
            <a:r>
              <a:rPr lang="ja-JP" altLang="en-US"/>
              <a:t>陳陸輝主編，</a:t>
            </a:r>
            <a:r>
              <a:rPr lang="en-US" altLang="ja-JP" dirty="0"/>
              <a:t>2023</a:t>
            </a:r>
            <a:r>
              <a:rPr lang="ja-JP" altLang="en-US"/>
              <a:t>，</a:t>
            </a:r>
            <a:r>
              <a:rPr lang="en-US" altLang="ja-JP" dirty="0"/>
              <a:t>《</a:t>
            </a:r>
            <a:r>
              <a:rPr lang="ja-JP" altLang="en-US"/>
              <a:t>民意調查</a:t>
            </a:r>
            <a:r>
              <a:rPr lang="en-US" altLang="ja-JP" dirty="0"/>
              <a:t>》</a:t>
            </a:r>
            <a:r>
              <a:rPr lang="ja-JP" altLang="en-US"/>
              <a:t>，台北：五南圖書。</a:t>
            </a:r>
          </a:p>
          <a:p>
            <a:endParaRPr lang="ja-JP" altLang="en-US"/>
          </a:p>
          <a:p>
            <a:r>
              <a:rPr lang="ja-JP" altLang="en-US"/>
              <a:t>游清鑫、陳義彥主編，</a:t>
            </a:r>
            <a:r>
              <a:rPr lang="en-US" altLang="ja-JP" dirty="0"/>
              <a:t>2025</a:t>
            </a:r>
            <a:r>
              <a:rPr lang="ja-JP" altLang="en-US"/>
              <a:t>，</a:t>
            </a:r>
            <a:r>
              <a:rPr lang="en-US" altLang="ja-JP" dirty="0"/>
              <a:t>《</a:t>
            </a:r>
            <a:r>
              <a:rPr lang="ja-JP" altLang="en-US"/>
              <a:t>當代政治學</a:t>
            </a:r>
            <a:r>
              <a:rPr lang="en-US" altLang="ja-JP" dirty="0"/>
              <a:t>》</a:t>
            </a:r>
            <a:r>
              <a:rPr lang="ja-JP" altLang="en-US"/>
              <a:t>，台北：五南圖書。</a:t>
            </a:r>
          </a:p>
          <a:p>
            <a:endParaRPr lang="ja-JP" altLang="en-US"/>
          </a:p>
          <a:p>
            <a:r>
              <a:rPr lang="ja-JP" altLang="en-US"/>
              <a:t>陳義彥主編，</a:t>
            </a:r>
            <a:r>
              <a:rPr lang="en-US" altLang="ja-JP" dirty="0"/>
              <a:t>2006</a:t>
            </a:r>
            <a:r>
              <a:rPr lang="ja-JP" altLang="en-US"/>
              <a:t>，</a:t>
            </a:r>
            <a:r>
              <a:rPr lang="en-US" altLang="ja-JP" dirty="0"/>
              <a:t>《</a:t>
            </a:r>
            <a:r>
              <a:rPr lang="ja-JP" altLang="en-US"/>
              <a:t>政治學</a:t>
            </a:r>
            <a:r>
              <a:rPr lang="en-US" altLang="ja-JP" dirty="0"/>
              <a:t>》</a:t>
            </a:r>
            <a:r>
              <a:rPr lang="ja-JP" altLang="en-US"/>
              <a:t>，台北：五南圖書。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上課前請先閱讀該週進度，課後請閱讀授課大綱列出的文獻。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5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5999-C99F-4923-E9F1-294DB9B2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課程進度（ㄧ</a:t>
            </a:r>
            <a:r>
              <a:rPr lang="en-US" dirty="0"/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2586E-7348-0866-8A9A-8218EDEC9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1</a:t>
            </a:r>
            <a:r>
              <a:rPr lang="ja-JP" altLang="en-US" sz="2200"/>
              <a:t>週：</a:t>
            </a:r>
            <a:r>
              <a:rPr lang="en-US" altLang="ja-JP" sz="2200" dirty="0"/>
              <a:t>2/25	</a:t>
            </a:r>
            <a:r>
              <a:rPr lang="ja-JP" altLang="en-US" sz="2200"/>
              <a:t>課程簡介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2</a:t>
            </a:r>
            <a:r>
              <a:rPr lang="ja-JP" altLang="en-US" sz="2200"/>
              <a:t>週：</a:t>
            </a:r>
            <a:r>
              <a:rPr lang="en-US" altLang="ja-JP" sz="2200" dirty="0"/>
              <a:t>3/4	</a:t>
            </a:r>
            <a:r>
              <a:rPr lang="ja-JP" altLang="en-US" sz="2200"/>
              <a:t>民意調查的研究設計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3</a:t>
            </a:r>
            <a:r>
              <a:rPr lang="ja-JP" altLang="en-US" sz="2200"/>
              <a:t>週：</a:t>
            </a:r>
            <a:r>
              <a:rPr lang="en-US" altLang="ja-JP" sz="2200" dirty="0"/>
              <a:t>3/11	</a:t>
            </a:r>
            <a:r>
              <a:rPr lang="ja-JP" altLang="en-US" sz="2200"/>
              <a:t>民意調查的類型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4</a:t>
            </a:r>
            <a:r>
              <a:rPr lang="ja-JP" altLang="en-US" sz="2200"/>
              <a:t>週：</a:t>
            </a:r>
            <a:r>
              <a:rPr lang="en-US" altLang="ja-JP" sz="2200" dirty="0"/>
              <a:t>3/18	</a:t>
            </a:r>
            <a:r>
              <a:rPr lang="ja-JP" altLang="en-US" sz="2200"/>
              <a:t>網路民意調查的理論與實際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5</a:t>
            </a:r>
            <a:r>
              <a:rPr lang="ja-JP" altLang="en-US" sz="2200"/>
              <a:t>週：</a:t>
            </a:r>
            <a:r>
              <a:rPr lang="en-US" altLang="ja-JP" sz="2200" dirty="0"/>
              <a:t>3/25	</a:t>
            </a:r>
            <a:r>
              <a:rPr lang="ja-JP" altLang="en-US" sz="2200"/>
              <a:t>抽樣</a:t>
            </a:r>
            <a:endParaRPr lang="en-US" altLang="ja-JP" sz="2200" dirty="0"/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6</a:t>
            </a:r>
            <a:r>
              <a:rPr lang="ja-JP" altLang="en-US" sz="2200"/>
              <a:t>週：</a:t>
            </a:r>
            <a:r>
              <a:rPr lang="en-US" altLang="ja-JP" sz="2200" dirty="0"/>
              <a:t>4/1	</a:t>
            </a:r>
            <a:r>
              <a:rPr lang="ja-JP" altLang="en-US" sz="2200"/>
              <a:t>民意調查的問卷設計（一）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7</a:t>
            </a:r>
            <a:r>
              <a:rPr lang="ja-JP" altLang="en-US" sz="2200"/>
              <a:t>週：</a:t>
            </a:r>
            <a:r>
              <a:rPr lang="en-US" altLang="ja-JP" sz="2200" dirty="0"/>
              <a:t>4/8	</a:t>
            </a:r>
            <a:r>
              <a:rPr lang="ja-JP" altLang="en-US" sz="2200"/>
              <a:t>民意調查的問卷設計（二）</a:t>
            </a:r>
            <a:endParaRPr lang="en-US" altLang="ja-JP" sz="2200" dirty="0"/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8</a:t>
            </a:r>
            <a:r>
              <a:rPr lang="ja-JP" altLang="en-US" sz="2200"/>
              <a:t>週：</a:t>
            </a:r>
            <a:r>
              <a:rPr lang="en-US" altLang="ja-JP" sz="2200" dirty="0"/>
              <a:t>4/15	</a:t>
            </a:r>
            <a:r>
              <a:rPr lang="ja-JP" altLang="en-US" sz="2200">
                <a:solidFill>
                  <a:srgbClr val="FF0000"/>
                </a:solidFill>
              </a:rPr>
              <a:t>期中考</a:t>
            </a:r>
          </a:p>
          <a:p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80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5999-C99F-4923-E9F1-294DB9B2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課程進度（二</a:t>
            </a:r>
            <a:r>
              <a:rPr lang="en-US" dirty="0"/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2586E-7348-0866-8A9A-8218EDEC9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9</a:t>
            </a:r>
            <a:r>
              <a:rPr lang="ja-JP" altLang="en-US" sz="2200"/>
              <a:t>週：</a:t>
            </a:r>
            <a:r>
              <a:rPr lang="en-US" altLang="ja-JP" sz="2200" dirty="0"/>
              <a:t>4/22	</a:t>
            </a:r>
            <a:r>
              <a:rPr lang="ja-JP" altLang="en-US" sz="2200"/>
              <a:t>參觀選研中心、民意調查的執行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10</a:t>
            </a:r>
            <a:r>
              <a:rPr lang="ja-JP" altLang="en-US" sz="2200"/>
              <a:t>週：</a:t>
            </a:r>
            <a:r>
              <a:rPr lang="en-US" altLang="ja-JP" sz="2200" dirty="0"/>
              <a:t>4/29	</a:t>
            </a:r>
            <a:r>
              <a:rPr lang="ja-JP" altLang="en-US" sz="2200"/>
              <a:t>民意調查的資料分析（一）、繳交分組報告題目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11</a:t>
            </a:r>
            <a:r>
              <a:rPr lang="ja-JP" altLang="en-US" sz="2200"/>
              <a:t>週：</a:t>
            </a:r>
            <a:r>
              <a:rPr lang="en-US" altLang="ja-JP" sz="2200" dirty="0"/>
              <a:t>5/6	</a:t>
            </a:r>
            <a:r>
              <a:rPr lang="ja-JP" altLang="en-US" sz="2200"/>
              <a:t>民意調查的資料分析（二）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12</a:t>
            </a:r>
            <a:r>
              <a:rPr lang="ja-JP" altLang="en-US" sz="2200"/>
              <a:t>週：</a:t>
            </a:r>
            <a:r>
              <a:rPr lang="en-US" altLang="ja-JP" sz="2200" dirty="0"/>
              <a:t>5/13	</a:t>
            </a:r>
            <a:r>
              <a:rPr lang="ja-JP" altLang="en-US" sz="2200"/>
              <a:t>質性研究方法、社群媒體與大數據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13</a:t>
            </a:r>
            <a:r>
              <a:rPr lang="ja-JP" altLang="en-US" sz="2200"/>
              <a:t>週：</a:t>
            </a:r>
            <a:r>
              <a:rPr lang="en-US" altLang="ja-JP" sz="2200" dirty="0"/>
              <a:t>5/20	</a:t>
            </a:r>
            <a:r>
              <a:rPr lang="ja-JP" altLang="en-US" sz="2200"/>
              <a:t>校慶運動會</a:t>
            </a:r>
            <a:r>
              <a:rPr lang="en-US" altLang="ja-JP" sz="2200" dirty="0"/>
              <a:t>(</a:t>
            </a:r>
            <a:r>
              <a:rPr lang="ja-JP" altLang="en-US" sz="2200"/>
              <a:t>停課</a:t>
            </a:r>
            <a:r>
              <a:rPr lang="en-US" altLang="ja-JP" sz="2200" dirty="0"/>
              <a:t>) 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14</a:t>
            </a:r>
            <a:r>
              <a:rPr lang="ja-JP" altLang="en-US" sz="2200"/>
              <a:t>週：</a:t>
            </a:r>
            <a:r>
              <a:rPr lang="en-US" altLang="ja-JP" sz="2200" dirty="0"/>
              <a:t>5/27	</a:t>
            </a:r>
            <a:r>
              <a:rPr lang="ja-JP" altLang="en-US" sz="2200"/>
              <a:t>民意調查報告的撰寫、調查與研究倫理</a:t>
            </a: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15</a:t>
            </a:r>
            <a:r>
              <a:rPr lang="ja-JP" altLang="en-US" sz="2200"/>
              <a:t>週：</a:t>
            </a:r>
            <a:r>
              <a:rPr lang="en-US" altLang="ja-JP" sz="2200" dirty="0"/>
              <a:t>6/3	</a:t>
            </a:r>
            <a:r>
              <a:rPr lang="ja-JP" altLang="en-US" sz="2200"/>
              <a:t>期末報告</a:t>
            </a:r>
            <a:endParaRPr lang="ja-JP" altLang="en-US" sz="220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200"/>
              <a:t>第</a:t>
            </a:r>
            <a:r>
              <a:rPr lang="en-US" altLang="ja-JP" sz="2200" dirty="0"/>
              <a:t>16</a:t>
            </a:r>
            <a:r>
              <a:rPr lang="ja-JP" altLang="en-US" sz="2200"/>
              <a:t>週：</a:t>
            </a:r>
            <a:r>
              <a:rPr lang="en-US" altLang="ja-JP" sz="2200" dirty="0"/>
              <a:t>6/10	</a:t>
            </a:r>
            <a:r>
              <a:rPr lang="ja-JP" altLang="en-US" sz="2200">
                <a:solidFill>
                  <a:srgbClr val="FF0000"/>
                </a:solidFill>
              </a:rPr>
              <a:t>期末考</a:t>
            </a:r>
            <a:endParaRPr lang="ja-JP" altLang="en-US" sz="2200"/>
          </a:p>
          <a:p>
            <a:pPr>
              <a:lnSpc>
                <a:spcPct val="150000"/>
              </a:lnSpc>
            </a:pPr>
            <a:endParaRPr lang="ja-JP" altLang="en-US" sz="2200"/>
          </a:p>
          <a:p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49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</TotalTime>
  <Words>492</Words>
  <Application>Microsoft Macintosh PowerPoint</Application>
  <PresentationFormat>寬螢幕</PresentationFormat>
  <Paragraphs>60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Angsana New</vt:lpstr>
      <vt:lpstr>Arial</vt:lpstr>
      <vt:lpstr>Calibri</vt:lpstr>
      <vt:lpstr>Calibri Light</vt:lpstr>
      <vt:lpstr>Courier New</vt:lpstr>
      <vt:lpstr>Times New Roman</vt:lpstr>
      <vt:lpstr>Office Theme</vt:lpstr>
      <vt:lpstr>民意與調查</vt:lpstr>
      <vt:lpstr>課程介紹</vt:lpstr>
      <vt:lpstr>課程目標</vt:lpstr>
      <vt:lpstr>成績評定</vt:lpstr>
      <vt:lpstr>期末報告</vt:lpstr>
      <vt:lpstr>指定教科書</vt:lpstr>
      <vt:lpstr>課程進度（ㄧ）</vt:lpstr>
      <vt:lpstr>課程進度（二）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民意與調查</dc:title>
  <dc:creator>Chia-hung Tsai</dc:creator>
  <cp:lastModifiedBy>CHT</cp:lastModifiedBy>
  <cp:revision>10</cp:revision>
  <dcterms:created xsi:type="dcterms:W3CDTF">2025-11-29T03:50:16Z</dcterms:created>
  <dcterms:modified xsi:type="dcterms:W3CDTF">2026-03-18T07:55:10Z</dcterms:modified>
</cp:coreProperties>
</file>