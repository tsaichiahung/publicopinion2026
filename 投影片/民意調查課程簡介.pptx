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755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0DB73-A871-E64A-B111-9D507374B2B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>
                <a:latin typeface="Angsana New" panose="02020603050405020304" pitchFamily="18" charset="-34"/>
                <a:cs typeface="Angsana New" panose="02020603050405020304" pitchFamily="18" charset="-34"/>
              </a:rPr>
              <a:t>民意與調查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2/25/2025</a:t>
            </a:r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課程介紹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授課教師</a:t>
            </a:r>
            <a:r>
              <a:rPr lang="en-US" altLang="ja-JP" dirty="0"/>
              <a:t>: </a:t>
            </a:r>
            <a:r>
              <a:rPr lang="ja-JP" altLang="en-US"/>
              <a:t>蔡佳泓 </a:t>
            </a:r>
            <a:r>
              <a:rPr lang="en-US" altLang="ja-JP" dirty="0"/>
              <a:t>(</a:t>
            </a:r>
            <a:r>
              <a:rPr lang="ja-JP" altLang="en-US"/>
              <a:t>選舉研究中心特聘研究員</a:t>
            </a:r>
            <a:r>
              <a:rPr lang="en-US" altLang="ja-JP" dirty="0"/>
              <a:t>/</a:t>
            </a:r>
            <a:r>
              <a:rPr lang="ja-JP" altLang="en-US"/>
              <a:t>東亞研究所教授</a:t>
            </a:r>
            <a:r>
              <a:rPr lang="en-US" altLang="ja-JP" dirty="0"/>
              <a:t>)</a:t>
            </a:r>
          </a:p>
          <a:p>
            <a:endParaRPr lang="en-US" altLang="ja-JP" dirty="0"/>
          </a:p>
          <a:p>
            <a:r>
              <a:rPr lang="ja-JP" altLang="en-US"/>
              <a:t>授課時間與教室</a:t>
            </a:r>
            <a:r>
              <a:rPr lang="en-US" altLang="ja-JP" dirty="0"/>
              <a:t>: </a:t>
            </a:r>
            <a:r>
              <a:rPr lang="ja-JP" altLang="en-US"/>
              <a:t>星期三</a:t>
            </a:r>
            <a:r>
              <a:rPr lang="en-US" altLang="ja-JP" dirty="0"/>
              <a:t> 234(09:10-12:00)</a:t>
            </a:r>
            <a:r>
              <a:rPr lang="ja-JP" altLang="en-US"/>
              <a:t>，教室（</a:t>
            </a:r>
            <a:r>
              <a:rPr lang="en-US" altLang="ja-JP" dirty="0"/>
              <a:t>270211</a:t>
            </a:r>
            <a:r>
              <a:rPr lang="ja-JP" altLang="en-US"/>
              <a:t>）</a:t>
            </a:r>
          </a:p>
          <a:p>
            <a:endParaRPr lang="ja-JP" altLang="en-US"/>
          </a:p>
          <a:p>
            <a:r>
              <a:rPr lang="en-US" dirty="0" err="1"/>
              <a:t>晤談時間</a:t>
            </a:r>
            <a:r>
              <a:rPr lang="en-US" dirty="0"/>
              <a:t>: </a:t>
            </a:r>
            <a:r>
              <a:rPr lang="ja-JP" altLang="en-US"/>
              <a:t>每週二</a:t>
            </a:r>
            <a:r>
              <a:rPr lang="en-US" altLang="ja-JP" dirty="0"/>
              <a:t>14:00-15:00</a:t>
            </a:r>
            <a:r>
              <a:rPr lang="ja-JP" altLang="en-US"/>
              <a:t>綜合院館北棟五樓研究室或用</a:t>
            </a:r>
            <a:r>
              <a:rPr lang="en-US" altLang="ja-JP" dirty="0"/>
              <a:t>E-mail</a:t>
            </a:r>
            <a:r>
              <a:rPr lang="ja-JP" altLang="en-US"/>
              <a:t>約時間</a:t>
            </a:r>
          </a:p>
          <a:p>
            <a:endParaRPr lang="ja-JP" altLang="en-US"/>
          </a:p>
          <a:p>
            <a:r>
              <a:rPr lang="ja-JP" altLang="en-US"/>
              <a:t>聯絡方式</a:t>
            </a:r>
            <a:r>
              <a:rPr lang="en-US" altLang="ja-JP" dirty="0"/>
              <a:t>:</a:t>
            </a:r>
            <a:r>
              <a:rPr lang="ja-JP" altLang="en-US"/>
              <a:t>電話</a:t>
            </a:r>
            <a:r>
              <a:rPr lang="zh-TW" altLang="en-US" dirty="0"/>
              <a:t> </a:t>
            </a:r>
            <a:r>
              <a:rPr lang="en-US" altLang="ja-JP" dirty="0"/>
              <a:t>2938-7134</a:t>
            </a:r>
            <a:r>
              <a:rPr lang="ja-JP" altLang="en-US"/>
              <a:t>；校內分機</a:t>
            </a:r>
            <a:r>
              <a:rPr lang="en-US" altLang="ja-JP" dirty="0"/>
              <a:t>50501; E-mail </a:t>
            </a:r>
            <a:r>
              <a:rPr lang="en-US" dirty="0" err="1"/>
              <a:t>tsaich@nccu.edu.tw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235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本課程目的在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介紹民意的概念，以及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當前廣為運用的民意調查的研究方法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。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理論方面，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本課程探討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民意的形成與特質、蒐集民意的各種調查研究方式、問卷設計以及研究設計相關的概念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實務方面，修習者不但有機會實際操作電腦輔助電話訪問系統，並得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在選舉研究中心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參與實際的電話訪問或是面訪工作。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成績評定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期中考佔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25%</a:t>
            </a:r>
            <a:r>
              <a:rPr lang="en-US" dirty="0">
                <a:effectLst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期末考佔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35%;</a:t>
            </a:r>
            <a:r>
              <a:rPr lang="en-US" dirty="0">
                <a:effectLst/>
              </a:rPr>
              <a:t> 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期末報告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30%;</a:t>
            </a:r>
            <a:r>
              <a:rPr lang="en-US" dirty="0">
                <a:effectLst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上課出席與其他佔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10%</a:t>
            </a:r>
            <a:r>
              <a:rPr lang="en-US" dirty="0">
                <a:effectLst/>
              </a:rPr>
              <a:t> </a:t>
            </a:r>
          </a:p>
          <a:p>
            <a:pPr marL="0" indent="0">
              <a:buNone/>
            </a:pPr>
            <a:endParaRPr lang="en-US" altLang="ja-JP" dirty="0"/>
          </a:p>
          <a:p>
            <a:pPr>
              <a:buFont typeface="Courier New" panose="02070309020205020404" pitchFamily="49" charset="0"/>
              <a:buChar char="o"/>
            </a:pPr>
            <a:r>
              <a:rPr lang="ja-JP" altLang="en-US"/>
              <a:t>考試題目可能包括：選擇題、解釋名詞、計算題、簡答題以及長問答題。</a:t>
            </a:r>
            <a:endParaRPr lang="en-US" altLang="ja-JP" dirty="0"/>
          </a:p>
          <a:p>
            <a:pPr>
              <a:buFont typeface="Courier New" panose="02070309020205020404" pitchFamily="49" charset="0"/>
              <a:buChar char="o"/>
            </a:pPr>
            <a:r>
              <a:rPr lang="ja-JP" altLang="en-US"/>
              <a:t>期中考與期末考的日期如課程大綱所訂，有衝突者請自行退選。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期末報告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為鼓勵團隊合作，期末報告係由學生分組針對民意或者調查的主題進行研究，例如政府是否回應民意？個人的意見如何形成？如何改進問卷的設計或者執行方式等等？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期末進行分組發表報告後，於兩週後繳交完整報告。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每一組最少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2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人，最多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4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報告至少包括：研究問題與可能貢獻、文獻回顧、研究發現與建議以及結論。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48999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59C80-23CF-F187-94DC-5131C0D2E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指定教科書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879BF-F02E-30E2-7EBF-A3F6D14C9D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  <a:p>
            <a:r>
              <a:rPr lang="ja-JP" altLang="en-US"/>
              <a:t>陳陸輝主編，</a:t>
            </a:r>
            <a:r>
              <a:rPr lang="en-US" altLang="ja-JP" dirty="0"/>
              <a:t>2023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民意調查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endParaRPr lang="ja-JP" altLang="en-US"/>
          </a:p>
          <a:p>
            <a:r>
              <a:rPr lang="ja-JP" altLang="en-US"/>
              <a:t>游清鑫、陳義彥主編，</a:t>
            </a:r>
            <a:r>
              <a:rPr lang="en-US" altLang="ja-JP" dirty="0"/>
              <a:t>2025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當代政治學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endParaRPr lang="ja-JP" altLang="en-US"/>
          </a:p>
          <a:p>
            <a:r>
              <a:rPr lang="ja-JP" altLang="en-US"/>
              <a:t>陳義彥主編，</a:t>
            </a:r>
            <a:r>
              <a:rPr lang="en-US" altLang="ja-JP" dirty="0"/>
              <a:t>2006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政治學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/>
              <a:t>上課前請先閱讀該週進度，課後請閱讀授課大綱列出的文獻。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453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5999-C99F-4923-E9F1-294DB9B27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課程進度（ㄧ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2586E-7348-0866-8A9A-8218EDEC9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</a:t>
            </a:r>
            <a:r>
              <a:rPr lang="ja-JP" altLang="en-US" sz="2200"/>
              <a:t>週：</a:t>
            </a:r>
            <a:r>
              <a:rPr lang="en-US" altLang="ja-JP" sz="2200" dirty="0"/>
              <a:t>2/25	</a:t>
            </a:r>
            <a:r>
              <a:rPr lang="ja-JP" altLang="en-US" sz="2200"/>
              <a:t>課程簡介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2</a:t>
            </a:r>
            <a:r>
              <a:rPr lang="ja-JP" altLang="en-US" sz="2200"/>
              <a:t>週：</a:t>
            </a:r>
            <a:r>
              <a:rPr lang="en-US" altLang="ja-JP" sz="2200" dirty="0"/>
              <a:t>3/4	</a:t>
            </a:r>
            <a:r>
              <a:rPr lang="ja-JP" altLang="en-US" sz="2200"/>
              <a:t>民意調查的研究設計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3</a:t>
            </a:r>
            <a:r>
              <a:rPr lang="ja-JP" altLang="en-US" sz="2200"/>
              <a:t>週：</a:t>
            </a:r>
            <a:r>
              <a:rPr lang="en-US" altLang="ja-JP" sz="2200" dirty="0"/>
              <a:t>3/11	</a:t>
            </a:r>
            <a:r>
              <a:rPr lang="ja-JP" altLang="en-US" sz="2200"/>
              <a:t>民意調查的類型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4</a:t>
            </a:r>
            <a:r>
              <a:rPr lang="ja-JP" altLang="en-US" sz="2200"/>
              <a:t>週：</a:t>
            </a:r>
            <a:r>
              <a:rPr lang="en-US" altLang="ja-JP" sz="2200" dirty="0"/>
              <a:t>3/18	</a:t>
            </a:r>
            <a:r>
              <a:rPr lang="ja-JP" altLang="en-US" sz="2200"/>
              <a:t>網路民意調查的理論與實際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5</a:t>
            </a:r>
            <a:r>
              <a:rPr lang="ja-JP" altLang="en-US" sz="2200"/>
              <a:t>週：</a:t>
            </a:r>
            <a:r>
              <a:rPr lang="en-US" altLang="ja-JP" sz="2200" dirty="0"/>
              <a:t>3/25	</a:t>
            </a:r>
            <a:r>
              <a:rPr lang="ja-JP" altLang="en-US" sz="2200"/>
              <a:t>抽樣</a:t>
            </a:r>
            <a:endParaRPr lang="en-US" altLang="ja-JP" sz="2200" dirty="0"/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6</a:t>
            </a:r>
            <a:r>
              <a:rPr lang="ja-JP" altLang="en-US" sz="2200"/>
              <a:t>週：</a:t>
            </a:r>
            <a:r>
              <a:rPr lang="en-US" altLang="ja-JP" sz="2200" dirty="0"/>
              <a:t>4/1	</a:t>
            </a:r>
            <a:r>
              <a:rPr lang="ja-JP" altLang="en-US" sz="2200"/>
              <a:t>參觀民調中心、民意調查的執行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7</a:t>
            </a:r>
            <a:r>
              <a:rPr lang="ja-JP" altLang="en-US" sz="2200"/>
              <a:t>週：</a:t>
            </a:r>
            <a:r>
              <a:rPr lang="en-US" altLang="ja-JP" sz="2200" dirty="0"/>
              <a:t>4/8	</a:t>
            </a:r>
            <a:r>
              <a:rPr lang="ja-JP" altLang="en-US" sz="2200"/>
              <a:t>民意調查的問卷設計（一）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8</a:t>
            </a:r>
            <a:r>
              <a:rPr lang="ja-JP" altLang="en-US" sz="2200"/>
              <a:t>週：</a:t>
            </a:r>
            <a:r>
              <a:rPr lang="en-US" altLang="ja-JP" sz="2200" dirty="0"/>
              <a:t>4/15	</a:t>
            </a:r>
            <a:r>
              <a:rPr lang="ja-JP" altLang="en-US" sz="2200">
                <a:solidFill>
                  <a:srgbClr val="FF0000"/>
                </a:solidFill>
              </a:rPr>
              <a:t>期中考</a:t>
            </a:r>
          </a:p>
          <a:p>
            <a:endParaRPr lang="ja-JP" altLang="en-US"/>
          </a:p>
          <a:p>
            <a:endParaRPr lang="ja-JP" altLang="en-US"/>
          </a:p>
          <a:p>
            <a:endParaRPr lang="ja-JP" alt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803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5999-C99F-4923-E9F1-294DB9B27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課程進度（二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2586E-7348-0866-8A9A-8218EDEC9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9</a:t>
            </a:r>
            <a:r>
              <a:rPr lang="ja-JP" altLang="en-US" sz="2200"/>
              <a:t>週：</a:t>
            </a:r>
            <a:r>
              <a:rPr lang="en-US" altLang="ja-JP" sz="2200" dirty="0"/>
              <a:t>4/22	</a:t>
            </a:r>
            <a:r>
              <a:rPr lang="ja-JP" altLang="en-US" sz="2200"/>
              <a:t>民意調查的問卷設計（二）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10</a:t>
            </a:r>
            <a:r>
              <a:rPr lang="ja-JP" altLang="en-US" sz="2200"/>
              <a:t>週：</a:t>
            </a:r>
            <a:r>
              <a:rPr lang="en-US" altLang="ja-JP" sz="2200" dirty="0"/>
              <a:t>4/29	</a:t>
            </a:r>
            <a:r>
              <a:rPr lang="ja-JP" altLang="en-US" sz="2200"/>
              <a:t>民意調查的資料分析（一）、繳交分組報告題目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11</a:t>
            </a:r>
            <a:r>
              <a:rPr lang="ja-JP" altLang="en-US" sz="2200"/>
              <a:t>週：</a:t>
            </a:r>
            <a:r>
              <a:rPr lang="en-US" altLang="ja-JP" sz="2200" dirty="0"/>
              <a:t>5/6	</a:t>
            </a:r>
            <a:r>
              <a:rPr lang="ja-JP" altLang="en-US" sz="2200"/>
              <a:t>民意調查的資料分析（二）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12</a:t>
            </a:r>
            <a:r>
              <a:rPr lang="ja-JP" altLang="en-US" sz="2200"/>
              <a:t>週：</a:t>
            </a:r>
            <a:r>
              <a:rPr lang="en-US" altLang="ja-JP" sz="2200" dirty="0"/>
              <a:t>5/13	</a:t>
            </a:r>
            <a:r>
              <a:rPr lang="ja-JP" altLang="en-US" sz="2200"/>
              <a:t>質性研究方法、社群媒體與大數據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13</a:t>
            </a:r>
            <a:r>
              <a:rPr lang="ja-JP" altLang="en-US" sz="2200"/>
              <a:t>週：</a:t>
            </a:r>
            <a:r>
              <a:rPr lang="en-US" altLang="ja-JP" sz="2200" dirty="0"/>
              <a:t>5/20	</a:t>
            </a:r>
            <a:r>
              <a:rPr lang="ja-JP" altLang="en-US" sz="2200"/>
              <a:t>校慶運動會</a:t>
            </a:r>
            <a:r>
              <a:rPr lang="en-US" altLang="ja-JP" sz="2200" dirty="0"/>
              <a:t>(</a:t>
            </a:r>
            <a:r>
              <a:rPr lang="ja-JP" altLang="en-US" sz="2200"/>
              <a:t>停課</a:t>
            </a:r>
            <a:r>
              <a:rPr lang="en-US" altLang="ja-JP" sz="2200" dirty="0"/>
              <a:t>) 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14</a:t>
            </a:r>
            <a:r>
              <a:rPr lang="ja-JP" altLang="en-US" sz="2200"/>
              <a:t>週：</a:t>
            </a:r>
            <a:r>
              <a:rPr lang="en-US" altLang="ja-JP" sz="2200" dirty="0"/>
              <a:t>5/27	</a:t>
            </a:r>
            <a:r>
              <a:rPr lang="ja-JP" altLang="en-US" sz="2200"/>
              <a:t>民意調查報告的撰寫、調查與研究倫理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15</a:t>
            </a:r>
            <a:r>
              <a:rPr lang="ja-JP" altLang="en-US" sz="2200"/>
              <a:t>週：</a:t>
            </a:r>
            <a:r>
              <a:rPr lang="en-US" altLang="ja-JP" sz="2200" dirty="0"/>
              <a:t>6/3	</a:t>
            </a:r>
            <a:r>
              <a:rPr lang="ja-JP" altLang="en-US" sz="2200"/>
              <a:t>期末報告</a:t>
            </a:r>
            <a:endParaRPr lang="ja-JP" altLang="en-US" sz="220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16</a:t>
            </a:r>
            <a:r>
              <a:rPr lang="ja-JP" altLang="en-US" sz="2200"/>
              <a:t>週：</a:t>
            </a:r>
            <a:r>
              <a:rPr lang="en-US" altLang="ja-JP" sz="2200" dirty="0"/>
              <a:t>6/10	</a:t>
            </a:r>
            <a:r>
              <a:rPr lang="ja-JP" altLang="en-US" sz="2200">
                <a:solidFill>
                  <a:srgbClr val="FF0000"/>
                </a:solidFill>
              </a:rPr>
              <a:t>期末考</a:t>
            </a:r>
            <a:endParaRPr lang="ja-JP" altLang="en-US" sz="2200"/>
          </a:p>
          <a:p>
            <a:pPr>
              <a:lnSpc>
                <a:spcPct val="150000"/>
              </a:lnSpc>
            </a:pPr>
            <a:endParaRPr lang="ja-JP" altLang="en-US" sz="2200"/>
          </a:p>
          <a:p>
            <a:endParaRPr lang="ja-JP" altLang="en-US"/>
          </a:p>
          <a:p>
            <a:endParaRPr lang="ja-JP" altLang="en-US"/>
          </a:p>
          <a:p>
            <a:endParaRPr lang="ja-JP" alt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491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2169</TotalTime>
  <Words>492</Words>
  <Application>Microsoft Macintosh PowerPoint</Application>
  <PresentationFormat>寬螢幕</PresentationFormat>
  <Paragraphs>60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5" baseType="lpstr">
      <vt:lpstr>Angsana New</vt:lpstr>
      <vt:lpstr>Arial</vt:lpstr>
      <vt:lpstr>Calibri</vt:lpstr>
      <vt:lpstr>Calibri Light</vt:lpstr>
      <vt:lpstr>Courier New</vt:lpstr>
      <vt:lpstr>Times New Roman</vt:lpstr>
      <vt:lpstr>Office Theme</vt:lpstr>
      <vt:lpstr>民意與調查</vt:lpstr>
      <vt:lpstr>課程介紹</vt:lpstr>
      <vt:lpstr>課程目標</vt:lpstr>
      <vt:lpstr>成績評定</vt:lpstr>
      <vt:lpstr>期末報告</vt:lpstr>
      <vt:lpstr>指定教科書</vt:lpstr>
      <vt:lpstr>課程進度（ㄧ）</vt:lpstr>
      <vt:lpstr>課程進度（二）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CHT</cp:lastModifiedBy>
  <cp:revision>8</cp:revision>
  <dcterms:created xsi:type="dcterms:W3CDTF">2025-11-29T03:50:16Z</dcterms:created>
  <dcterms:modified xsi:type="dcterms:W3CDTF">2026-03-18T04:24:19Z</dcterms:modified>
</cp:coreProperties>
</file>