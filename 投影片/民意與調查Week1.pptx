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41"/>
  </p:notesMasterIdLst>
  <p:sldIdLst>
    <p:sldId id="256" r:id="rId2"/>
    <p:sldId id="286" r:id="rId3"/>
    <p:sldId id="289" r:id="rId4"/>
    <p:sldId id="291" r:id="rId5"/>
    <p:sldId id="290" r:id="rId6"/>
    <p:sldId id="292" r:id="rId7"/>
    <p:sldId id="293" r:id="rId8"/>
    <p:sldId id="294" r:id="rId9"/>
    <p:sldId id="279" r:id="rId10"/>
    <p:sldId id="280" r:id="rId11"/>
    <p:sldId id="303" r:id="rId12"/>
    <p:sldId id="295" r:id="rId13"/>
    <p:sldId id="296" r:id="rId14"/>
    <p:sldId id="285" r:id="rId15"/>
    <p:sldId id="297" r:id="rId16"/>
    <p:sldId id="300" r:id="rId17"/>
    <p:sldId id="298" r:id="rId18"/>
    <p:sldId id="299" r:id="rId19"/>
    <p:sldId id="268" r:id="rId20"/>
    <p:sldId id="272" r:id="rId21"/>
    <p:sldId id="271" r:id="rId22"/>
    <p:sldId id="284" r:id="rId23"/>
    <p:sldId id="276" r:id="rId24"/>
    <p:sldId id="301" r:id="rId25"/>
    <p:sldId id="262" r:id="rId26"/>
    <p:sldId id="269" r:id="rId27"/>
    <p:sldId id="257" r:id="rId28"/>
    <p:sldId id="261" r:id="rId29"/>
    <p:sldId id="278" r:id="rId30"/>
    <p:sldId id="264" r:id="rId31"/>
    <p:sldId id="283" r:id="rId32"/>
    <p:sldId id="267" r:id="rId33"/>
    <p:sldId id="282" r:id="rId34"/>
    <p:sldId id="265" r:id="rId35"/>
    <p:sldId id="281" r:id="rId36"/>
    <p:sldId id="302" r:id="rId37"/>
    <p:sldId id="288" r:id="rId38"/>
    <p:sldId id="304" r:id="rId39"/>
    <p:sldId id="305" r:id="rId40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2"/>
    <p:restoredTop sz="94830"/>
  </p:normalViewPr>
  <p:slideViewPr>
    <p:cSldViewPr>
      <p:cViewPr varScale="1">
        <p:scale>
          <a:sx n="121" d="100"/>
          <a:sy n="121" d="100"/>
        </p:scale>
        <p:origin x="16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8039438-A1D1-1ED6-CB1E-88C579B722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543CFAC-DF4E-B317-F26F-1B8072082B1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E1E665A-6E63-5F47-6C4A-3C8A9B32D56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608DD17E-A58E-F45C-20CE-50E3AC70A8A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E106251D-659D-884C-E81C-8F790DA03A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725B06D2-294A-6227-A9A4-066DDB42F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AD56691-B808-A145-ABC9-6383A2A56DA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E21D46-11E6-A4E7-01F0-4C912F03329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C5DBD280-D6BB-73D1-4BA5-FD7FF3EA874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endParaRPr kumimoji="0"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DB5D2C2B-7EF8-B7EA-06B4-20C3A954BF9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01DFE4C-FC8E-690E-4BC7-495C6F68A7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B852E20F-FC8C-BDF8-7EF8-135AC615D37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49A302F8-403A-36D4-8472-374EF1FEE7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3A8EBB9F-6A2F-FC0F-6795-240BEBE085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5B6CB01C-4ECB-C622-E965-418C07F82F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D95C7730-3032-740B-D5E0-4658597749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6042447A-A4B0-CBF1-494C-13EDA1A1A3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12610B60-F0FA-31F7-DE1D-4F629DEDD8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0B75622F-9809-4A6C-F4F0-FB7BEBC4BB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712D543A-6F56-E588-6D56-088D62E36B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CB244BCF-2E9D-8771-F968-06729FF01B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kumimoji="0" lang="zh-TW" altLang="zh-TW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923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923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4E887AD-86BD-4D69-E910-B8A73930EA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BC83DBC2-70C3-8121-05E2-48A85C8AEC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CD7AEC95-B63A-2A25-C4BE-0723E373A0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D287CA-E51C-5249-A04E-4F3189382F9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849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8EF569-B3C1-B764-9F5F-162A0CA5317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DCD8697-F171-8598-A145-AE42855D2C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477DF-6F98-6340-BFD6-03230D51F3D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16AB8AE0-D526-F832-314F-3863C383634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105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21DBC6-E37F-E7CA-3DD9-A9441A32DF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453D810-80CA-6454-8915-BA6B4C628D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E68A1-071C-B844-B0F2-1BF2B41573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72CE1D1-9484-5338-734B-4227186FF6B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2589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13A872-1F5F-4C9D-8D9D-B620213743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8ADF0B-F046-FBD3-98F9-4012145680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B1BB7-18CB-D945-8A41-EF273A5328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AC1960E-8A6D-722D-344B-D4680FCEF52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395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C597E3D-B7E5-961C-4DC3-67689BD4EE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EF60C53-AF5D-B342-B51C-231DBC65B1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6AFCD-2232-4448-85CF-28F3C0F06C6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C8F6C074-58FD-DD71-3B83-68D0E128693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511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EF109-3029-A7EC-4085-2016F637D1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D85C43-9BE3-AB53-27D8-BC32C57C3E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9157F-3E08-6845-9536-C0592AB90D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5F1E338C-5778-5E2C-5B64-39B0AF765BA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800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74D9D5-FA82-DCA6-A871-FE39E72C90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B895217-1D23-4286-799D-A4546AC69D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55ADA-FE52-BB41-9763-7B41FABB45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A239A765-C5BD-6471-C3F1-02ECB2BC555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742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6BF00E-BF92-90F7-8358-F82B8E7468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56B18F9-2431-3802-3E01-2D7F8A4F4E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D294C-7566-D34C-B4B5-0F272D87190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F7B9E9AD-06BF-8333-A96A-7E47785BE0C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890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A4247-0267-7324-6008-FB284C30FEE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2634C20-4E53-D106-C8CF-4387CACCF1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DB685-E87F-174B-9250-C0F3A81A35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04DA4D7-5D6F-C655-1F51-1FB8AD7886B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619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FABEE87-E422-3A87-FA37-24A79A0CE4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748F0A5-8E3C-52C8-C10C-7E64996C76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F33EC5-1896-7341-B0FD-13A7942244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C4422E31-A00D-7D85-C23D-89A5D17D46A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8308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991FB1F-0997-A743-3C63-381A593F01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39F83A-7882-B5FF-B5E1-5B31451DDA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E2C3E-6A16-984D-8051-1C1F1D5EFCC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CC5DD19B-90DA-CDB8-07B6-1345DC3DC51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60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標題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表版面配置區 2"/>
          <p:cNvSpPr>
            <a:spLocks noGrp="1"/>
          </p:cNvSpPr>
          <p:nvPr>
            <p:ph type="chart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1093DF-26B3-38D5-03BE-ACD07501F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1F2A74D-5C25-EC08-7771-E91EA6A2113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EDB95-449E-9A4E-8268-039E6597913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8A5AB30-6099-827F-E8AD-F65A56F967B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187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1DEF4B-F7A2-B1D1-63F2-DA10C8786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9860223-616D-F311-A4EF-89ADCBEFFE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Arial Black" panose="020B0604020202020204" pitchFamily="34" charset="0"/>
              </a:defRPr>
            </a:lvl1pPr>
          </a:lstStyle>
          <a:p>
            <a:pPr>
              <a:defRPr/>
            </a:pPr>
            <a:fld id="{AF1A3909-A69F-F446-BE14-5876D0BBC71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79F34AFB-4FF2-947D-1236-693CC9B62C5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2AB1414E-F3DA-0E7C-FBF3-749DD0FDE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endParaRPr kumimoji="0"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A5375E21-6F46-4AC4-E795-F4497422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DEF4ABE7-B19D-B632-4E10-6D63DCB84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D32423A7-8029-8796-1E6B-A08C47D4C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D9A6987F-7499-9F63-1C38-E6CD04A95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6C883649-92D5-D0BC-1E3F-3116FFB52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BA1D2D6E-8F5C-69AE-18B4-291204890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BB3A4666-62B6-7124-093E-137A17117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BED85FDC-C9DD-7D5A-FCBB-FB7944835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kumimoji="0" lang="zh-TW" altLang="zh-TW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452F62FC-648A-EDDC-16B8-84594D745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F5CBC8AF-9F61-9511-EC9E-46D5C53ED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DF5B2391-5113-94A4-1BD2-5E441A0D8F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/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新細明體" panose="020205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8">
            <a:extLst>
              <a:ext uri="{FF2B5EF4-FFF2-40B4-BE49-F238E27FC236}">
                <a16:creationId xmlns:a16="http://schemas.microsoft.com/office/drawing/2014/main" id="{907134EA-B36A-E758-FC2B-269E5E2B6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4BBC3BCE-D767-7342-A63F-C87F6AC846F2}" type="slidenum">
              <a:rPr kumimoji="0" lang="en-US" altLang="zh-TW">
                <a:latin typeface="Arial Black" panose="020B0604020202020204" pitchFamily="34" charset="0"/>
              </a:rPr>
              <a:pPr/>
              <a:t>1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3455C4BC-9B1E-C0EF-D3F1-153A57054EC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民意與民意調查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2EA441E-60B4-2D6F-3A99-AC17E01115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蔡佳泓</a:t>
            </a:r>
          </a:p>
          <a:p>
            <a:pPr eaLnBrk="1" hangingPunct="1"/>
            <a:r>
              <a:rPr lang="zh-TW" altLang="en-US"/>
              <a:t>選舉研究中心研究員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投影片編號版面配置區 4">
            <a:extLst>
              <a:ext uri="{FF2B5EF4-FFF2-40B4-BE49-F238E27FC236}">
                <a16:creationId xmlns:a16="http://schemas.microsoft.com/office/drawing/2014/main" id="{5C954070-F409-929E-231D-C40F351AAD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3035F0F5-336F-FB4B-86D4-543416A2217F}" type="slidenum">
              <a:rPr kumimoji="0" lang="en-US" altLang="zh-TW">
                <a:latin typeface="Arial Black" panose="020B0604020202020204" pitchFamily="34" charset="0"/>
              </a:rPr>
              <a:pPr/>
              <a:t>2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2A9B10DE-DCEA-CE68-4E56-1E74E55BF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重點提示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E0F07F1-B01A-2C39-33E7-F193E89CB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zh-TW" altLang="en-US" dirty="0"/>
              <a:t>民意的重要性</a:t>
            </a:r>
            <a:endParaRPr lang="en-US" altLang="zh-TW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TW" altLang="en-US" dirty="0"/>
              <a:t>民意的定義</a:t>
            </a:r>
            <a:endParaRPr lang="en-US" altLang="zh-TW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TW" altLang="en-US" dirty="0"/>
              <a:t>民意的形成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TW" altLang="en-US" dirty="0"/>
              <a:t>民意的特性與型態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TW" altLang="en-US" dirty="0"/>
              <a:t>民意調查的發展</a:t>
            </a:r>
            <a:endParaRPr lang="en-US" altLang="zh-TW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TW" altLang="en-US" dirty="0"/>
              <a:t>民意與政策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投影片編號版面配置區 4">
            <a:extLst>
              <a:ext uri="{FF2B5EF4-FFF2-40B4-BE49-F238E27FC236}">
                <a16:creationId xmlns:a16="http://schemas.microsoft.com/office/drawing/2014/main" id="{0DEF1CEA-ACE1-D47B-2A73-39AD6EFBF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39C87E9-85B7-4F4C-8ED1-3AECC28C422A}" type="slidenum">
              <a:rPr kumimoji="0" lang="en-US" altLang="zh-TW">
                <a:latin typeface="Arial Black" panose="020B0604020202020204" pitchFamily="34" charset="0"/>
              </a:rPr>
              <a:pPr/>
              <a:t>3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0C4AF4BA-5A97-8607-84B3-F6184ABD8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/>
              <a:t>民意與民主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A0FA6F7-C1E8-1CD7-6C8E-4A4E5344D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1671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民主的要素至少包含法治、公平的選舉以及有意義的政治參與。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其中，公平的選舉指的是候選人可以在一定規範下爭取選票，沒有暴力威脅、賄選，選舉也沒有舞弊或者有利於特定陣營。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民意與選舉、政治的互動決定一個國家的領導者以及政策的方向。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如何解釋民意的形成與變化？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民意影響政策的程度有多少？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政治人物可以操控民意嗎？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如何調查出民意？</a:t>
            </a:r>
            <a:endParaRPr lang="en-US" altLang="zh-TW" sz="2000" dirty="0"/>
          </a:p>
          <a:p>
            <a:pPr eaLnBrk="1" hangingPunct="1"/>
            <a:endParaRPr lang="en-US" altLang="zh-TW" sz="2000" dirty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投影片編號版面配置區 4">
            <a:extLst>
              <a:ext uri="{FF2B5EF4-FFF2-40B4-BE49-F238E27FC236}">
                <a16:creationId xmlns:a16="http://schemas.microsoft.com/office/drawing/2014/main" id="{F46C94C0-1274-5057-1597-5C051FA5C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140AD4B2-DC0A-CE43-9084-35685770380A}" type="slidenum">
              <a:rPr kumimoji="0" lang="en-US" altLang="zh-TW">
                <a:latin typeface="Arial Black" panose="020B0604020202020204" pitchFamily="34" charset="0"/>
              </a:rPr>
              <a:pPr/>
              <a:t>4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F110ADBD-D58D-CABA-3579-3B649B0A9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/>
              <a:t>民意的重要性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2B2B766-3B4C-C117-4ACE-0553E70BE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7005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2000" dirty="0"/>
              <a:t>盧梭</a:t>
            </a:r>
            <a:r>
              <a:rPr lang="zh-TW" altLang="en" sz="2000" dirty="0"/>
              <a:t>（</a:t>
            </a:r>
            <a:r>
              <a:rPr lang="en" altLang="zh-TW" sz="2000" dirty="0"/>
              <a:t>Jean-Jacques Rousseau</a:t>
            </a:r>
            <a:r>
              <a:rPr lang="zh-TW" altLang="en" sz="2000" dirty="0"/>
              <a:t>）</a:t>
            </a:r>
            <a:r>
              <a:rPr lang="zh-TW" altLang="en-US" sz="2000" dirty="0"/>
              <a:t>是啟蒙時代法國哲學家（</a:t>
            </a:r>
            <a:r>
              <a:rPr lang="en-US" altLang="zh-TW" sz="2000" dirty="0"/>
              <a:t>1712-1778</a:t>
            </a:r>
            <a:r>
              <a:rPr lang="zh-TW" altLang="en-US" sz="2000" dirty="0"/>
              <a:t>），著有「社會契約論」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2000" dirty="0"/>
              <a:t>盧梭認為，一個合法的政治社會（國家）必須建立在普遍意志之上，不是君主的個人意志或強權。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2000" dirty="0"/>
              <a:t>當人們締結社會契約，從「自然狀態」進入「公民社會」時，他們不僅僅是個人的集合，而是形成了一個新的「道德與集體的主體」。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2000" dirty="0"/>
              <a:t>普遍意志應該高於個人意志，才能實現公共利益。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2000" dirty="0"/>
              <a:t>盧梭贊成直接民主制，類似希臘城邦政治制度，由人民直接行使主權，反對洛克提出的代議民主制。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  <a:defRPr/>
            </a:pPr>
            <a:endParaRPr lang="en-US" altLang="zh-TW" sz="2000" dirty="0"/>
          </a:p>
          <a:p>
            <a:pPr eaLnBrk="1" hangingPunct="1">
              <a:defRPr/>
            </a:pPr>
            <a:endParaRPr lang="en-US" altLang="zh-TW" sz="2000" dirty="0"/>
          </a:p>
          <a:p>
            <a:pPr eaLnBrk="1" hangingPunct="1">
              <a:defRPr/>
            </a:pP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投影片編號版面配置區 4">
            <a:extLst>
              <a:ext uri="{FF2B5EF4-FFF2-40B4-BE49-F238E27FC236}">
                <a16:creationId xmlns:a16="http://schemas.microsoft.com/office/drawing/2014/main" id="{24B109C6-745C-99D2-C725-27C52D848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655BE5F3-60FB-3044-B2ED-3BB2EF85A788}" type="slidenum">
              <a:rPr kumimoji="0" lang="en-US" altLang="zh-TW">
                <a:latin typeface="Arial Black" panose="020B0604020202020204" pitchFamily="34" charset="0"/>
              </a:rPr>
              <a:pPr/>
              <a:t>5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700A2878-ED2A-8779-1D2C-9C266EFDB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/>
              <a:t>民意等於民粹？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6A118C4-4B7B-6238-1791-EA37380AF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盧梭的全民意志概念被延伸為民粹主義</a:t>
            </a:r>
            <a:r>
              <a:rPr lang="en-US" altLang="zh-TW" sz="2000" dirty="0"/>
              <a:t>(populism)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民粹主義有三個原則：善的民眾對抗腐敗的精英、人民主權至上、人民是一體不可分。由這三個原則延伸出反移民、反科學、反制衡等。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多元主義</a:t>
            </a:r>
            <a:r>
              <a:rPr lang="en-US" altLang="zh-TW" sz="2000" dirty="0"/>
              <a:t>(pluralism)</a:t>
            </a:r>
            <a:r>
              <a:rPr lang="zh-TW" altLang="en-US" sz="2000" dirty="0"/>
              <a:t>與民粹主義站在對立面，主張多元的聲音才能互相制衡避免濫權，不會以多數霸凌少數，也不會以少數控制權力。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現實上，多元主義可能造成少數利益團體決定政策，忽略多數人的意見，扭曲了民主的平等原則。但是相對於民粹主義或者菁英統治，可能是相對好的選項。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討論：公民投票是一個好的民意表現方式？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endParaRPr lang="en-US" altLang="zh-TW" sz="2000" dirty="0"/>
          </a:p>
          <a:p>
            <a:pPr eaLnBrk="1" hangingPunct="1"/>
            <a:endParaRPr lang="en-US" altLang="zh-TW" sz="2000" dirty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投影片編號版面配置區 4">
            <a:extLst>
              <a:ext uri="{FF2B5EF4-FFF2-40B4-BE49-F238E27FC236}">
                <a16:creationId xmlns:a16="http://schemas.microsoft.com/office/drawing/2014/main" id="{0CAFEBF9-399B-3D19-1B7A-C5F4D0A7B6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22905AEC-5DA4-B542-BF68-9A388CEC4C47}" type="slidenum">
              <a:rPr kumimoji="0" lang="en-US" altLang="zh-TW">
                <a:latin typeface="Arial Black" panose="020B0604020202020204" pitchFamily="34" charset="0"/>
              </a:rPr>
              <a:pPr/>
              <a:t>6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218271E5-842E-51F1-3581-015C9B07E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/>
              <a:t>民意的詮釋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DFFCF86-52E0-0961-C711-70244A3DE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7005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美國著名政治學家 </a:t>
            </a:r>
            <a:r>
              <a:rPr lang="en-US" altLang="zh-TW" sz="2000" dirty="0"/>
              <a:t>V. O. Key Jr.</a:t>
            </a:r>
            <a:r>
              <a:rPr lang="zh-TW" altLang="en-US" sz="2000" dirty="0"/>
              <a:t>反對當時認為選民投票純粹看心情或者根據政黨認同。他認為，雖然選民沒有掌握所有細節，但他們在大方向上是理性的。他們會根據過去幾年政府的表現（是變好還是變壞）來做出獎懲執政黨的決定。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 err="1"/>
              <a:t>V.O.Key</a:t>
            </a:r>
            <a:r>
              <a:rPr lang="zh-TW" altLang="en-US" sz="2000" dirty="0"/>
              <a:t> </a:t>
            </a:r>
            <a:r>
              <a:rPr lang="en-US" altLang="zh-TW" sz="2000" dirty="0"/>
              <a:t>(1961)</a:t>
            </a:r>
            <a:r>
              <a:rPr lang="zh-TW" altLang="en-US" sz="2000" dirty="0"/>
              <a:t>認為政府不得不重視民意</a:t>
            </a:r>
            <a:r>
              <a:rPr lang="en-US" altLang="zh-TW" sz="2000" dirty="0"/>
              <a:t>Public opinion is those opinions held by private persons which governments find it prudent to heed</a:t>
            </a:r>
            <a:r>
              <a:rPr lang="zh-TW" altLang="en-US" sz="2000" dirty="0"/>
              <a:t>，民意不見得是全部人都同意的意見，部分人的意見就有影響力。他認為民意劃定了一個「可接受的範圍」。在這個範圍內，政治菁英有很大的自由裁量權去制定具體政策。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討論：</a:t>
            </a:r>
            <a:r>
              <a:rPr lang="en-US" altLang="zh-TW" sz="2000" dirty="0" err="1"/>
              <a:t>V.O.Key</a:t>
            </a:r>
            <a:r>
              <a:rPr lang="zh-TW" altLang="en-US" sz="2000" dirty="0"/>
              <a:t>的觀點適用於今日的世界嗎？</a:t>
            </a:r>
            <a:endParaRPr lang="en-US" altLang="zh-TW" sz="2000" dirty="0"/>
          </a:p>
          <a:p>
            <a:pPr eaLnBrk="1" hangingPunct="1"/>
            <a:endParaRPr lang="en-US" altLang="zh-TW" sz="2000" dirty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投影片編號版面配置區 4">
            <a:extLst>
              <a:ext uri="{FF2B5EF4-FFF2-40B4-BE49-F238E27FC236}">
                <a16:creationId xmlns:a16="http://schemas.microsoft.com/office/drawing/2014/main" id="{0908CFCB-305F-53FC-2DAE-30703C6E5B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02FF3FD-F8F2-9749-8ED8-CED1C9056CAC}" type="slidenum">
              <a:rPr kumimoji="0" lang="en-US" altLang="zh-TW">
                <a:latin typeface="Arial Black" panose="020B0604020202020204" pitchFamily="34" charset="0"/>
              </a:rPr>
              <a:pPr/>
              <a:t>7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721858B-EC49-06CA-61C0-B213567EA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/>
              <a:t>不同角度的民意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482CB2C-4812-8F9D-3973-D5E2446C2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7005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經濟學傾向於將民意視為「個人偏好的總和」，就像市場上的個別消費者的需求加總。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經濟學假設個人的喜好是相對穩定的（例如：我要低稅收、我要高福利），根據偏好在各種方案中挑出最符合偏好的政黨或者政策。民意調查只是去測量這些已經存在的偏好。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人具有追求效用最大化的理性，因此民主反映出理性的抉擇。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選民會根據現任者的表現決定是否繼續支持。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中間選民定理（</a:t>
            </a:r>
            <a:r>
              <a:rPr lang="en-US" altLang="zh-TW" sz="2000" dirty="0"/>
              <a:t>Median Voter Theorem</a:t>
            </a:r>
            <a:r>
              <a:rPr lang="zh-TW" altLang="en-US" sz="2000" dirty="0"/>
              <a:t>）： 為了贏得選舉，政黨就像企業搶市占率，會自動向民意分佈的中間靠攏。</a:t>
            </a:r>
          </a:p>
          <a:p>
            <a:pPr eaLnBrk="1" hangingPunct="1">
              <a:lnSpc>
                <a:spcPct val="150000"/>
              </a:lnSpc>
            </a:pPr>
            <a:endParaRPr lang="en-US" altLang="zh-TW" sz="2000" dirty="0"/>
          </a:p>
          <a:p>
            <a:pPr eaLnBrk="1" hangingPunct="1"/>
            <a:endParaRPr lang="en-US" altLang="zh-TW" sz="2000" dirty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投影片編號版面配置區 4">
            <a:extLst>
              <a:ext uri="{FF2B5EF4-FFF2-40B4-BE49-F238E27FC236}">
                <a16:creationId xmlns:a16="http://schemas.microsoft.com/office/drawing/2014/main" id="{4586B430-A114-BA92-D619-B9F97A102D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F50D32E-1776-2145-BD43-66E491CF713D}" type="slidenum">
              <a:rPr kumimoji="0" lang="en-US" altLang="zh-TW">
                <a:latin typeface="Arial Black" panose="020B0604020202020204" pitchFamily="34" charset="0"/>
              </a:rPr>
              <a:pPr/>
              <a:t>8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3C97FCBC-372F-8816-13F6-D65442884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不同角度的民意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8108362-A550-5946-3518-0C0D578B72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7005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社會學家認為人是社會動物，意見不是憑空產生的，而是在人與人的互動中形成的。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意見受到家庭、階級、教育、媒體和同儕團體的深刻影響。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偏好不是固定的，它可以被框架（</a:t>
            </a:r>
            <a:r>
              <a:rPr lang="en-US" altLang="zh-TW" sz="2000" dirty="0"/>
              <a:t>Framing</a:t>
            </a:r>
            <a:r>
              <a:rPr lang="zh-TW" altLang="en-US" sz="2000" dirty="0"/>
              <a:t>）和符號所改變。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民意可能只是菁英透過媒體製造出來的回音；如果大眾表現得非理性、極端或充滿仇恨，那通常是因為政治領袖餵養了他們這些資訊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V.O.Key</a:t>
            </a:r>
            <a:r>
              <a:rPr lang="en-US" altLang="zh-TW" sz="2000" dirty="0"/>
              <a:t>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沉默螺旋（</a:t>
            </a:r>
            <a:r>
              <a:rPr lang="en-US" altLang="zh-TW" sz="2000" dirty="0"/>
              <a:t>Spiral of Silence</a:t>
            </a:r>
            <a:r>
              <a:rPr lang="zh-TW" altLang="en-US" sz="2000" dirty="0"/>
              <a:t>）理論： 當人們覺得自己的意見是少數時，為了不被孤立，他們會選擇沈默。這導致「強勢意見」看起來比實際上更強大。</a:t>
            </a:r>
          </a:p>
          <a:p>
            <a:pPr eaLnBrk="1" hangingPunct="1">
              <a:lnSpc>
                <a:spcPct val="150000"/>
              </a:lnSpc>
            </a:pPr>
            <a:endParaRPr lang="en-US" altLang="zh-TW" sz="2000" dirty="0"/>
          </a:p>
          <a:p>
            <a:pPr eaLnBrk="1" hangingPunct="1"/>
            <a:endParaRPr lang="en-US" altLang="zh-TW" sz="2000" dirty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投影片編號版面配置區 4">
            <a:extLst>
              <a:ext uri="{FF2B5EF4-FFF2-40B4-BE49-F238E27FC236}">
                <a16:creationId xmlns:a16="http://schemas.microsoft.com/office/drawing/2014/main" id="{FDA1F376-EA85-5732-E59B-A82F925C73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F1D2386-B069-764B-ACCA-91D8220FFCA9}" type="slidenum">
              <a:rPr kumimoji="0" lang="en-US" altLang="zh-TW">
                <a:latin typeface="Arial Black" panose="020B0604020202020204" pitchFamily="34" charset="0"/>
              </a:rPr>
              <a:pPr/>
              <a:t>9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0C8E50D4-757A-AD63-3002-DB66F266F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民意的定義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B40C75D-1BF3-788E-0CD5-BFCDF1C3B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民意可以定義為針對議題的意見或者偏好的綜合。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例如：是否滿意政府施政？是否支持增加國防預算？是否願意為台灣而戰？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如果有超過兩個選項，就需要排列偏好。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例如：台灣應該發展核能、發展綠能還是維持火力發電？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因為每個人偏好是固定的，所以要達到結果有可能需要一些人改變偏好，或是先決定好順序。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endParaRPr lang="zh-TW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投影片編號版面配置區 4">
            <a:extLst>
              <a:ext uri="{FF2B5EF4-FFF2-40B4-BE49-F238E27FC236}">
                <a16:creationId xmlns:a16="http://schemas.microsoft.com/office/drawing/2014/main" id="{6BE1DC74-7C64-44D9-1CC4-2FDAC409B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43FBBAD-BD53-8B43-A890-3A900BE92B4C}" type="slidenum">
              <a:rPr kumimoji="0" lang="en-US" altLang="zh-TW">
                <a:latin typeface="Arial Black" panose="020B0604020202020204" pitchFamily="34" charset="0"/>
              </a:rPr>
              <a:pPr/>
              <a:t>10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2C10DE6C-17EC-F3C5-D21F-1621762B7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三個人，三個偏好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11B6632-FDF9-32CD-E0D0-EC312AFD4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8410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假設三個民眾的偏好如下：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甲：核能</a:t>
            </a:r>
            <a:r>
              <a:rPr lang="en-US" altLang="zh-TW" sz="2000" dirty="0"/>
              <a:t>&gt;</a:t>
            </a:r>
            <a:r>
              <a:rPr lang="zh-TW" altLang="en-US" sz="2000" dirty="0"/>
              <a:t>綠能</a:t>
            </a:r>
            <a:r>
              <a:rPr lang="en-US" altLang="zh-TW" sz="2000" dirty="0"/>
              <a:t>&gt;</a:t>
            </a:r>
            <a:r>
              <a:rPr lang="zh-TW" altLang="en-US" sz="2000" dirty="0"/>
              <a:t>火力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乙：綠能</a:t>
            </a:r>
            <a:r>
              <a:rPr lang="en-US" altLang="zh-TW" sz="2000" dirty="0"/>
              <a:t>&gt;</a:t>
            </a:r>
            <a:r>
              <a:rPr lang="zh-TW" altLang="en-US" sz="2000" dirty="0"/>
              <a:t>火力</a:t>
            </a:r>
            <a:r>
              <a:rPr lang="en-US" altLang="zh-TW" sz="2000" dirty="0"/>
              <a:t>&gt;</a:t>
            </a:r>
            <a:r>
              <a:rPr lang="zh-TW" altLang="en-US" sz="2000" dirty="0"/>
              <a:t>核能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丙：火力</a:t>
            </a:r>
            <a:r>
              <a:rPr lang="en-US" altLang="zh-TW" sz="2000" dirty="0"/>
              <a:t>&gt;</a:t>
            </a:r>
            <a:r>
              <a:rPr lang="zh-TW" altLang="en-US" sz="2000" dirty="0"/>
              <a:t>核能</a:t>
            </a:r>
            <a:r>
              <a:rPr lang="en-US" altLang="zh-TW" sz="2000" dirty="0"/>
              <a:t>&gt;</a:t>
            </a:r>
            <a:r>
              <a:rPr lang="zh-TW" altLang="en-US" sz="2000" dirty="0"/>
              <a:t>綠能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如果每人</a:t>
            </a:r>
            <a:r>
              <a:rPr lang="en-US" altLang="zh-TW" sz="2000" dirty="0"/>
              <a:t>1</a:t>
            </a:r>
            <a:r>
              <a:rPr lang="zh-TW" altLang="en-US" sz="2000" dirty="0"/>
              <a:t>票，核能、綠能、火力各獲得</a:t>
            </a:r>
            <a:r>
              <a:rPr lang="en-US" altLang="zh-TW" sz="2000" dirty="0"/>
              <a:t>1</a:t>
            </a:r>
            <a:r>
              <a:rPr lang="zh-TW" altLang="en-US" sz="2000" dirty="0"/>
              <a:t>票，出現</a:t>
            </a:r>
            <a:r>
              <a:rPr lang="en-US" altLang="zh-TW" sz="2000" dirty="0"/>
              <a:t>cycling</a:t>
            </a:r>
            <a:r>
              <a:rPr lang="zh-TW" altLang="en-US" sz="2000" dirty="0"/>
              <a:t>問題。如果甲改成綠能</a:t>
            </a:r>
            <a:r>
              <a:rPr lang="en-US" altLang="zh-TW" sz="2000" dirty="0"/>
              <a:t>&gt;</a:t>
            </a:r>
            <a:r>
              <a:rPr lang="zh-TW" altLang="en-US" sz="2000" dirty="0"/>
              <a:t>核能</a:t>
            </a:r>
            <a:r>
              <a:rPr lang="en-US" altLang="zh-TW" sz="2000" dirty="0"/>
              <a:t>&gt;</a:t>
            </a:r>
            <a:r>
              <a:rPr lang="zh-TW" altLang="en-US" sz="2000" dirty="0"/>
              <a:t>火力，那麼綠能會得兩票。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若先針對核能跟綠能投票，甲、丙會投給核能，乙投給綠能，淘汰綠能之後，再投核能或者火力發電。</a:t>
            </a:r>
            <a:endParaRPr lang="en-US" altLang="zh-TW" sz="2000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4BBA5-070D-4A74-187E-478CD35D6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0" y="2279650"/>
            <a:ext cx="3365500" cy="2298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投影片編號版面配置區 4">
            <a:extLst>
              <a:ext uri="{FF2B5EF4-FFF2-40B4-BE49-F238E27FC236}">
                <a16:creationId xmlns:a16="http://schemas.microsoft.com/office/drawing/2014/main" id="{6BE1DC74-7C64-44D9-1CC4-2FDAC409B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43FBBAD-BD53-8B43-A890-3A900BE92B4C}" type="slidenum">
              <a:rPr kumimoji="0" lang="en-US" altLang="zh-TW">
                <a:latin typeface="Arial Black" panose="020B0604020202020204" pitchFamily="34" charset="0"/>
              </a:rPr>
              <a:pPr/>
              <a:t>11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2C10DE6C-17EC-F3C5-D21F-1621762B7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偏好循環問題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11B6632-FDF9-32CD-E0D0-EC312AFD4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8410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Dennis C. Mueller </a:t>
            </a:r>
            <a:r>
              <a:rPr lang="en-US" altLang="zh-TW"/>
              <a:t>(1976: 403)</a:t>
            </a:r>
            <a:endParaRPr lang="en-US" altLang="zh-TW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4BBA5-070D-4A74-187E-478CD35D6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55" y="2713379"/>
            <a:ext cx="5478089" cy="374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3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投影片編號版面配置區 4">
            <a:extLst>
              <a:ext uri="{FF2B5EF4-FFF2-40B4-BE49-F238E27FC236}">
                <a16:creationId xmlns:a16="http://schemas.microsoft.com/office/drawing/2014/main" id="{6BE1DC74-7C64-44D9-1CC4-2FDAC409B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43FBBAD-BD53-8B43-A890-3A900BE92B4C}" type="slidenum">
              <a:rPr kumimoji="0" lang="en-US" altLang="zh-TW">
                <a:latin typeface="Arial Black" panose="020B0604020202020204" pitchFamily="34" charset="0"/>
              </a:rPr>
              <a:pPr/>
              <a:t>12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2C10DE6C-17EC-F3C5-D21F-1621762B7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民意與態度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11B6632-FDF9-32CD-E0D0-EC312AFD4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8410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民意常常表現在態度</a:t>
            </a:r>
            <a:r>
              <a:rPr lang="en-US" altLang="zh-TW" sz="2000" dirty="0"/>
              <a:t>(attitude)</a:t>
            </a:r>
            <a:r>
              <a:rPr lang="zh-TW" altLang="en-US" sz="2000" dirty="0"/>
              <a:t>，針對人或者事的正面或負面的感覺或者評價。例如：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從</a:t>
            </a:r>
            <a:r>
              <a:rPr lang="en-US" altLang="zh-TW" sz="2000" dirty="0"/>
              <a:t>0</a:t>
            </a:r>
            <a:r>
              <a:rPr lang="zh-TW" altLang="en-US" sz="2000" dirty="0"/>
              <a:t>到</a:t>
            </a:r>
            <a:r>
              <a:rPr lang="en-US" altLang="zh-TW" sz="2000" dirty="0"/>
              <a:t>10</a:t>
            </a:r>
            <a:r>
              <a:rPr lang="zh-TW" altLang="en-US" sz="2000" dirty="0"/>
              <a:t>表示對政黨、候選人的好感或評價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對社會住宅政策的支持程度（非常不支持</a:t>
            </a:r>
            <a:r>
              <a:rPr lang="en-US" altLang="zh-TW" sz="2000" dirty="0"/>
              <a:t>…</a:t>
            </a:r>
            <a:r>
              <a:rPr lang="zh-TW" altLang="en-US" sz="2000" dirty="0"/>
              <a:t>非常支持）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感到樂觀、擔心、生氣的程度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對於政府、警察、法院等等機構的信任程度。</a:t>
            </a:r>
            <a:endParaRPr lang="en-US" altLang="zh-TW" sz="2000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10789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投影片編號版面配置區 4">
            <a:extLst>
              <a:ext uri="{FF2B5EF4-FFF2-40B4-BE49-F238E27FC236}">
                <a16:creationId xmlns:a16="http://schemas.microsoft.com/office/drawing/2014/main" id="{6BE1DC74-7C64-44D9-1CC4-2FDAC409B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43FBBAD-BD53-8B43-A890-3A900BE92B4C}" type="slidenum">
              <a:rPr kumimoji="0" lang="en-US" altLang="zh-TW">
                <a:latin typeface="Arial Black" panose="020B0604020202020204" pitchFamily="34" charset="0"/>
              </a:rPr>
              <a:pPr/>
              <a:t>13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2C10DE6C-17EC-F3C5-D21F-1621762B7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態度與意識形態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11B6632-FDF9-32CD-E0D0-EC312AFD4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8410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意識形態也是一種民意。例如：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政府應該管得多還是讓民間自己運作（大政府或者小政府）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經濟發展還是環境保護比較重要（重視發展或者重視生活品質）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經濟發展還是社會福利比較重要（重視發展或者重視社會平等）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保護國內產業還是開放進口商品競爭（重視本地企業還是重視消費者利益）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endParaRPr lang="en-US" altLang="zh-TW" sz="2000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43384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投影片編號版面配置區 4">
            <a:extLst>
              <a:ext uri="{FF2B5EF4-FFF2-40B4-BE49-F238E27FC236}">
                <a16:creationId xmlns:a16="http://schemas.microsoft.com/office/drawing/2014/main" id="{B17D47E0-31E1-A91B-5A48-41AD1B343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0E0880D-330D-2949-AC29-02D50456EEDA}" type="slidenum">
              <a:rPr kumimoji="0" lang="en-US" altLang="zh-TW">
                <a:latin typeface="Arial Black" panose="020B0604020202020204" pitchFamily="34" charset="0"/>
              </a:rPr>
              <a:pPr/>
              <a:t>14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91BBE9E-C87A-A0BC-4BD4-B3160EC3B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民意的強弱度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2FE7F1E-C27B-4AD9-FBBC-7B3401C3D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強弱度：非常支持或者非常不支持的比例高或者低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政治學家 </a:t>
            </a:r>
            <a:r>
              <a:rPr lang="en-US" altLang="zh-TW" sz="2000" dirty="0"/>
              <a:t>V.O. Key </a:t>
            </a:r>
            <a:r>
              <a:rPr lang="ja-JP" altLang="en-US" sz="2000"/>
              <a:t>曾指出，民意強度是預測政治結果的關鍵：「一群強度極高的小眾（</a:t>
            </a:r>
            <a:r>
              <a:rPr lang="en-US" altLang="zh-TW" sz="2000" dirty="0"/>
              <a:t>Intense Minority</a:t>
            </a:r>
            <a:r>
              <a:rPr lang="zh-TW" altLang="en-US" sz="2000" dirty="0"/>
              <a:t>），</a:t>
            </a:r>
            <a:r>
              <a:rPr lang="ja-JP" altLang="en-US" sz="2000"/>
              <a:t>往往能擊敗一群強度薄弱的多數（</a:t>
            </a:r>
            <a:r>
              <a:rPr lang="en-US" altLang="zh-TW" sz="2000" dirty="0"/>
              <a:t>Indifferent Majority</a:t>
            </a:r>
            <a:r>
              <a:rPr lang="zh-TW" altLang="en-US" sz="2000" dirty="0"/>
              <a:t>）。」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例如：「請從</a:t>
            </a:r>
            <a:r>
              <a:rPr lang="en-US" altLang="zh-TW" sz="2000" dirty="0"/>
              <a:t>1 </a:t>
            </a:r>
            <a:r>
              <a:rPr lang="zh-TW" altLang="en-US" sz="2000" dirty="0"/>
              <a:t>到 </a:t>
            </a:r>
            <a:r>
              <a:rPr lang="en-US" altLang="zh-TW" sz="2000" dirty="0"/>
              <a:t>10 </a:t>
            </a:r>
            <a:r>
              <a:rPr lang="zh-TW" altLang="en-US" sz="2000" dirty="0"/>
              <a:t>表示您支持禁用塑膠袋的程度？」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如果有</a:t>
            </a:r>
            <a:r>
              <a:rPr lang="en-US" altLang="zh-TW" sz="2000" dirty="0"/>
              <a:t>15%</a:t>
            </a:r>
            <a:r>
              <a:rPr lang="zh-TW" altLang="en-US" sz="2000" dirty="0"/>
              <a:t>選</a:t>
            </a:r>
            <a:r>
              <a:rPr lang="en-US" altLang="zh-TW" sz="2000" dirty="0"/>
              <a:t>10</a:t>
            </a:r>
            <a:r>
              <a:rPr lang="zh-TW" altLang="en-US" sz="2000" dirty="0"/>
              <a:t>，其他人分佈在</a:t>
            </a:r>
            <a:r>
              <a:rPr lang="en-US" altLang="zh-TW" sz="2000" dirty="0"/>
              <a:t>1</a:t>
            </a:r>
            <a:r>
              <a:rPr lang="zh-TW" altLang="en-US" sz="2000" dirty="0"/>
              <a:t>到</a:t>
            </a:r>
            <a:r>
              <a:rPr lang="en-US" altLang="zh-TW" sz="2000" dirty="0"/>
              <a:t>9</a:t>
            </a:r>
            <a:r>
              <a:rPr lang="zh-TW" altLang="en-US" sz="2000" dirty="0"/>
              <a:t>，政府或者民意代表可能要考慮這些強烈贊成者的意見。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投影片編號版面配置區 4">
            <a:extLst>
              <a:ext uri="{FF2B5EF4-FFF2-40B4-BE49-F238E27FC236}">
                <a16:creationId xmlns:a16="http://schemas.microsoft.com/office/drawing/2014/main" id="{B17D47E0-31E1-A91B-5A48-41AD1B343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0E0880D-330D-2949-AC29-02D50456EEDA}" type="slidenum">
              <a:rPr kumimoji="0" lang="en-US" altLang="zh-TW">
                <a:latin typeface="Arial Black" panose="020B0604020202020204" pitchFamily="34" charset="0"/>
              </a:rPr>
              <a:pPr/>
              <a:t>15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91BBE9E-C87A-A0BC-4BD4-B3160EC3B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民意的穩定性（總體）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2FE7F1E-C27B-4AD9-FBBC-7B3401C3D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穩定性：民意是非常穩定或者起起伏伏。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民調結果可能隨時間出現變化，也可能在一段時間內相當穩定。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例如：政府提案恢復兵役一年，起初反對的人很多，但是後來隨著</a:t>
            </a:r>
            <a:r>
              <a:rPr lang="en-US" altLang="zh-TW" sz="2000" dirty="0"/>
              <a:t>2022</a:t>
            </a:r>
            <a:r>
              <a:rPr lang="zh-TW" altLang="en-US" sz="2000" dirty="0"/>
              <a:t>年俄烏戰爭爆發，反對的人減少，最後在</a:t>
            </a:r>
            <a:r>
              <a:rPr lang="en-US" altLang="zh-TW" sz="2000" dirty="0"/>
              <a:t>2022</a:t>
            </a:r>
            <a:r>
              <a:rPr lang="zh-TW" altLang="en-US" sz="2000" dirty="0"/>
              <a:t>年</a:t>
            </a:r>
            <a:r>
              <a:rPr lang="en-US" altLang="zh-TW" sz="2000" dirty="0"/>
              <a:t>12</a:t>
            </a:r>
            <a:r>
              <a:rPr lang="zh-TW" altLang="en-US" sz="2000" dirty="0"/>
              <a:t>月宣布將義務役從現行的</a:t>
            </a:r>
            <a:r>
              <a:rPr lang="en-US" altLang="zh-TW" sz="2000" dirty="0"/>
              <a:t>4</a:t>
            </a:r>
            <a:r>
              <a:rPr lang="zh-TW" altLang="en-US" sz="2000" dirty="0"/>
              <a:t>個月改為</a:t>
            </a:r>
            <a:r>
              <a:rPr lang="en-US" altLang="zh-TW" sz="2000" dirty="0"/>
              <a:t>1</a:t>
            </a:r>
            <a:r>
              <a:rPr lang="zh-TW" altLang="en-US" sz="2000" dirty="0"/>
              <a:t>年。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例如：台灣民眾長期反對一國兩制的方案。</a:t>
            </a:r>
            <a:r>
              <a:rPr lang="en-US" sz="1200" b="0" dirty="0">
                <a:effectLst/>
              </a:rPr>
              <a:t>  </a:t>
            </a:r>
            <a:endParaRPr lang="en-US" sz="2000" b="0" dirty="0">
              <a:effectLst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民意如果隨著外在環境變化而波動，顯示民眾可能會判斷社會的氛圍反映在民意調查。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例如：隨著越戰的美軍死亡人數增加，美國人支持越戰的比例下降。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48974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719163-8A2D-74C9-1147-BA994D976D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855ADA-FE52-BB41-9763-7B41FABB45CC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E87B8E-089F-C199-9580-EEEFFA09E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91" y="720824"/>
            <a:ext cx="8607417" cy="552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980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投影片編號版面配置區 4">
            <a:extLst>
              <a:ext uri="{FF2B5EF4-FFF2-40B4-BE49-F238E27FC236}">
                <a16:creationId xmlns:a16="http://schemas.microsoft.com/office/drawing/2014/main" id="{B17D47E0-31E1-A91B-5A48-41AD1B343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0E0880D-330D-2949-AC29-02D50456EEDA}" type="slidenum">
              <a:rPr kumimoji="0" lang="en-US" altLang="zh-TW">
                <a:latin typeface="Arial Black" panose="020B0604020202020204" pitchFamily="34" charset="0"/>
              </a:rPr>
              <a:pPr/>
              <a:t>17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91BBE9E-C87A-A0BC-4BD4-B3160EC3B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顯性或隱性民意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2FE7F1E-C27B-4AD9-FBBC-7B3401C3D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隱性民意指的是還沒有完全成形，或者還沒有被激發出來的意見。顯性民意則是人們願意公開表達、可以透過標準化問卷（民調）、投票、遊行或社交媒體貼文被觀察到的意見。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如果忽視隱性意見，有可能對民意做出錯誤判斷。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例如：政府徵求對於圓環存廢的意見時，可能很多人對這個做法沒意見，但是當政府決定拆除圓環的時程時，可能激發一些人的反對。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政府有時會先試探性傳出消息了解民眾反應，再進行正式民調以決策。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368798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投影片編號版面配置區 4">
            <a:extLst>
              <a:ext uri="{FF2B5EF4-FFF2-40B4-BE49-F238E27FC236}">
                <a16:creationId xmlns:a16="http://schemas.microsoft.com/office/drawing/2014/main" id="{B17D47E0-31E1-A91B-5A48-41AD1B343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0E0880D-330D-2949-AC29-02D50456EEDA}" type="slidenum">
              <a:rPr kumimoji="0" lang="en-US" altLang="zh-TW">
                <a:latin typeface="Arial Black" panose="020B0604020202020204" pitchFamily="34" charset="0"/>
              </a:rPr>
              <a:pPr/>
              <a:t>18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91BBE9E-C87A-A0BC-4BD4-B3160EC3B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隱性民意的例子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2FE7F1E-C27B-4AD9-FBBC-7B3401C3D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1982 </a:t>
            </a:r>
            <a:r>
              <a:rPr lang="zh-TW" altLang="en-US" sz="2000" dirty="0"/>
              <a:t>年，湯姆</a:t>
            </a:r>
            <a:r>
              <a:rPr lang="en-US" altLang="zh-TW" sz="2000" dirty="0"/>
              <a:t>·</a:t>
            </a:r>
            <a:r>
              <a:rPr lang="zh-TW" altLang="en-US" sz="2000" dirty="0"/>
              <a:t>布萊德利（</a:t>
            </a:r>
            <a:r>
              <a:rPr lang="en-US" altLang="zh-TW" sz="2000" dirty="0"/>
              <a:t>Tom Bradley</a:t>
            </a:r>
            <a:r>
              <a:rPr lang="zh-TW" altLang="en-US" sz="2000" dirty="0"/>
              <a:t>）是一位廣受歡迎的洛杉磯非裔市長。他代表民主黨競選加州州長，對手是白人共和黨候選人喬治</a:t>
            </a:r>
            <a:r>
              <a:rPr lang="en-US" altLang="zh-TW" sz="2000" dirty="0"/>
              <a:t>·</a:t>
            </a:r>
            <a:r>
              <a:rPr lang="zh-TW" altLang="en-US" sz="2000" dirty="0"/>
              <a:t>杜克梅吉安（</a:t>
            </a:r>
            <a:r>
              <a:rPr lang="en-US" altLang="zh-TW" sz="2000" dirty="0"/>
              <a:t>George Deukmejian</a:t>
            </a:r>
            <a:r>
              <a:rPr lang="zh-TW" altLang="en-US" sz="2000" dirty="0"/>
              <a:t>）。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幾乎所有主要民調都顯示布萊德利大幅領先。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選民不想被認為是種族歧視者（</a:t>
            </a:r>
            <a:r>
              <a:rPr lang="en-US" altLang="zh-TW" sz="2000" dirty="0"/>
              <a:t>Racist</a:t>
            </a:r>
            <a:r>
              <a:rPr lang="zh-TW" altLang="en-US" sz="2000" dirty="0"/>
              <a:t>）</a:t>
            </a:r>
            <a:r>
              <a:rPr lang="ja-JP" altLang="en-US" sz="2000"/>
              <a:t>或思想落後。為了符合社會道德標準（社會期許），他們對訪員說：「我還沒決定」或者「我會投給布萊德利」。結果</a:t>
            </a:r>
            <a:r>
              <a:rPr lang="zh-TW" altLang="en-US" sz="2000" dirty="0"/>
              <a:t>布萊德利落敗。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還有誰是「湯姆</a:t>
            </a:r>
            <a:r>
              <a:rPr lang="en-US" altLang="zh-TW" sz="2000" dirty="0"/>
              <a:t>·</a:t>
            </a:r>
            <a:r>
              <a:rPr lang="zh-TW" altLang="en-US" sz="2000" dirty="0"/>
              <a:t>布萊德利」？為什麼？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802051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投影片編號版面配置區 4">
            <a:extLst>
              <a:ext uri="{FF2B5EF4-FFF2-40B4-BE49-F238E27FC236}">
                <a16:creationId xmlns:a16="http://schemas.microsoft.com/office/drawing/2014/main" id="{693269D5-7F3A-92AC-92BF-6DE38525EA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BE02C60-DB4E-114A-953C-5EAFB3A2DC91}" type="slidenum">
              <a:rPr kumimoji="0" lang="en-US" altLang="zh-TW">
                <a:latin typeface="Arial Black" panose="020B0604020202020204" pitchFamily="34" charset="0"/>
              </a:rPr>
              <a:pPr/>
              <a:t>19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1687A1C-67C9-CD9B-4357-7D170CE6E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民意的型態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CB01DE3-D0B7-BCF1-47CE-4246E19CD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如果在一個議題面向上，由左而右排列一端的立場到另外一端的立場，可能有以下三種民意的型態：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單峰、鐘型：中間態度的人數最多，兩邊相對少，代表多數人的意見是不贊成也不反對，相對溫和。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J</a:t>
            </a:r>
            <a:r>
              <a:rPr lang="zh-TW" altLang="en-US" sz="2000" dirty="0"/>
              <a:t>型：一邊多、另一邊少，大多數人的意見集中在某一邊。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雙峰：兩邊贊成人數相當，中間相對少。代表社會極度極化 </a:t>
            </a:r>
            <a:r>
              <a:rPr lang="en-US" altLang="zh-TW" sz="2000" dirty="0"/>
              <a:t>(Polarization)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AA19-9DF3-18FE-ADAD-DCC29439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單峰、鐘型</a:t>
            </a:r>
            <a:endParaRPr lang="en-US" sz="3600" dirty="0"/>
          </a:p>
        </p:txBody>
      </p:sp>
      <p:sp>
        <p:nvSpPr>
          <p:cNvPr id="16385" name="投影片編號版面配置區 2">
            <a:extLst>
              <a:ext uri="{FF2B5EF4-FFF2-40B4-BE49-F238E27FC236}">
                <a16:creationId xmlns:a16="http://schemas.microsoft.com/office/drawing/2014/main" id="{67476A70-2EB7-0A9E-CC0A-EAC667A585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AFBC7439-33A2-7B49-A5FB-66401A3C5DD0}" type="slidenum">
              <a:rPr kumimoji="0" lang="en-US" altLang="zh-TW">
                <a:latin typeface="Arial Black" panose="020B0604020202020204" pitchFamily="34" charset="0"/>
              </a:rPr>
              <a:pPr/>
              <a:t>20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9CBF5E4F-D576-5674-8786-0EF29B38B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2" y="1360686"/>
            <a:ext cx="5514975" cy="551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投影片編號版面配置區 2">
            <a:extLst>
              <a:ext uri="{FF2B5EF4-FFF2-40B4-BE49-F238E27FC236}">
                <a16:creationId xmlns:a16="http://schemas.microsoft.com/office/drawing/2014/main" id="{08BD9E0E-AF1D-DB9E-E499-BF523B6357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659B4789-565F-B14C-8FE9-7D51DEC83DC4}" type="slidenum">
              <a:rPr kumimoji="0" lang="en-US" altLang="zh-TW">
                <a:latin typeface="Arial Black" panose="020B0604020202020204" pitchFamily="34" charset="0"/>
              </a:rPr>
              <a:pPr/>
              <a:t>21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81B5956-0049-344E-D530-498D5FE0B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673100"/>
            <a:ext cx="5514975" cy="551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605-1CB9-9EC3-E7C9-E538DF82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雙峰</a:t>
            </a:r>
            <a:endParaRPr lang="en-US" sz="3600" dirty="0"/>
          </a:p>
        </p:txBody>
      </p:sp>
      <p:sp>
        <p:nvSpPr>
          <p:cNvPr id="18433" name="投影片編號版面配置區 2">
            <a:extLst>
              <a:ext uri="{FF2B5EF4-FFF2-40B4-BE49-F238E27FC236}">
                <a16:creationId xmlns:a16="http://schemas.microsoft.com/office/drawing/2014/main" id="{EFD9EC3B-7C82-E625-7AEB-74569F8EE2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9568B1D-1D52-4049-AD44-B0DC1C0B284C}" type="slidenum">
              <a:rPr kumimoji="0" lang="en-US" altLang="zh-TW">
                <a:latin typeface="Arial Black" panose="020B0604020202020204" pitchFamily="34" charset="0"/>
              </a:rPr>
              <a:pPr/>
              <a:t>22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pic>
        <p:nvPicPr>
          <p:cNvPr id="18434" name="Picture 4">
            <a:extLst>
              <a:ext uri="{FF2B5EF4-FFF2-40B4-BE49-F238E27FC236}">
                <a16:creationId xmlns:a16="http://schemas.microsoft.com/office/drawing/2014/main" id="{5A4DF116-1F01-448B-5915-A0B065783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2253865"/>
            <a:ext cx="5929313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202A-807C-5B38-A11A-16781A04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J型</a:t>
            </a:r>
            <a:endParaRPr lang="en-US" dirty="0"/>
          </a:p>
        </p:txBody>
      </p:sp>
      <p:sp>
        <p:nvSpPr>
          <p:cNvPr id="19457" name="投影片編號版面配置區 2">
            <a:extLst>
              <a:ext uri="{FF2B5EF4-FFF2-40B4-BE49-F238E27FC236}">
                <a16:creationId xmlns:a16="http://schemas.microsoft.com/office/drawing/2014/main" id="{A39B6338-9CD3-B158-20B6-A2F10E1A1B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6FE6E5FA-3910-434D-8C36-E22BFED92EB3}" type="slidenum">
              <a:rPr kumimoji="0" lang="en-US" altLang="zh-TW">
                <a:latin typeface="Arial Black" panose="020B0604020202020204" pitchFamily="34" charset="0"/>
              </a:rPr>
              <a:pPr/>
              <a:t>23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1492024F-F25E-B30A-1835-F64CF1C96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2" y="1334110"/>
            <a:ext cx="5514975" cy="551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投影片編號版面配置區 4">
            <a:extLst>
              <a:ext uri="{FF2B5EF4-FFF2-40B4-BE49-F238E27FC236}">
                <a16:creationId xmlns:a16="http://schemas.microsoft.com/office/drawing/2014/main" id="{693269D5-7F3A-92AC-92BF-6DE38525EA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BE02C60-DB4E-114A-953C-5EAFB3A2DC91}" type="slidenum">
              <a:rPr kumimoji="0" lang="en-US" altLang="zh-TW">
                <a:latin typeface="Arial Black" panose="020B0604020202020204" pitchFamily="34" charset="0"/>
              </a:rPr>
              <a:pPr/>
              <a:t>24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1687A1C-67C9-CD9B-4357-7D170CE6E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民意的型態討論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CB01DE3-D0B7-BCF1-47CE-4246E19CD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單峰、鐘型：多數人在某項議題的立場是不贊成也不反對。我們好奇，這些人如何決定其他政策的立場？或者如何投票？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J</a:t>
            </a:r>
            <a:r>
              <a:rPr lang="zh-TW" altLang="en-US" sz="2000" dirty="0"/>
              <a:t>型：大多數人的意見集中在某一邊。這是因為民調的問題引導？還是真實的態度？如果問卷加上一些條件，意見會不會改變？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雙峰：兩邊贊成人數相當，代表社會極化，可能造成政府難以取得</a:t>
            </a:r>
            <a:r>
              <a:rPr lang="zh-TW" altLang="en-US" sz="2000"/>
              <a:t>社會共識。</a:t>
            </a:r>
            <a:endParaRPr lang="en-US" altLang="zh-TW" sz="2000" dirty="0"/>
          </a:p>
          <a:p>
            <a:pPr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50760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投影片編號版面配置區 4">
            <a:extLst>
              <a:ext uri="{FF2B5EF4-FFF2-40B4-BE49-F238E27FC236}">
                <a16:creationId xmlns:a16="http://schemas.microsoft.com/office/drawing/2014/main" id="{A444DED0-07A9-6F6E-0A1A-041741A063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8F79E45C-DF3A-5F48-8C0C-272B25A8A35A}" type="slidenum">
              <a:rPr kumimoji="0" lang="en-US" altLang="zh-TW">
                <a:latin typeface="Arial Black" panose="020B0604020202020204" pitchFamily="34" charset="0"/>
              </a:rPr>
              <a:pPr/>
              <a:t>25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1182C928-25AB-43E7-B1DF-925C5D132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無反應的受訪者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C63203C-0970-B452-81A8-71DACB230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無反應指的是受訪者對於民調的問題回答不知道、沒有意見、看情形等等。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無反應有可能是因為題目讓受訪者覺得需要相關知識才能回答，例如：贊不贊成政府考慮興建小型核電廠？雖然在問卷一開始，訪員會強調沒有正確的答案。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學者發現：通常教育程度較低的民眾對於許多問題都沒有反應。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也可能是因為受訪者不想在陌生人面前表示自己的立場。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學者也發現：如果議題持續被報導，民眾越來越熟悉這個議題，無反應比例會下降。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投影片編號版面配置區 4">
            <a:extLst>
              <a:ext uri="{FF2B5EF4-FFF2-40B4-BE49-F238E27FC236}">
                <a16:creationId xmlns:a16="http://schemas.microsoft.com/office/drawing/2014/main" id="{8FA1869C-D831-A78D-C9E0-36265A35BD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696070A5-B5F5-1044-9B54-E0509F2AC3C8}" type="slidenum">
              <a:rPr kumimoji="0" lang="en-US" altLang="zh-TW">
                <a:latin typeface="Arial Black" panose="020B0604020202020204" pitchFamily="34" charset="0"/>
              </a:rPr>
              <a:pPr/>
              <a:t>26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3E3D2188-1468-A0C4-D40B-5E3DB5C49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那些人才是民意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FB92F00-B6AF-6F5B-8F0C-BF070B5C7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一般民眾：人數最多，但是不見得具有專業知識，也不見得關心政治、可能沒有特定的利益、可以投票決定政府領導者。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政治人物：人數少，具備廣泛的知識，可以在立法機關影響政策。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利益團體：具有專業知識及資源，為了特定利益而遊說政府，可能會贊助政治人物影響政治。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專家：具有專業知識，不見得瞭解人民想法，有可能影響政府決策。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政府：擁有最多資訊及資源，但是受到立法或者司法的制衡，也必須考慮人民以及利益團體的意見才有機會繼續執政。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討論：網民、部落客的意見是少數人意見？還是民意？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投影片編號版面配置區 4">
            <a:extLst>
              <a:ext uri="{FF2B5EF4-FFF2-40B4-BE49-F238E27FC236}">
                <a16:creationId xmlns:a16="http://schemas.microsoft.com/office/drawing/2014/main" id="{7445CD47-5408-EAB9-DEB0-B1CAE084FF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C21E5710-93F1-CD4E-882D-0C1C6C0BEC65}" type="slidenum">
              <a:rPr kumimoji="0" lang="en-US" altLang="zh-TW">
                <a:latin typeface="Arial Black" panose="020B0604020202020204" pitchFamily="34" charset="0"/>
              </a:rPr>
              <a:pPr/>
              <a:t>27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741E1803-1ECC-5063-CB07-BFF2C02DC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民眾如何產生意見？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0FD67ED-051E-2BA1-FA06-ED1226F48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民眾的態度或者立場來自於自己知識或者資訊嗎？還是政黨、政治人物、利益團體？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民眾之間會討論嗎？會聽從意見領袖嗎？會在網路上討論嗎？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學者發現：民眾遇到複雜的政策，通常依賴喜歡或者認同的政黨與意見領袖所給的提示</a:t>
            </a:r>
            <a:r>
              <a:rPr lang="en-US" altLang="zh-TW" sz="2000" dirty="0"/>
              <a:t>(cue)</a:t>
            </a:r>
            <a:r>
              <a:rPr lang="zh-TW" altLang="en-US" sz="2000" dirty="0"/>
              <a:t>，決定立場。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學者也認為：只要能學到避免造成嚴重損失的錯誤的知識，就足夠做出正確的判斷。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/>
              <a:t>學者也發現：沒有政黨認同的民眾有可能按照利益判斷政策方向。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投影片編號版面配置區 4">
            <a:extLst>
              <a:ext uri="{FF2B5EF4-FFF2-40B4-BE49-F238E27FC236}">
                <a16:creationId xmlns:a16="http://schemas.microsoft.com/office/drawing/2014/main" id="{F6090E6F-98C2-9EF4-683D-0E81A4C4A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470D15C8-398E-754D-BCA8-A5DB7049C1A3}" type="slidenum">
              <a:rPr kumimoji="0" lang="en-US" altLang="zh-TW">
                <a:latin typeface="Arial Black" panose="020B0604020202020204" pitchFamily="34" charset="0"/>
              </a:rPr>
              <a:pPr/>
              <a:t>28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2B1DE43-7A1C-953B-2F04-CF9AED94B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民眾常會改變意見嗎？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C4F43D0-3C67-06E3-C2B2-D8FE48356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TW" altLang="en-US" sz="2000" dirty="0"/>
              <a:t>學者發現：民眾常在不同調查之間改變意見，民眾常改變意見的強度，不見得有任何原因，純粹</a:t>
            </a:r>
            <a:r>
              <a:rPr lang="zh-TW" altLang="en-US" sz="2000"/>
              <a:t>是隨機發生。</a:t>
            </a:r>
            <a:endParaRPr lang="zh-TW" altLang="en-US" sz="2000" dirty="0"/>
          </a:p>
          <a:p>
            <a:pPr lvl="1" eaLnBrk="1" hangingPunct="1">
              <a:lnSpc>
                <a:spcPct val="150000"/>
              </a:lnSpc>
            </a:pPr>
            <a:r>
              <a:rPr lang="zh-TW" altLang="en-US" sz="2000" dirty="0"/>
              <a:t>學者發現：因為民眾沒有真正的意識形態，約束</a:t>
            </a:r>
            <a:r>
              <a:rPr lang="en-US" altLang="zh-TW" sz="2000" dirty="0"/>
              <a:t>(constraint)</a:t>
            </a:r>
            <a:r>
              <a:rPr lang="zh-TW" altLang="en-US" sz="2000" dirty="0"/>
              <a:t>各種議題的立場，所以在不同調查之間的回答會不同。</a:t>
            </a:r>
          </a:p>
          <a:p>
            <a:pPr lvl="1" eaLnBrk="1" hangingPunct="1">
              <a:lnSpc>
                <a:spcPct val="150000"/>
              </a:lnSpc>
            </a:pPr>
            <a:r>
              <a:rPr lang="zh-TW" altLang="en-US" sz="2000" dirty="0"/>
              <a:t>也有學者發現：問卷調查時可能有誤差，觀察到意見改變。</a:t>
            </a:r>
            <a:endParaRPr lang="en-US" altLang="zh-TW" sz="2000" dirty="0"/>
          </a:p>
          <a:p>
            <a:pPr lvl="1" eaLnBrk="1" hangingPunct="1">
              <a:lnSpc>
                <a:spcPct val="150000"/>
              </a:lnSpc>
            </a:pPr>
            <a:r>
              <a:rPr lang="zh-TW" altLang="en-US" sz="2000" dirty="0"/>
              <a:t>不過，學者發現：不同民眾在不同時間改變意見，互相抵銷，結果整體的民眾意見相對穩定發展，不是忽上忽下。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投影片編號版面配置區 2">
            <a:extLst>
              <a:ext uri="{FF2B5EF4-FFF2-40B4-BE49-F238E27FC236}">
                <a16:creationId xmlns:a16="http://schemas.microsoft.com/office/drawing/2014/main" id="{97902EC2-9BC1-7BC6-E252-C1CCD147D7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3B72D0CD-CE63-6641-88B2-93E97C080AC7}" type="slidenum">
              <a:rPr kumimoji="0" lang="en-US" altLang="zh-TW">
                <a:latin typeface="Arial Black" panose="020B0604020202020204" pitchFamily="34" charset="0"/>
              </a:rPr>
              <a:pPr/>
              <a:t>29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24578" name="Line 2">
            <a:extLst>
              <a:ext uri="{FF2B5EF4-FFF2-40B4-BE49-F238E27FC236}">
                <a16:creationId xmlns:a16="http://schemas.microsoft.com/office/drawing/2014/main" id="{2C368DDD-8FA4-B18A-7F2B-63F81E017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1989138"/>
            <a:ext cx="53276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79" name="Line 3">
            <a:extLst>
              <a:ext uri="{FF2B5EF4-FFF2-40B4-BE49-F238E27FC236}">
                <a16:creationId xmlns:a16="http://schemas.microsoft.com/office/drawing/2014/main" id="{DDD902B7-70DE-EE87-6789-728E459D5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4365625"/>
            <a:ext cx="53276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0" name="Line 4">
            <a:extLst>
              <a:ext uri="{FF2B5EF4-FFF2-40B4-BE49-F238E27FC236}">
                <a16:creationId xmlns:a16="http://schemas.microsoft.com/office/drawing/2014/main" id="{A176CEE0-9A22-BD75-58D1-790E803AE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1989138"/>
            <a:ext cx="2952750" cy="23034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5">
            <a:extLst>
              <a:ext uri="{FF2B5EF4-FFF2-40B4-BE49-F238E27FC236}">
                <a16:creationId xmlns:a16="http://schemas.microsoft.com/office/drawing/2014/main" id="{F8440304-5CB8-0C91-1397-AC381A336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1989138"/>
            <a:ext cx="0" cy="2376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6">
            <a:extLst>
              <a:ext uri="{FF2B5EF4-FFF2-40B4-BE49-F238E27FC236}">
                <a16:creationId xmlns:a16="http://schemas.microsoft.com/office/drawing/2014/main" id="{46CFD430-76CF-0CFD-44E0-C34617388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1989138"/>
            <a:ext cx="0" cy="2376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7">
            <a:extLst>
              <a:ext uri="{FF2B5EF4-FFF2-40B4-BE49-F238E27FC236}">
                <a16:creationId xmlns:a16="http://schemas.microsoft.com/office/drawing/2014/main" id="{566F17FA-3D47-5201-790A-65449AB1C9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2060575"/>
            <a:ext cx="2879725" cy="2305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C8E55038-04CE-7B17-6766-D1B260828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1989138"/>
            <a:ext cx="3024188" cy="2376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Line 9">
            <a:extLst>
              <a:ext uri="{FF2B5EF4-FFF2-40B4-BE49-F238E27FC236}">
                <a16:creationId xmlns:a16="http://schemas.microsoft.com/office/drawing/2014/main" id="{9C18F191-A063-F1AB-014D-49F1C4C461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3575" y="1989138"/>
            <a:ext cx="1223963" cy="2376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3A1DAE4D-AA18-613E-E44E-F60CFDD55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89138"/>
            <a:ext cx="12969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第一個時間點</a:t>
            </a: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AEE5ED55-8D13-5354-7C22-C35309345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76700"/>
            <a:ext cx="12969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第二個時間點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投影片編號版面配置區 4">
            <a:extLst>
              <a:ext uri="{FF2B5EF4-FFF2-40B4-BE49-F238E27FC236}">
                <a16:creationId xmlns:a16="http://schemas.microsoft.com/office/drawing/2014/main" id="{37806D2C-23F1-1FB2-ADD9-306740E53C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7DFF89EE-7AEF-BD44-9CB8-EE4C10C85814}" type="slidenum">
              <a:rPr kumimoji="0" lang="en-US" altLang="zh-TW">
                <a:latin typeface="Arial Black" panose="020B0604020202020204" pitchFamily="34" charset="0"/>
              </a:rPr>
              <a:pPr/>
              <a:t>30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AB6662B-F514-CA4A-A781-C4BC69971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台灣民意會影響政策嗎</a:t>
            </a:r>
            <a:r>
              <a:rPr lang="en-US" altLang="zh-TW" sz="3600" dirty="0"/>
              <a:t>?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E162652-63E1-7AD6-07F5-DAA52C49A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學者發現，台灣主要有幾個重要的社會議題：經濟與環保、安定與改革、經濟與社會福利、是否發展核能等等。近年來增加了：是否贊成同性婚姻、是否廢除死刑、是否贊成安樂死等等。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而主要政治議題是統一或者獨立。次要的議題包括：是否增加國防預算？與中國改善關係或者親近美國？國家安全與兩岸經貿交流何者優先？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國外研究發現政策會反應民意，例如美國總統因為美軍死亡人數太多而結束越戰，或者因為民眾支持而出兵伊拉克。行政院有設連署平台，提供民意在選舉以外影響政策的管道。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投影片編號版面配置區 5">
            <a:extLst>
              <a:ext uri="{FF2B5EF4-FFF2-40B4-BE49-F238E27FC236}">
                <a16:creationId xmlns:a16="http://schemas.microsoft.com/office/drawing/2014/main" id="{0683AA00-1A76-C34C-3E89-2AF7C00545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A06011AF-B79D-DA47-91DC-E1A29075CDF4}" type="slidenum">
              <a:rPr kumimoji="0" lang="en-US" altLang="zh-TW">
                <a:latin typeface="Arial Black" panose="020B0604020202020204" pitchFamily="34" charset="0"/>
              </a:rPr>
              <a:pPr/>
              <a:t>31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7E59AB44-582B-6F8F-CE6A-060E30025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476250"/>
            <a:ext cx="8229600" cy="1008063"/>
          </a:xfrm>
        </p:spPr>
        <p:txBody>
          <a:bodyPr/>
          <a:lstStyle/>
          <a:p>
            <a:pPr eaLnBrk="1" hangingPunct="1"/>
            <a:r>
              <a:rPr lang="en-US" altLang="zh-TW" sz="3600"/>
              <a:t>Cross-Strait Economic Relation</a:t>
            </a:r>
            <a:br>
              <a:rPr lang="en-US" altLang="zh-TW" sz="3600"/>
            </a:br>
            <a:endParaRPr lang="en-US" altLang="zh-TW" sz="2400"/>
          </a:p>
        </p:txBody>
      </p:sp>
      <p:graphicFrame>
        <p:nvGraphicFramePr>
          <p:cNvPr id="40963" name="Group 3">
            <a:extLst>
              <a:ext uri="{FF2B5EF4-FFF2-40B4-BE49-F238E27FC236}">
                <a16:creationId xmlns:a16="http://schemas.microsoft.com/office/drawing/2014/main" id="{B76399AB-AE49-E652-3677-0D6A243DD1F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4532313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188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Increase or decrease economic relations with Mainland China (2003)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Increase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Decrease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Don’t Know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0979" name="Group 19">
            <a:extLst>
              <a:ext uri="{FF2B5EF4-FFF2-40B4-BE49-F238E27FC236}">
                <a16:creationId xmlns:a16="http://schemas.microsoft.com/office/drawing/2014/main" id="{F338A60C-D0EE-8BE1-8698-27FC105EE59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457200" y="1600200"/>
          <a:ext cx="4038600" cy="4532313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188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Strengthen or weaken trade tie with Mainland China? (2007)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Increase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Decrease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Don’t Know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31" name="Oval 35">
            <a:extLst>
              <a:ext uri="{FF2B5EF4-FFF2-40B4-BE49-F238E27FC236}">
                <a16:creationId xmlns:a16="http://schemas.microsoft.com/office/drawing/2014/main" id="{9974E321-6EBF-57FC-AAB6-27209373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24175"/>
            <a:ext cx="720725" cy="5762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投影片編號版面配置區 4">
            <a:extLst>
              <a:ext uri="{FF2B5EF4-FFF2-40B4-BE49-F238E27FC236}">
                <a16:creationId xmlns:a16="http://schemas.microsoft.com/office/drawing/2014/main" id="{BB7D182F-C057-D1A3-34C3-1224E30618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C61CA5A3-7599-9349-9E1F-D1B934806B12}" type="slidenum">
              <a:rPr kumimoji="0" lang="en-US" altLang="zh-TW">
                <a:latin typeface="Arial Black" panose="020B0604020202020204" pitchFamily="34" charset="0"/>
              </a:rPr>
              <a:pPr/>
              <a:t>32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FF29A38-5CD1-FDED-1C4A-29F3AAF50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民意的內涵：統獨立場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BF35FFA-1C6A-6220-8774-17250F127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兼有現實與情感的成份</a:t>
            </a:r>
            <a:r>
              <a:rPr lang="en-US" altLang="zh-TW" sz="2000" dirty="0"/>
              <a:t>(</a:t>
            </a:r>
            <a:r>
              <a:rPr lang="zh-TW" altLang="en-US" sz="2000" dirty="0"/>
              <a:t>吳乃德</a:t>
            </a:r>
            <a:r>
              <a:rPr lang="en-US" altLang="zh-TW" sz="2000" dirty="0"/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與美中的立場相關</a:t>
            </a:r>
            <a:r>
              <a:rPr lang="en-US" altLang="zh-TW" sz="2000" dirty="0"/>
              <a:t>(</a:t>
            </a:r>
            <a:r>
              <a:rPr lang="zh-TW" altLang="en-US" sz="2000" dirty="0"/>
              <a:t>牛銘實</a:t>
            </a:r>
            <a:r>
              <a:rPr lang="en-US" altLang="zh-TW" sz="2000" dirty="0"/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一直影響民眾的投票行為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隨著年齡可能越來越務實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北部民眾、軍公教人員等較贊成漸進統一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投影片編號版面配置區 4">
            <a:extLst>
              <a:ext uri="{FF2B5EF4-FFF2-40B4-BE49-F238E27FC236}">
                <a16:creationId xmlns:a16="http://schemas.microsoft.com/office/drawing/2014/main" id="{04E849EB-42E2-B04A-AAF4-4F4FC51BFC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97CDC8F-2963-1F40-B6D0-C049AF80832A}" type="slidenum">
              <a:rPr kumimoji="0" lang="en-US" altLang="zh-TW">
                <a:latin typeface="Arial Black" panose="020B0604020202020204" pitchFamily="34" charset="0"/>
              </a:rPr>
              <a:pPr/>
              <a:t>33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F29F29CB-3D5B-EEC7-9334-7394224A2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69215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zh-TW" sz="4000"/>
              <a:t>Unification vs. Taiwan Independence Issue Position (ESC data)</a:t>
            </a:r>
          </a:p>
        </p:txBody>
      </p:sp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574332A7-3462-5FC8-CB04-40CE099C3FD2}"/>
              </a:ext>
            </a:extLst>
          </p:cNvPr>
          <p:cNvGraphicFramePr>
            <a:graphicFrameLocks noGrp="1" noChangeAspect="1"/>
          </p:cNvGraphicFramePr>
          <p:nvPr>
            <p:ph type="chart" idx="1"/>
          </p:nvPr>
        </p:nvGraphicFramePr>
        <p:xfrm>
          <a:off x="463550" y="1981200"/>
          <a:ext cx="8215313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圖表" r:id="rId2" imgW="8242300" imgH="4546600" progId="MSGraph.Chart.8">
                  <p:embed followColorScheme="full"/>
                </p:oleObj>
              </mc:Choice>
              <mc:Fallback>
                <p:oleObj name="圖表" r:id="rId2" imgW="8242300" imgH="4546600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1981200"/>
                        <a:ext cx="8215313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投影片編號版面配置區 4">
            <a:extLst>
              <a:ext uri="{FF2B5EF4-FFF2-40B4-BE49-F238E27FC236}">
                <a16:creationId xmlns:a16="http://schemas.microsoft.com/office/drawing/2014/main" id="{9CC316E8-0C79-377D-3FBE-9BF9451CB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0201ECC9-0B23-AA44-B957-843A01AEB3B1}" type="slidenum">
              <a:rPr kumimoji="0" lang="en-US" altLang="zh-TW">
                <a:latin typeface="Arial Black" panose="020B0604020202020204" pitchFamily="34" charset="0"/>
              </a:rPr>
              <a:pPr/>
              <a:t>34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856E6B10-F81C-4907-5A20-D11A962F8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3600" dirty="0"/>
              <a:t>國家認同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A3E3AF6-F0F9-8377-524B-4073A4260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與省籍問題相關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與統獨立場有部份相關</a:t>
            </a:r>
            <a:r>
              <a:rPr lang="en-US" altLang="zh-TW" sz="2000" dirty="0"/>
              <a:t>(</a:t>
            </a:r>
            <a:r>
              <a:rPr lang="zh-TW" altLang="en-US" sz="2000" dirty="0"/>
              <a:t>徐火炎</a:t>
            </a:r>
            <a:r>
              <a:rPr lang="en-US" altLang="zh-TW" sz="2000" dirty="0"/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部份受中國大陸的影響</a:t>
            </a:r>
            <a:r>
              <a:rPr lang="en-US" altLang="zh-TW" sz="2000" dirty="0"/>
              <a:t>(1996, 2000)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教育程度高、年齡低較認同為既是台灣人也是中國人</a:t>
            </a:r>
          </a:p>
          <a:p>
            <a:pPr eaLnBrk="1" hangingPunct="1"/>
            <a:endParaRPr lang="zh-TW" altLang="en-US" dirty="0"/>
          </a:p>
          <a:p>
            <a:pPr eaLnBrk="1" hangingPunct="1"/>
            <a:endParaRPr lang="zh-TW" altLang="en-US" dirty="0"/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投影片編號版面配置區 4">
            <a:extLst>
              <a:ext uri="{FF2B5EF4-FFF2-40B4-BE49-F238E27FC236}">
                <a16:creationId xmlns:a16="http://schemas.microsoft.com/office/drawing/2014/main" id="{E735CDEE-52EB-F5FF-1DA8-370E0FF2B4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F31C712-7B5F-E443-8347-09485B0B0918}" type="slidenum">
              <a:rPr kumimoji="0" lang="en-US" altLang="zh-TW">
                <a:latin typeface="Arial Black" panose="020B0604020202020204" pitchFamily="34" charset="0"/>
              </a:rPr>
              <a:pPr/>
              <a:t>35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3907E97-573E-F46B-2061-C7D5F1905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4000" dirty="0"/>
              <a:t>國家認同趨勢</a:t>
            </a:r>
            <a:endParaRPr lang="en-US" altLang="zh-TW" sz="4000" dirty="0"/>
          </a:p>
        </p:txBody>
      </p:sp>
      <p:graphicFrame>
        <p:nvGraphicFramePr>
          <p:cNvPr id="33795" name="Object 3">
            <a:extLst>
              <a:ext uri="{FF2B5EF4-FFF2-40B4-BE49-F238E27FC236}">
                <a16:creationId xmlns:a16="http://schemas.microsoft.com/office/drawing/2014/main" id="{6325003B-46F4-FA4D-9EBC-F093612E37EC}"/>
              </a:ext>
            </a:extLst>
          </p:cNvPr>
          <p:cNvGraphicFramePr>
            <a:graphicFrameLocks noGrp="1" noChangeAspect="1"/>
          </p:cNvGraphicFramePr>
          <p:nvPr>
            <p:ph type="chart" idx="1"/>
          </p:nvPr>
        </p:nvGraphicFramePr>
        <p:xfrm>
          <a:off x="463550" y="1981200"/>
          <a:ext cx="8215313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圖表" r:id="rId2" imgW="8242300" imgH="4546600" progId="MSGraph.Chart.8">
                  <p:embed followColorScheme="full"/>
                </p:oleObj>
              </mc:Choice>
              <mc:Fallback>
                <p:oleObj name="圖表" r:id="rId2" imgW="8242300" imgH="4546600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1981200"/>
                        <a:ext cx="8215313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6BD468-63A6-C21F-9A84-55E7A81F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40172"/>
          </a:xfrm>
        </p:spPr>
        <p:txBody>
          <a:bodyPr/>
          <a:lstStyle/>
          <a:p>
            <a:r>
              <a:rPr lang="en-US" dirty="0" err="1"/>
              <a:t>四個核心長期趨勢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142D9-0A10-49D8-6F98-2D7AB7B43C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855ADA-FE52-BB41-9763-7B41FABB45CC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790C8A-91A5-E293-AF0F-D1FF0D82C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97372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6220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投影片編號版面配置區 4">
            <a:extLst>
              <a:ext uri="{FF2B5EF4-FFF2-40B4-BE49-F238E27FC236}">
                <a16:creationId xmlns:a16="http://schemas.microsoft.com/office/drawing/2014/main" id="{335B4ACC-E19A-BF5F-EDCD-656A32081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37FB8023-5B93-4B47-AA59-A017C22E5536}" type="slidenum">
              <a:rPr kumimoji="0" lang="en-US" altLang="zh-TW">
                <a:latin typeface="Arial Black" panose="020B0604020202020204" pitchFamily="34" charset="0"/>
              </a:rPr>
              <a:pPr/>
              <a:t>37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BA9142-A92B-09E2-AB31-CB3606126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參考文獻（一）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FB71312-1F99-74F0-9AED-4D6BC09B5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民意的定義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V.O. Key, Jr. (1961). </a:t>
            </a:r>
            <a:r>
              <a:rPr lang="en" altLang="zh-TW" sz="1200" i="1" dirty="0"/>
              <a:t>Public Opinion and American Democracy.</a:t>
            </a:r>
            <a:endParaRPr lang="en" altLang="zh-TW" sz="1200" b="1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Philip E. Converse (1964).</a:t>
            </a:r>
            <a:r>
              <a:rPr lang="en" altLang="zh-TW" sz="1200" dirty="0"/>
              <a:t> “The Nature of Belief Systems in Mass Publics.”</a:t>
            </a:r>
            <a:r>
              <a:rPr lang="zh-TW" altLang="en-US" sz="1200" dirty="0"/>
              <a:t> </a:t>
            </a:r>
            <a:endParaRPr lang="en-US" altLang="zh-TW" sz="1200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Davison, W. P. (1958). </a:t>
            </a:r>
            <a:r>
              <a:rPr lang="en" altLang="zh-TW" sz="1200" dirty="0"/>
              <a:t>“The Public Opinion Process.”</a:t>
            </a:r>
            <a:r>
              <a:rPr lang="zh-TW" altLang="en-US" sz="1200" dirty="0"/>
              <a:t> </a:t>
            </a:r>
            <a:endParaRPr lang="en-US" altLang="zh-TW" sz="1200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Blumer, H. (1948).</a:t>
            </a:r>
            <a:r>
              <a:rPr lang="en" altLang="zh-TW" sz="1200" dirty="0"/>
              <a:t> "Public Opinion and Public Opinion Polling."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民意的型態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Morris P. Fiorina, et al. (2005).</a:t>
            </a:r>
            <a:r>
              <a:rPr lang="en" altLang="zh-TW" sz="1200" dirty="0"/>
              <a:t> "Culture War? The Myth of a Polarized America.”</a:t>
            </a:r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Benjamin I. Page &amp; Robert Y. Shapiro (1983).</a:t>
            </a:r>
            <a:r>
              <a:rPr lang="en" altLang="zh-TW" sz="1200" dirty="0"/>
              <a:t> "Effects of Public Opinion on Policy."</a:t>
            </a:r>
            <a:endParaRPr lang="en-US" altLang="zh-TW" sz="2000" dirty="0"/>
          </a:p>
          <a:p>
            <a:pPr eaLnBrk="1" hangingPunct="1">
              <a:buFont typeface="Wingdings" pitchFamily="2" charset="2"/>
              <a:buNone/>
            </a:pPr>
            <a:endParaRPr lang="zh-TW" altLang="en-US" dirty="0"/>
          </a:p>
          <a:p>
            <a:pPr eaLnBrk="1" hangingPunct="1">
              <a:buFont typeface="Wingdings" pitchFamily="2" charset="2"/>
              <a:buNone/>
            </a:pPr>
            <a:endParaRPr lang="en-US" altLang="zh-TW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594F-D4F9-AB99-55A2-4D70804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投影片編號版面配置區 4">
            <a:extLst>
              <a:ext uri="{FF2B5EF4-FFF2-40B4-BE49-F238E27FC236}">
                <a16:creationId xmlns:a16="http://schemas.microsoft.com/office/drawing/2014/main" id="{B9035CC2-5FBD-4610-3F69-9C6BDF074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37FB8023-5B93-4B47-AA59-A017C22E5536}" type="slidenum">
              <a:rPr kumimoji="0" lang="en-US" altLang="zh-TW">
                <a:latin typeface="Arial Black" panose="020B0604020202020204" pitchFamily="34" charset="0"/>
              </a:rPr>
              <a:pPr/>
              <a:t>38</a:t>
            </a:fld>
            <a:endParaRPr kumimoji="0" lang="en-US" altLang="zh-TW">
              <a:latin typeface="Arial Black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B98EE5D6-0767-CD21-A92D-C141C8F42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參考文獻（二）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EE882B3-2297-6897-8DA2-B5C3C9E895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TW" altLang="en-US" sz="2000" dirty="0"/>
              <a:t>無反應的受訪者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Adam J. Berinsky (2004). </a:t>
            </a:r>
            <a:r>
              <a:rPr lang="en" altLang="zh-TW" sz="1200" i="1" dirty="0"/>
              <a:t>Silent Voices: Opinion Polls and Political Participation in America.</a:t>
            </a:r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Groves, Presser, &amp; </a:t>
            </a:r>
            <a:r>
              <a:rPr lang="en" altLang="zh-TW" sz="1200" b="1" dirty="0" err="1"/>
              <a:t>Dipko</a:t>
            </a:r>
            <a:r>
              <a:rPr lang="en" altLang="zh-TW" sz="1200" b="1" dirty="0"/>
              <a:t> (2004). </a:t>
            </a:r>
            <a:r>
              <a:rPr lang="en" altLang="zh-TW" sz="1200" dirty="0"/>
              <a:t>“The Role of Topic Interest in Survey Participation Decisions.”</a:t>
            </a:r>
            <a:r>
              <a:rPr lang="zh-TW" altLang="en-US" sz="1200" dirty="0"/>
              <a:t> </a:t>
            </a:r>
            <a:endParaRPr lang="en-US" altLang="zh-TW" sz="1200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Berinsky, A. J. (1999).</a:t>
            </a:r>
            <a:r>
              <a:rPr lang="en" altLang="zh-TW" sz="1200" dirty="0"/>
              <a:t> “The Two Faces of Public Opinion.” </a:t>
            </a:r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Krosnick, J. A. (1991). </a:t>
            </a:r>
            <a:r>
              <a:rPr lang="en" altLang="zh-TW" sz="1200" dirty="0"/>
              <a:t>"Response strategies for coping with the cognitive demands of attitude measures in surveys."</a:t>
            </a:r>
            <a:endParaRPr lang="en-US" altLang="zh-TW" sz="12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民意如何產生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John </a:t>
            </a:r>
            <a:r>
              <a:rPr lang="en" altLang="zh-TW" sz="1200" b="1" dirty="0" err="1"/>
              <a:t>Zaller</a:t>
            </a:r>
            <a:r>
              <a:rPr lang="en" altLang="zh-TW" sz="1200" b="1" dirty="0"/>
              <a:t> (1992). </a:t>
            </a:r>
            <a:r>
              <a:rPr lang="en" altLang="zh-TW" sz="1200" i="1" dirty="0"/>
              <a:t>The Nature and Origins of Mass Opinion</a:t>
            </a:r>
            <a:r>
              <a:rPr lang="en" altLang="zh-TW" sz="1200" b="1" dirty="0"/>
              <a:t>.</a:t>
            </a:r>
            <a:r>
              <a:rPr lang="zh-TW" altLang="en-US" sz="1200" b="1" dirty="0"/>
              <a:t> </a:t>
            </a:r>
            <a:endParaRPr lang="en-US" altLang="zh-TW" sz="1200" b="1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 err="1"/>
              <a:t>Zaller</a:t>
            </a:r>
            <a:r>
              <a:rPr lang="en" altLang="zh-TW" sz="1200" b="1" dirty="0"/>
              <a:t>, J. (1991). </a:t>
            </a:r>
            <a:r>
              <a:rPr lang="en" altLang="zh-TW" sz="1200" dirty="0"/>
              <a:t>"Information, Values, and Opinion." </a:t>
            </a:r>
            <a:endParaRPr lang="en" altLang="zh-TW" sz="1200" b="1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Samuel L. Popkin (1991).</a:t>
            </a:r>
            <a:r>
              <a:rPr lang="en" altLang="zh-TW" sz="1200" dirty="0"/>
              <a:t> </a:t>
            </a:r>
            <a:r>
              <a:rPr lang="en" altLang="zh-TW" sz="1200" i="1" dirty="0"/>
              <a:t>The Reasoning Voter.</a:t>
            </a:r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/>
              <a:t>Diana C. Mutz (2006).</a:t>
            </a:r>
            <a:r>
              <a:rPr lang="en" altLang="zh-TW" sz="1200" dirty="0"/>
              <a:t> </a:t>
            </a:r>
            <a:r>
              <a:rPr lang="en" altLang="zh-TW" sz="1200" i="1" dirty="0"/>
              <a:t>Hearing the Other Side</a:t>
            </a:r>
            <a:r>
              <a:rPr lang="zh-TW" altLang="en-US" sz="1200" i="1" dirty="0"/>
              <a:t> </a:t>
            </a:r>
            <a:endParaRPr lang="en-US" altLang="zh-TW" sz="1200" i="1" dirty="0"/>
          </a:p>
          <a:p>
            <a:pPr eaLnBrk="1" hangingPunct="1">
              <a:lnSpc>
                <a:spcPct val="150000"/>
              </a:lnSpc>
            </a:pPr>
            <a:r>
              <a:rPr lang="en" altLang="zh-TW" sz="1200" b="1" dirty="0" err="1"/>
              <a:t>Druckman</a:t>
            </a:r>
            <a:r>
              <a:rPr lang="en" altLang="zh-TW" sz="1200" b="1" dirty="0"/>
              <a:t>, J. N. (2001). </a:t>
            </a:r>
            <a:r>
              <a:rPr lang="en" altLang="zh-TW" sz="1200" dirty="0"/>
              <a:t>"On the Limits of Framing Effects: Who Can Frame?"</a:t>
            </a:r>
            <a:endParaRPr lang="en-US" altLang="zh-TW" sz="1200" dirty="0"/>
          </a:p>
          <a:p>
            <a:pPr eaLnBrk="1" hangingPunct="1">
              <a:buFont typeface="Wingdings" pitchFamily="2" charset="2"/>
              <a:buNone/>
            </a:pPr>
            <a:endParaRPr lang="zh-TW" altLang="en-US" dirty="0"/>
          </a:p>
          <a:p>
            <a:pPr eaLnBrk="1" hangingPunct="1">
              <a:buFont typeface="Wingdings" pitchFamily="2" charset="2"/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12039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2EE2F-D822-F9B1-4FAC-E0B7BDD3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</a:t>
            </a:r>
            <a:r>
              <a:rPr lang="zh-TW" altLang="en-US"/>
              <a:t>文獻（三）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9022A9-8806-AB48-1451-2B82AA6C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哪些人才是民意</a:t>
            </a:r>
          </a:p>
          <a:p>
            <a:pPr>
              <a:spcBef>
                <a:spcPts val="1224"/>
              </a:spcBef>
            </a:pPr>
            <a:r>
              <a:rPr kumimoji="1" lang="en" altLang="zh-TW" sz="1200" b="1" dirty="0"/>
              <a:t>Krouse, </a:t>
            </a:r>
            <a:r>
              <a:rPr kumimoji="1" lang="en" altLang="zh-TW" sz="1200" b="1" dirty="0" err="1"/>
              <a:t>Rlchard</a:t>
            </a:r>
            <a:r>
              <a:rPr kumimoji="1" lang="en" altLang="zh-TW" sz="1200" b="1" dirty="0"/>
              <a:t>, and George Marcus (1984). </a:t>
            </a:r>
            <a:r>
              <a:rPr kumimoji="1" lang="en" altLang="zh-TW" sz="1200" dirty="0"/>
              <a:t>"Electoral studies and democratic theory reconsidered." </a:t>
            </a:r>
          </a:p>
          <a:p>
            <a:endParaRPr kumimoji="1" lang="en" altLang="zh-TW" sz="1200" dirty="0"/>
          </a:p>
          <a:p>
            <a:r>
              <a:rPr kumimoji="1" lang="en" altLang="zh-TW" sz="1200" b="1" dirty="0"/>
              <a:t>Sidney </a:t>
            </a:r>
            <a:r>
              <a:rPr kumimoji="1" lang="en" altLang="zh-TW" sz="1200" b="1" dirty="0" err="1"/>
              <a:t>Verba</a:t>
            </a:r>
            <a:r>
              <a:rPr kumimoji="1" lang="en" altLang="zh-TW" sz="1200" b="1" dirty="0"/>
              <a:t> (1996). </a:t>
            </a:r>
            <a:r>
              <a:rPr kumimoji="1" lang="en" altLang="zh-TW" sz="1200" dirty="0"/>
              <a:t>"The Citizen as Respondent: Sample Surveys and American Democracy.”</a:t>
            </a:r>
          </a:p>
          <a:p>
            <a:endParaRPr kumimoji="1" lang="en" altLang="zh-TW" sz="1200" dirty="0"/>
          </a:p>
          <a:p>
            <a:r>
              <a:rPr kumimoji="1" lang="en" altLang="zh-TW" sz="1200" b="1" dirty="0"/>
              <a:t>James S. </a:t>
            </a:r>
            <a:r>
              <a:rPr kumimoji="1" lang="en" altLang="zh-TW" sz="1200" b="1" dirty="0" err="1"/>
              <a:t>Fishkin</a:t>
            </a:r>
            <a:r>
              <a:rPr kumimoji="1" lang="en" altLang="zh-TW" sz="1200" b="1" dirty="0"/>
              <a:t> (1991). </a:t>
            </a:r>
            <a:r>
              <a:rPr kumimoji="1" lang="en" altLang="zh-TW" sz="1200" dirty="0"/>
              <a:t>Democracy and Deliberation.</a:t>
            </a:r>
          </a:p>
          <a:p>
            <a:endParaRPr kumimoji="1" lang="en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4E542-F6F5-272C-1787-756001FFD5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477DF-6F98-6340-BFD6-03230D51F3D4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13700844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2604</TotalTime>
  <Words>3063</Words>
  <Application>Microsoft Macintosh PowerPoint</Application>
  <PresentationFormat>如螢幕大小 (4:3)</PresentationFormat>
  <Paragraphs>239</Paragraphs>
  <Slides>39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5" baseType="lpstr">
      <vt:lpstr>Arial</vt:lpstr>
      <vt:lpstr>Arial Black</vt:lpstr>
      <vt:lpstr>Times New Roman</vt:lpstr>
      <vt:lpstr>Wingdings</vt:lpstr>
      <vt:lpstr>Pixel</vt:lpstr>
      <vt:lpstr>圖表</vt:lpstr>
      <vt:lpstr>民意與民意調查</vt:lpstr>
      <vt:lpstr>重點提示</vt:lpstr>
      <vt:lpstr>民意與民主</vt:lpstr>
      <vt:lpstr>民意的重要性</vt:lpstr>
      <vt:lpstr>民意等於民粹？</vt:lpstr>
      <vt:lpstr>民意的詮釋</vt:lpstr>
      <vt:lpstr>不同角度的民意</vt:lpstr>
      <vt:lpstr>不同角度的民意</vt:lpstr>
      <vt:lpstr>民意的定義</vt:lpstr>
      <vt:lpstr>三個人，三個偏好</vt:lpstr>
      <vt:lpstr>偏好循環問題</vt:lpstr>
      <vt:lpstr>民意與態度</vt:lpstr>
      <vt:lpstr>態度與意識形態</vt:lpstr>
      <vt:lpstr>民意的強弱度</vt:lpstr>
      <vt:lpstr>民意的穩定性（總體）</vt:lpstr>
      <vt:lpstr>PowerPoint 簡報</vt:lpstr>
      <vt:lpstr>顯性或隱性民意</vt:lpstr>
      <vt:lpstr>隱性民意的例子</vt:lpstr>
      <vt:lpstr>民意的型態</vt:lpstr>
      <vt:lpstr>單峰、鐘型</vt:lpstr>
      <vt:lpstr>PowerPoint 簡報</vt:lpstr>
      <vt:lpstr>雙峰</vt:lpstr>
      <vt:lpstr>J型</vt:lpstr>
      <vt:lpstr>民意的型態討論</vt:lpstr>
      <vt:lpstr>無反應的受訪者</vt:lpstr>
      <vt:lpstr>那些人才是民意</vt:lpstr>
      <vt:lpstr>民眾如何產生意見？</vt:lpstr>
      <vt:lpstr>民眾常會改變意見嗎？</vt:lpstr>
      <vt:lpstr>PowerPoint 簡報</vt:lpstr>
      <vt:lpstr>台灣民意會影響政策嗎?</vt:lpstr>
      <vt:lpstr>Cross-Strait Economic Relation </vt:lpstr>
      <vt:lpstr>民意的內涵：統獨立場</vt:lpstr>
      <vt:lpstr>Unification vs. Taiwan Independence Issue Position (ESC data)</vt:lpstr>
      <vt:lpstr>國家認同</vt:lpstr>
      <vt:lpstr>國家認同趨勢</vt:lpstr>
      <vt:lpstr>四個核心長期趨勢</vt:lpstr>
      <vt:lpstr>參考文獻（一）</vt:lpstr>
      <vt:lpstr>參考文獻（二）</vt:lpstr>
      <vt:lpstr>參考文獻（三）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民意與大眾傳播媒體</dc:title>
  <dc:creator>Chia-hung Tsai</dc:creator>
  <cp:lastModifiedBy>CHT</cp:lastModifiedBy>
  <cp:revision>84</cp:revision>
  <dcterms:created xsi:type="dcterms:W3CDTF">2007-10-17T07:17:32Z</dcterms:created>
  <dcterms:modified xsi:type="dcterms:W3CDTF">2026-03-03T06:29:04Z</dcterms:modified>
</cp:coreProperties>
</file>