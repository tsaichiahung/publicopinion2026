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7" r:id="rId1"/>
  </p:sldMasterIdLst>
  <p:notesMasterIdLst>
    <p:notesMasterId r:id="rId14"/>
  </p:notesMasterIdLst>
  <p:sldIdLst>
    <p:sldId id="256" r:id="rId2"/>
    <p:sldId id="266" r:id="rId3"/>
    <p:sldId id="268" r:id="rId4"/>
    <p:sldId id="338" r:id="rId5"/>
    <p:sldId id="336" r:id="rId6"/>
    <p:sldId id="337" r:id="rId7"/>
    <p:sldId id="341" r:id="rId8"/>
    <p:sldId id="339" r:id="rId9"/>
    <p:sldId id="340" r:id="rId10"/>
    <p:sldId id="342" r:id="rId11"/>
    <p:sldId id="343" r:id="rId12"/>
    <p:sldId id="34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80"/>
  </p:normalViewPr>
  <p:slideViewPr>
    <p:cSldViewPr snapToGrid="0">
      <p:cViewPr varScale="1">
        <p:scale>
          <a:sx n="100" d="100"/>
          <a:sy n="100" d="100"/>
        </p:scale>
        <p:origin x="10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6BFFFC-D104-3F43-B521-BD06E81B238E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47340-85D9-9F4A-AE55-A8A362BFB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81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2052-F6C6-5047-8232-82AEA79E33E2}" type="datetime1">
              <a:rPr kumimoji="1" lang="en-US" altLang="zh-TW" smtClean="0"/>
              <a:t>5/26/26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AD582EC-0139-D049-9F6E-A8F88D3B833C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305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5A3A9-146B-AC46-A4D2-056E5FE270C4}" type="datetime1">
              <a:rPr kumimoji="1" lang="en-US" altLang="zh-TW" smtClean="0"/>
              <a:t>5/26/26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402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2AB6-AB16-994E-85DE-06EF7F878E3F}" type="datetime1">
              <a:rPr kumimoji="1" lang="en-US" altLang="zh-TW" smtClean="0"/>
              <a:t>5/26/26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78588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88E4-09E4-FE4A-8B94-F156337189C5}" type="datetime1">
              <a:rPr kumimoji="1" lang="en-US" altLang="zh-TW" smtClean="0"/>
              <a:t>5/26/26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257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40D-D5A4-6746-9986-D102F8FAAE50}" type="datetime1">
              <a:rPr kumimoji="1" lang="en-US" altLang="zh-TW" smtClean="0"/>
              <a:t>5/26/26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791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82A8-1B45-B743-8CAD-5F6FF89DFA4B}" type="datetime1">
              <a:rPr kumimoji="1" lang="en-US" altLang="zh-TW" smtClean="0"/>
              <a:t>5/26/26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128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EDAB-C9F0-1A4F-BEF0-037BE9F0C3AA}" type="datetime1">
              <a:rPr kumimoji="1" lang="en-US" altLang="zh-TW" smtClean="0"/>
              <a:t>5/26/26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43355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40B5-6916-394D-8A77-4A564A6B347A}" type="datetime1">
              <a:rPr kumimoji="1" lang="en-US" altLang="zh-TW" smtClean="0"/>
              <a:t>5/26/26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50941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37CD3-69B0-1346-8CB4-3DE7980F5646}" type="datetime1">
              <a:rPr kumimoji="1" lang="en-US" altLang="zh-TW" smtClean="0"/>
              <a:t>5/26/26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06767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34C5-FACA-3941-9961-E20FBD2ABE6D}" type="datetime1">
              <a:rPr kumimoji="1" lang="en-US" altLang="zh-TW" smtClean="0"/>
              <a:t>5/26/26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50191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B25F-8DC2-0945-BBDE-2D93AB3A0A06}" type="datetime1">
              <a:rPr kumimoji="1" lang="en-US" altLang="zh-TW" smtClean="0"/>
              <a:t>5/26/26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59659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0BAC27F5-9189-CF4A-B4DC-4FD52A653A14}" type="datetime1">
              <a:rPr kumimoji="1" lang="en-US" altLang="zh-TW" smtClean="0"/>
              <a:t>5/26/26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582EC-0139-D049-9F6E-A8F88D3B833C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447846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BF3B05-1C99-3835-A31B-139706900A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TW" altLang="en-US" dirty="0"/>
              <a:t>調查與研究倫理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0B972E2-EEFD-B30C-E171-337543F68A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TW" altLang="en-US" dirty="0"/>
              <a:t>民意與調查</a:t>
            </a:r>
          </a:p>
        </p:txBody>
      </p:sp>
    </p:spTree>
    <p:extLst>
      <p:ext uri="{BB962C8B-B14F-4D97-AF65-F5344CB8AC3E}">
        <p14:creationId xmlns:p14="http://schemas.microsoft.com/office/powerpoint/2010/main" val="1579617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E205-0C6D-5478-49EE-490F92D78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研究倫理（一</a:t>
            </a:r>
            <a:r>
              <a:rPr lang="en-US" dirty="0"/>
              <a:t>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99729-1713-880E-BFF8-67464CB0C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PMingLiU" panose="02020500000000000000" pitchFamily="18" charset="-120"/>
                <a:ea typeface="PMingLiU" panose="02020500000000000000" pitchFamily="18" charset="-120"/>
              </a:rPr>
              <a:t>如果科學研究涉及人體研究或者人類行為，就要通過倫理審查</a:t>
            </a:r>
            <a:r>
              <a:rPr 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。</a:t>
            </a:r>
          </a:p>
          <a:p>
            <a:r>
              <a:rPr 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例如醫學研究可能要進行人體實驗，心理學研究可能收集人體對於某些刺激的生理反應，倫理審查必須確定這些研究的公益性，確認受試者有被告知才同意。</a:t>
            </a:r>
          </a:p>
          <a:p>
            <a:r>
              <a:rPr lang="en-US" dirty="0" err="1">
                <a:latin typeface="PMingLiU" panose="02020500000000000000" pitchFamily="18" charset="-120"/>
                <a:ea typeface="PMingLiU" panose="02020500000000000000" pitchFamily="18" charset="-120"/>
              </a:rPr>
              <a:t>民意調查是一種人類行為的研究。研究者必須確保參加調查的人不會因此受到傷害，而且隱私受到保障。所以也必須通過倫理審查</a:t>
            </a:r>
            <a:r>
              <a:rPr 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0DD96-5653-978A-E0C7-2D0A3E804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79182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E8E4E-FEC1-D485-E699-7C656852B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研究倫理三大基本宣言」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248C4-2629-D263-9037-361F75609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4412184"/>
          </a:xfrm>
        </p:spPr>
        <p:txBody>
          <a:bodyPr>
            <a:normAutofit fontScale="47500" lnSpcReduction="20000"/>
          </a:bodyPr>
          <a:lstStyle/>
          <a:p>
            <a:r>
              <a:rPr lang="en-US" altLang="ja-JP" sz="3400" b="1" i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《</a:t>
            </a:r>
            <a:r>
              <a:rPr lang="ja-JP" altLang="en-US" sz="3400" b="1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紐倫堡守則</a:t>
            </a:r>
            <a:r>
              <a:rPr lang="en-US" altLang="ja-JP" sz="3400" b="1" i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》</a:t>
            </a:r>
            <a:r>
              <a:rPr lang="ja-JP" altLang="en-US" sz="3400" b="1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（</a:t>
            </a:r>
            <a:r>
              <a:rPr lang="en-US" sz="3400" b="1" i="0" u="none" strike="noStrike" dirty="0">
                <a:effectLst/>
                <a:ea typeface="PMingLiU" panose="02020500000000000000" pitchFamily="18" charset="-120"/>
              </a:rPr>
              <a:t>The Nuremberg Code, 1949</a:t>
            </a:r>
            <a:r>
              <a:rPr lang="en-US" sz="3400" b="1" i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）</a:t>
            </a:r>
            <a:r>
              <a:rPr lang="en-US" sz="3400" dirty="0"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r>
              <a:rPr lang="ja-JP" altLang="en-US" sz="3400" b="0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因應二戰後納粹人體實驗而生，確立了現代研究倫理的核心，包括</a:t>
            </a:r>
            <a:r>
              <a:rPr lang="ja-JP" altLang="en-US" sz="3400" b="1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自願且知情的同意權</a:t>
            </a:r>
            <a:r>
              <a:rPr lang="ja-JP" altLang="en-US" sz="3400" b="0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、避免不必要的痛苦、確保研究具有科學價值，以及受試者有權隨時終止參與。</a:t>
            </a:r>
          </a:p>
          <a:p>
            <a:r>
              <a:rPr lang="en-US" altLang="ja-JP" sz="3400" b="1" i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《</a:t>
            </a:r>
            <a:r>
              <a:rPr lang="ja-JP" altLang="en-US" sz="3400" b="1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赫爾辛基宣言</a:t>
            </a:r>
            <a:r>
              <a:rPr lang="en-US" altLang="ja-JP" sz="3400" b="1" i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》</a:t>
            </a:r>
            <a:r>
              <a:rPr lang="ja-JP" altLang="en-US" sz="3400" b="1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（</a:t>
            </a:r>
            <a:r>
              <a:rPr lang="en-US" sz="3400" b="1" i="0" u="none" strike="noStrike" dirty="0">
                <a:effectLst/>
                <a:ea typeface="PMingLiU" panose="02020500000000000000" pitchFamily="18" charset="-120"/>
              </a:rPr>
              <a:t>Declaration of Helsinki, 1964</a:t>
            </a:r>
            <a:r>
              <a:rPr lang="en-US" sz="3400" b="1" i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）：</a:t>
            </a:r>
            <a:r>
              <a:rPr lang="ja-JP" altLang="en-US" sz="3400" b="0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由世界醫學會（</a:t>
            </a:r>
            <a:r>
              <a:rPr lang="en-US" sz="3400" b="0" i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WMA）</a:t>
            </a:r>
            <a:r>
              <a:rPr lang="ja-JP" altLang="en-US" sz="3400" b="0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制定，是醫學研究倫理的最高指導原則。其最大貢獻在於強調</a:t>
            </a:r>
            <a:r>
              <a:rPr lang="ja-JP" altLang="en-US" sz="3400" b="1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受試者的福祉與權益應優先於科學及社會的利益</a:t>
            </a:r>
            <a:r>
              <a:rPr lang="ja-JP" altLang="en-US" sz="3400" b="0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，並規範臨床試驗需由獨立委員會審查。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ja-JP" sz="3400" b="1" i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《</a:t>
            </a:r>
            <a:r>
              <a:rPr lang="ja-JP" altLang="en-US" sz="3400" b="1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貝爾蒙特報告書</a:t>
            </a:r>
            <a:r>
              <a:rPr lang="en-US" altLang="ja-JP" sz="3400" b="1" i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》</a:t>
            </a:r>
            <a:r>
              <a:rPr lang="ja-JP" altLang="en-US" sz="3400" b="1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（</a:t>
            </a:r>
            <a:r>
              <a:rPr lang="en-US" sz="3400" b="1" i="0" u="none" strike="noStrike" dirty="0">
                <a:effectLst/>
                <a:ea typeface="PMingLiU" panose="02020500000000000000" pitchFamily="18" charset="-120"/>
              </a:rPr>
              <a:t>The Belmont Report, 1979</a:t>
            </a:r>
            <a:r>
              <a:rPr lang="en-US" sz="3400" b="1" i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）</a:t>
            </a:r>
            <a:r>
              <a:rPr lang="en-US" sz="3400" dirty="0"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r>
              <a:rPr lang="ja-JP" altLang="en-US" sz="3400" b="0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美國國家委員會針對受試者保護所發表的報告書，確立了適用於所有研究的三大核心倫理原則：</a:t>
            </a:r>
            <a:endParaRPr lang="en-US" altLang="ja-JP" sz="3400" b="0" i="0" u="none" strike="noStrike" dirty="0">
              <a:effectLst/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ja-JP" altLang="en-US" sz="3400" b="1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尊重人格（</a:t>
            </a:r>
            <a:r>
              <a:rPr lang="en-US" sz="3400" b="1" i="0" u="none" strike="noStrike" dirty="0">
                <a:effectLst/>
                <a:ea typeface="PMingLiU" panose="02020500000000000000" pitchFamily="18" charset="-120"/>
              </a:rPr>
              <a:t>Respect for Persons</a:t>
            </a:r>
            <a:r>
              <a:rPr lang="en-US" sz="3400" b="1" i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）</a:t>
            </a:r>
            <a:r>
              <a:rPr lang="en-US" sz="3400" b="0" i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r>
              <a:rPr lang="ja-JP" altLang="en-US" sz="3400" b="0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保障自主性，要求落實「知情同意」。</a:t>
            </a:r>
          </a:p>
          <a:p>
            <a:pPr marL="457200" indent="-457200" algn="l">
              <a:buFont typeface="+mj-lt"/>
              <a:buAutoNum type="arabicPeriod"/>
            </a:pPr>
            <a:r>
              <a:rPr lang="ja-JP" altLang="en-US" sz="3400" b="1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行善（</a:t>
            </a:r>
            <a:r>
              <a:rPr lang="en-US" sz="3400" b="1" i="0" u="none" strike="noStrike" dirty="0">
                <a:effectLst/>
                <a:ea typeface="PMingLiU" panose="02020500000000000000" pitchFamily="18" charset="-120"/>
              </a:rPr>
              <a:t>Beneficence</a:t>
            </a:r>
            <a:r>
              <a:rPr lang="en-US" sz="3400" b="1" i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）</a:t>
            </a:r>
            <a:r>
              <a:rPr lang="en-US" sz="3400" b="0" i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r>
              <a:rPr lang="ja-JP" altLang="en-US" sz="3400" b="0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評估風險與利益，將傷害降至最低，追求最大效益。</a:t>
            </a:r>
          </a:p>
          <a:p>
            <a:pPr marL="457200" indent="-457200" algn="l">
              <a:buFont typeface="+mj-lt"/>
              <a:buAutoNum type="arabicPeriod"/>
            </a:pPr>
            <a:r>
              <a:rPr lang="ja-JP" altLang="en-US" sz="3400" b="1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正義（</a:t>
            </a:r>
            <a:r>
              <a:rPr lang="en-US" sz="3400" b="1" i="0" u="none" strike="noStrike" dirty="0">
                <a:effectLst/>
                <a:ea typeface="PMingLiU" panose="02020500000000000000" pitchFamily="18" charset="-120"/>
              </a:rPr>
              <a:t>Justice</a:t>
            </a:r>
            <a:r>
              <a:rPr lang="en-US" sz="3400" b="1" i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）</a:t>
            </a:r>
            <a:r>
              <a:rPr lang="en-US" sz="3400" b="0" i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r>
              <a:rPr lang="ja-JP" altLang="en-US" sz="3400" b="0" i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公平分配研究的利益與負擔，避免剝削弱勢族群。 </a:t>
            </a:r>
            <a:br>
              <a:rPr lang="ja-JP" altLang="en-US" sz="3400"/>
            </a:br>
            <a:r>
              <a:rPr lang="ja-JP" altLang="en-US"/>
              <a:t> </a:t>
            </a:r>
            <a:endParaRPr lang="en-US" dirty="0">
              <a:latin typeface="PMingLiU" panose="02020500000000000000" pitchFamily="18" charset="-120"/>
              <a:ea typeface="PMingLiU" panose="02020500000000000000" pitchFamily="18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E64CF-89C4-64E3-1EBE-5B5A0DA4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6302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CC085-4DB0-FCA1-783B-E2131303F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五大倫理準則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D8FE6-C756-2AD1-B548-76288832F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知情同意原則 </a:t>
            </a:r>
            <a:r>
              <a:rPr lang="en-US" altLang="ja-JP" dirty="0"/>
              <a:t>(</a:t>
            </a:r>
            <a:r>
              <a:rPr lang="en-US" dirty="0"/>
              <a:t>Informed Consent)</a:t>
            </a:r>
          </a:p>
          <a:p>
            <a:r>
              <a:rPr lang="ja-JP" altLang="en-US"/>
              <a:t>尊重自主與保護隱私</a:t>
            </a:r>
            <a:endParaRPr lang="en-US" altLang="ja-JP" dirty="0"/>
          </a:p>
          <a:p>
            <a:r>
              <a:rPr lang="ja-JP" altLang="en-US"/>
              <a:t>行善與不傷害原則</a:t>
            </a:r>
            <a:endParaRPr lang="en-US" altLang="ja-JP" dirty="0"/>
          </a:p>
          <a:p>
            <a:r>
              <a:rPr lang="ja-JP" altLang="en-US"/>
              <a:t>公平正義原則</a:t>
            </a:r>
            <a:endParaRPr lang="en-US" altLang="ja-JP" dirty="0"/>
          </a:p>
          <a:p>
            <a:r>
              <a:rPr lang="ja-JP" altLang="en-US"/>
              <a:t>學術誠信與客觀真實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786BA-9D09-BD84-426B-1174D898E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50757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41C873-754D-B2D1-931F-D0A2013A1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倫理審查的實務議題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4EDCA8-5C7B-0A3B-D63A-9E645B2C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kumimoji="1" lang="zh-TW" altLang="en-US" dirty="0"/>
              <a:t>倫理審查應該針對研究是否合乎相關的規範。</a:t>
            </a:r>
            <a:endParaRPr kumimoji="1" lang="en-US" altLang="zh-TW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kumimoji="1" lang="zh-TW" altLang="en-US" dirty="0"/>
              <a:t>然而，有些情況不容易判斷。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kumimoji="1" lang="zh-TW" altLang="en-US" dirty="0"/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kumimoji="1" lang="zh-TW" altLang="en-US" dirty="0"/>
              <a:t>教師可以在課堂上發放問卷嗎？會造成學生不敢不填的恐懼嗎？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kumimoji="1" lang="en-US" altLang="zh-TW" dirty="0"/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kumimoji="1" lang="zh-TW" altLang="en-US" dirty="0"/>
              <a:t>招募受訪者提供的誘因可以多高？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kumimoji="1" lang="zh-TW" altLang="en-US" dirty="0"/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kumimoji="1" lang="zh-TW" altLang="en-US" dirty="0"/>
              <a:t>如果面訪的受訪者不願意簽知情同意書，但是願意接受訪問，這是一份有效的問卷嗎？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C4A893-FC5D-8F9A-9C60-8DDEAECA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42229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2C879C-4BE3-5BB2-4DEF-AA3B2DA7E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 </a:t>
            </a:r>
            <a:r>
              <a:rPr lang="ja-JP" altLang="en-US"/>
              <a:t>史丹佛監獄實驗 </a:t>
            </a:r>
            <a:r>
              <a:rPr lang="en-US" altLang="ja-JP" dirty="0"/>
              <a:t>(</a:t>
            </a:r>
            <a:r>
              <a:rPr lang="en-US" dirty="0"/>
              <a:t>Stanford Prison Experiment, 1971)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C2E281-F066-2BAF-2C50-C888FBEA2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b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心理學家</a:t>
            </a:r>
            <a:r>
              <a:rPr lang="en-US" b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Philip Zimbardo </a:t>
            </a:r>
            <a:r>
              <a:rPr lang="ja-JP" altLang="en-US" b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模擬真實監獄，將健康的男性大學生隨機分為「獄卒」與「囚犯」來觀察角色扮演的影響。因獄卒施加嚴重精神虐待，且受試者出現情緒崩潰，原訂兩週的實驗在短短六天內被迫中止。</a:t>
            </a:r>
            <a:endParaRPr lang="en-US" altLang="ja-JP" b="0" u="none" strike="noStrike" dirty="0">
              <a:effectLst/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b="1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倫理缺失：</a:t>
            </a:r>
            <a:r>
              <a:rPr lang="ja-JP" altLang="en-US" b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 違反「不傷害原則」，研究者未能及時中止對受試者造成的心理創傷。</a:t>
            </a:r>
            <a:endParaRPr kumimoji="1" lang="zh-TW" altLang="en-US" dirty="0">
              <a:latin typeface="PMingLiU" panose="02020500000000000000" pitchFamily="18" charset="-120"/>
              <a:ea typeface="PMingLiU" panose="02020500000000000000" pitchFamily="18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9F3C5C-3ACB-9EEB-01B9-F4D2CC0F2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77902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D8B61-37EA-0280-2287-6A98EEC4D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u="none" strike="noStrike">
                <a:effectLst/>
                <a:latin typeface="Arial" panose="020B0604020202020204" pitchFamily="34" charset="0"/>
              </a:rPr>
              <a:t>「米爾格倫實驗」 </a:t>
            </a:r>
            <a:r>
              <a:rPr lang="en-US" altLang="ja-JP" b="1" u="none" strike="noStrike" dirty="0">
                <a:effectLst/>
                <a:latin typeface="Arial" panose="020B0604020202020204" pitchFamily="34" charset="0"/>
              </a:rPr>
              <a:t>(</a:t>
            </a:r>
            <a:r>
              <a:rPr lang="en-US" b="1" u="none" strike="noStrike" dirty="0">
                <a:effectLst/>
                <a:latin typeface="Arial" panose="020B0604020202020204" pitchFamily="34" charset="0"/>
              </a:rPr>
              <a:t>Milgram Experiment)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E228C-31CC-4090-AA7C-F7F26839F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4310584"/>
          </a:xfrm>
        </p:spPr>
        <p:txBody>
          <a:bodyPr>
            <a:normAutofit fontScale="70000" lnSpcReduction="20000"/>
          </a:bodyPr>
          <a:lstStyle/>
          <a:p>
            <a:r>
              <a:rPr lang="en-US" altLang="ja-JP" sz="2600" b="0" u="none" strike="noStrike" dirty="0">
                <a:effectLst/>
                <a:ea typeface="PMingLiU" panose="02020500000000000000" pitchFamily="18" charset="-120"/>
              </a:rPr>
              <a:t>1961-1962</a:t>
            </a:r>
            <a:r>
              <a:rPr lang="ja-JP" altLang="en-US" sz="2600" b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年，</a:t>
            </a:r>
            <a:r>
              <a:rPr lang="en-US" altLang="ja-JP" sz="2600" b="0" u="none" strike="noStrike" dirty="0">
                <a:effectLst/>
                <a:ea typeface="PMingLiU" panose="02020500000000000000" pitchFamily="18" charset="-120"/>
              </a:rPr>
              <a:t>Milgram</a:t>
            </a:r>
            <a:r>
              <a:rPr lang="ja-JP" altLang="en-US" sz="2600" b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進行一項實驗，招募了 受試者擔任「老師」 </a:t>
            </a:r>
            <a:r>
              <a:rPr lang="en-US" altLang="ja-JP" sz="2600" b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(</a:t>
            </a:r>
            <a:r>
              <a:rPr lang="en-US" sz="2600" b="0" u="none" strike="noStrike" dirty="0">
                <a:effectLst/>
                <a:ea typeface="PMingLiU" panose="02020500000000000000" pitchFamily="18" charset="-120"/>
              </a:rPr>
              <a:t>Teacher</a:t>
            </a:r>
            <a:r>
              <a:rPr lang="en-US" sz="2600" b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)，</a:t>
            </a:r>
            <a:r>
              <a:rPr lang="ja-JP" altLang="en-US" sz="2600" b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由演員偽裝的暗樁則擔任「學生」 </a:t>
            </a:r>
            <a:r>
              <a:rPr lang="en-US" altLang="ja-JP" sz="2600" b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(</a:t>
            </a:r>
            <a:r>
              <a:rPr lang="en-US" sz="2600" b="0" u="none" strike="noStrike" dirty="0">
                <a:effectLst/>
                <a:ea typeface="PMingLiU" panose="02020500000000000000" pitchFamily="18" charset="-120"/>
              </a:rPr>
              <a:t>Learner</a:t>
            </a:r>
            <a:r>
              <a:rPr lang="en-US" sz="2600" b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)，</a:t>
            </a:r>
            <a:r>
              <a:rPr lang="ja-JP" altLang="en-US" sz="2600" b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實驗者則是「權威科學家」 </a:t>
            </a:r>
            <a:r>
              <a:rPr lang="en-US" altLang="ja-JP" sz="2600" b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(</a:t>
            </a:r>
            <a:r>
              <a:rPr lang="en-US" sz="2600" b="0" u="none" strike="noStrike" dirty="0">
                <a:effectLst/>
                <a:ea typeface="PMingLiU" panose="02020500000000000000" pitchFamily="18" charset="-120"/>
              </a:rPr>
              <a:t>Experimenter</a:t>
            </a:r>
            <a:r>
              <a:rPr lang="en-US" sz="2600" b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)。</a:t>
            </a:r>
          </a:p>
          <a:p>
            <a:r>
              <a:rPr lang="ja-JP" altLang="en-US" sz="2600">
                <a:latin typeface="PMingLiU" panose="02020500000000000000" pitchFamily="18" charset="-120"/>
                <a:ea typeface="PMingLiU" panose="02020500000000000000" pitchFamily="18" charset="-120"/>
              </a:rPr>
              <a:t>學生被關在隔壁房間進行記憶測驗，只要答錯，「老師」就必須按下前方儀器，施加電擊。</a:t>
            </a:r>
            <a:endParaRPr lang="en-US" altLang="ja-JP" sz="2600" dirty="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r>
              <a:rPr lang="ja-JP" altLang="en-US" sz="2600">
                <a:latin typeface="PMingLiU" panose="02020500000000000000" pitchFamily="18" charset="-120"/>
                <a:ea typeface="PMingLiU" panose="02020500000000000000" pitchFamily="18" charset="-120"/>
              </a:rPr>
              <a:t>事實上</a:t>
            </a:r>
            <a:r>
              <a:rPr lang="ja-JP" altLang="en-US" sz="2600" b="1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完全沒有通電</a:t>
            </a:r>
            <a:r>
              <a:rPr lang="ja-JP" altLang="en-US" sz="2600">
                <a:latin typeface="PMingLiU" panose="02020500000000000000" pitchFamily="18" charset="-120"/>
                <a:ea typeface="PMingLiU" panose="02020500000000000000" pitchFamily="18" charset="-120"/>
              </a:rPr>
              <a:t>。但隨著電壓升高，隔壁的演員會依腳本發出慘叫、哀求。</a:t>
            </a:r>
            <a:endParaRPr lang="en-US" altLang="ja-JP" sz="2600" dirty="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r>
              <a:rPr lang="ja-JP" altLang="en-US" sz="2600">
                <a:latin typeface="PMingLiU" panose="02020500000000000000" pitchFamily="18" charset="-120"/>
                <a:ea typeface="PMingLiU" panose="02020500000000000000" pitchFamily="18" charset="-120"/>
              </a:rPr>
              <a:t>高達 </a:t>
            </a:r>
            <a:r>
              <a:rPr lang="en-US" altLang="ja-JP" sz="2600" dirty="0">
                <a:ea typeface="PMingLiU" panose="02020500000000000000" pitchFamily="18" charset="-120"/>
              </a:rPr>
              <a:t>65%</a:t>
            </a:r>
            <a:r>
              <a:rPr lang="ja-JP" altLang="en-US" sz="2600">
                <a:latin typeface="PMingLiU" panose="02020500000000000000" pitchFamily="18" charset="-120"/>
                <a:ea typeface="PMingLiU" panose="02020500000000000000" pitchFamily="18" charset="-120"/>
              </a:rPr>
              <a:t>的受試者，最終在權威的逼迫下，按下了可能致命的 </a:t>
            </a:r>
            <a:r>
              <a:rPr lang="en-US" altLang="ja-JP" sz="2600" dirty="0">
                <a:ea typeface="PMingLiU" panose="02020500000000000000" pitchFamily="18" charset="-120"/>
              </a:rPr>
              <a:t>450 </a:t>
            </a:r>
            <a:r>
              <a:rPr lang="ja-JP" altLang="en-US" sz="2600">
                <a:latin typeface="PMingLiU" panose="02020500000000000000" pitchFamily="18" charset="-120"/>
                <a:ea typeface="PMingLiU" panose="02020500000000000000" pitchFamily="18" charset="-120"/>
              </a:rPr>
              <a:t>伏特最高電擊。</a:t>
            </a:r>
            <a:r>
              <a:rPr lang="zh-TW" altLang="en-US" sz="2600" dirty="0">
                <a:latin typeface="PMingLiU" panose="02020500000000000000" pitchFamily="18" charset="-120"/>
                <a:ea typeface="PMingLiU" panose="02020500000000000000" pitchFamily="18" charset="-120"/>
              </a:rPr>
              <a:t> </a:t>
            </a:r>
            <a:endParaRPr lang="en-US" altLang="zh-TW" sz="2600" dirty="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r>
              <a:rPr lang="ja-JP" altLang="en-US" sz="2600">
                <a:latin typeface="PMingLiU" panose="02020500000000000000" pitchFamily="18" charset="-120"/>
                <a:ea typeface="PMingLiU" panose="02020500000000000000" pitchFamily="18" charset="-120"/>
              </a:rPr>
              <a:t>這項實驗違反不傷害原則、 欺騙程度與對受試者的傷害完全不成正比例、 剝奪了受試者自願隨時退出實驗的權利</a:t>
            </a:r>
            <a:endParaRPr lang="en-US" sz="2600" b="0" u="none" strike="noStrike" dirty="0">
              <a:effectLst/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9DEBE-17B9-78A1-0E63-C3C2CE018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34939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F358D-459D-1262-57F5-DF12895E7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「</a:t>
            </a:r>
            <a:r>
              <a:rPr lang="en-US" altLang="ja-JP" dirty="0"/>
              <a:t>2001</a:t>
            </a:r>
            <a:r>
              <a:rPr lang="ja-JP" altLang="en-US"/>
              <a:t>年哥倫比亞大學餐廳客訴信事件」 </a:t>
            </a:r>
            <a:r>
              <a:rPr lang="en-US" altLang="ja-JP" dirty="0"/>
              <a:t>(</a:t>
            </a:r>
            <a:r>
              <a:rPr lang="en-US" dirty="0"/>
              <a:t>The Columbia University Restaurant Letter Incident)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7CD2A-B7F0-8362-7992-469EEACE7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2001</a:t>
            </a:r>
            <a:r>
              <a:rPr lang="ja-JP" altLang="en-US" b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年，美國哥倫比亞大學商學院的一位副教授弗蘭克</a:t>
            </a:r>
            <a:r>
              <a:rPr lang="en-US" altLang="ja-JP" b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·</a:t>
            </a:r>
            <a:r>
              <a:rPr lang="ja-JP" altLang="en-US" b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弗林 </a:t>
            </a:r>
            <a:r>
              <a:rPr lang="en-US" altLang="ja-JP" b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(</a:t>
            </a:r>
            <a:r>
              <a:rPr lang="en-US" b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Frank Flynn) </a:t>
            </a:r>
            <a:r>
              <a:rPr lang="ja-JP" altLang="en-US" b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為了研究「企業（餐廳）如何應對顧客的負面投訴」，設計了一項實地實驗。他隨機抽樣了紐約市 </a:t>
            </a:r>
            <a:r>
              <a:rPr lang="en-US" altLang="ja-JP" b="0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240 </a:t>
            </a:r>
            <a:r>
              <a:rPr lang="ja-JP" altLang="en-US" b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家知名且高檔的餐廳，寄出一封偽造的投訴信。</a:t>
            </a:r>
            <a:r>
              <a:rPr lang="ja-JP" altLang="en-US">
                <a:latin typeface="PMingLiU" panose="02020500000000000000" pitchFamily="18" charset="-120"/>
                <a:ea typeface="PMingLiU" panose="02020500000000000000" pitchFamily="18" charset="-120"/>
              </a:rPr>
              <a:t> 為了測試餐廳是否會因為投訴者的社會地位而有不同的應對態度，他有一半的信件使用「哥倫比亞大學教授」的真實頭銜，另一半則使用假冒的「連鎖成衣品牌儲備幹部」身分。信中宣稱他和妻子幾天前到該餐廳慶祝結婚紀念日，但回家後雙雙出現</a:t>
            </a:r>
            <a:r>
              <a:rPr lang="ja-JP" altLang="en-US" b="1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嚴重腹痛、腹瀉和嘔吐等食物中毒症狀</a:t>
            </a:r>
            <a:r>
              <a:rPr lang="ja-JP" altLang="en-US">
                <a:latin typeface="PMingLiU" panose="02020500000000000000" pitchFamily="18" charset="-120"/>
                <a:ea typeface="PMingLiU" panose="02020500000000000000" pitchFamily="18" charset="-120"/>
              </a:rPr>
              <a:t>，並指責餐廳衛生堪憂，要求餐廳對此「做出合適的回應」。</a:t>
            </a:r>
            <a:endParaRPr lang="en-US" altLang="ja-JP" dirty="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25453-CA78-78D6-9F4B-C2E2E09B1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18364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83CC9-35FC-E07B-2582-5063F4D49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「</a:t>
            </a:r>
            <a:r>
              <a:rPr lang="en-US" altLang="ja-JP" dirty="0"/>
              <a:t>2001</a:t>
            </a:r>
            <a:r>
              <a:rPr lang="ja-JP" altLang="en-US"/>
              <a:t>年哥倫比亞大學餐廳客訴信事件」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78C65-281E-03E6-01DF-8C345F8D6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0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當餐廳驚慌失措地回信道歉並說明處理進度後，弗林教授隨即寄出第二封信，表明這「只是一場學術實驗」，事實上他根本沒去用餐，也沒有食物中毒。</a:t>
            </a:r>
            <a:r>
              <a:rPr lang="ja-JP" altLang="en-US">
                <a:latin typeface="PMingLiU" panose="02020500000000000000" pitchFamily="18" charset="-120"/>
                <a:ea typeface="PMingLiU" panose="02020500000000000000" pitchFamily="18" charset="-120"/>
              </a:rPr>
              <a:t> 受害餐廳聯合向哥倫比亞大學提出強烈抗議，甚至</a:t>
            </a:r>
            <a:r>
              <a:rPr lang="ja-JP" altLang="en-US" b="1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揚言提起高達</a:t>
            </a:r>
            <a:r>
              <a:rPr lang="en-US" altLang="ja-JP" b="1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1</a:t>
            </a:r>
            <a:r>
              <a:rPr lang="ja-JP" altLang="en-US" b="1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億美元的集體訴訟</a:t>
            </a:r>
            <a:r>
              <a:rPr lang="ja-JP" altLang="en-US">
                <a:latin typeface="PMingLiU" panose="02020500000000000000" pitchFamily="18" charset="-120"/>
                <a:ea typeface="PMingLiU" panose="02020500000000000000" pitchFamily="18" charset="-120"/>
              </a:rPr>
              <a:t>，控告教授誹謗與造成精神損害。</a:t>
            </a:r>
            <a:endParaRPr lang="en-US" altLang="ja-JP" dirty="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r>
              <a:rPr lang="ja-JP" altLang="en-US" b="1" u="none" strike="noStrike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違反「不傷害原則」 </a:t>
            </a:r>
            <a:r>
              <a:rPr lang="en-US" altLang="ja-JP" b="1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(</a:t>
            </a:r>
            <a:r>
              <a:rPr lang="en-US" b="1" u="none" strike="noStrike" dirty="0">
                <a:effectLst/>
                <a:latin typeface="PMingLiU" panose="02020500000000000000" pitchFamily="18" charset="-120"/>
                <a:ea typeface="PMingLiU" panose="02020500000000000000" pitchFamily="18" charset="-120"/>
              </a:rPr>
              <a:t>Non-maleficence)：</a:t>
            </a:r>
            <a:r>
              <a:rPr lang="ja-JP" altLang="en-US">
                <a:latin typeface="PMingLiU" panose="02020500000000000000" pitchFamily="18" charset="-120"/>
                <a:ea typeface="PMingLiU" panose="02020500000000000000" pitchFamily="18" charset="-120"/>
              </a:rPr>
              <a:t>實驗直接導致受試者（主廚、經理、老闆）產生極大的心理壓力、焦慮，並耗費了大量的人力與時間成本去核對假帳目，損害了商家的正當權益。</a:t>
            </a:r>
            <a:endParaRPr lang="en-US" dirty="0">
              <a:latin typeface="PMingLiU" panose="02020500000000000000" pitchFamily="18" charset="-120"/>
              <a:ea typeface="PMingLiU" panose="02020500000000000000" pitchFamily="18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100B9-418E-B919-2641-C004BA483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77186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53317-B08F-A001-4A98-C05FDBAE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知情同意書內容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2415F-937C-2BDF-7D08-3E94F983C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計畫簡述</a:t>
            </a:r>
            <a:endParaRPr lang="en-US" dirty="0"/>
          </a:p>
          <a:p>
            <a:r>
              <a:rPr lang="en-US" dirty="0" err="1"/>
              <a:t>如何選取參與者</a:t>
            </a:r>
            <a:endParaRPr lang="en-US" dirty="0"/>
          </a:p>
          <a:p>
            <a:r>
              <a:rPr lang="en-US" dirty="0" err="1"/>
              <a:t>自願性、匿名</a:t>
            </a:r>
            <a:endParaRPr lang="en-US" dirty="0"/>
          </a:p>
          <a:p>
            <a:r>
              <a:rPr lang="en-US" dirty="0" err="1"/>
              <a:t>參與本研究的好處與風險</a:t>
            </a:r>
            <a:endParaRPr lang="en-US" dirty="0"/>
          </a:p>
          <a:p>
            <a:r>
              <a:rPr lang="en-US"/>
              <a:t>可以隨時退出</a:t>
            </a:r>
            <a:endParaRPr lang="en-US" dirty="0"/>
          </a:p>
          <a:p>
            <a:r>
              <a:rPr lang="en-US" dirty="0" err="1"/>
              <a:t>研究團隊資訊</a:t>
            </a:r>
            <a:endParaRPr lang="en-US" dirty="0"/>
          </a:p>
          <a:p>
            <a:r>
              <a:rPr lang="en-US" dirty="0" err="1"/>
              <a:t>如果有糾紛時可以諮詢的單位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E42BB-B02A-C88D-1252-8ABA2B44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33112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17375-23D9-6C04-7522-657311B6E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保護參與者的隱私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EB643-C8DF-BD5B-CC20-AEF24D10E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研究團隊成員須接受研究倫理訓練，妥善保護參與者的資料</a:t>
            </a:r>
            <a:r>
              <a:rPr lang="en-US" dirty="0"/>
              <a:t>。</a:t>
            </a:r>
          </a:p>
          <a:p>
            <a:r>
              <a:rPr lang="en-US" dirty="0" err="1"/>
              <a:t>研究團隊成員須簽署保密協定</a:t>
            </a:r>
            <a:r>
              <a:rPr lang="en-US" dirty="0"/>
              <a:t>。</a:t>
            </a:r>
          </a:p>
          <a:p>
            <a:r>
              <a:rPr lang="en-US" dirty="0" err="1"/>
              <a:t>訪問資料須去識別化，只留下代碼</a:t>
            </a:r>
            <a:r>
              <a:rPr lang="en-US" dirty="0"/>
              <a:t>。</a:t>
            </a:r>
          </a:p>
          <a:p>
            <a:r>
              <a:rPr lang="en-US" dirty="0" err="1"/>
              <a:t>用來抽樣的資料在一定期限後應該銷毀</a:t>
            </a:r>
            <a:r>
              <a:rPr lang="en-US" dirty="0"/>
              <a:t>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080ED-041C-1799-F3FD-EFCBADB6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86345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02FB6-5C23-D987-BDC0-367D2E243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參考文獻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50841-FE7A-9F93-C483-CB77F76A5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林正介、陳祖裕</a:t>
            </a:r>
            <a:r>
              <a:rPr lang="en-US" altLang="ja-JP" dirty="0"/>
              <a:t>(2010)</a:t>
            </a:r>
            <a:r>
              <a:rPr lang="ja-JP" altLang="en-US"/>
              <a:t>「社會及行為科學研究相關之基本倫理議題」</a:t>
            </a:r>
            <a:endParaRPr lang="en-US" altLang="ja-JP" dirty="0"/>
          </a:p>
          <a:p>
            <a:r>
              <a:rPr lang="ja-JP" altLang="en-US"/>
              <a:t>徐莉雯</a:t>
            </a:r>
            <a:r>
              <a:rPr lang="en-US" dirty="0"/>
              <a:t>「</a:t>
            </a:r>
            <a:r>
              <a:rPr lang="ja-JP" altLang="en-US"/>
              <a:t>心理學研究會傷害人？淺談研究倫理議題</a:t>
            </a:r>
            <a:r>
              <a:rPr lang="en-US" dirty="0"/>
              <a:t>」</a:t>
            </a:r>
          </a:p>
          <a:p>
            <a:r>
              <a:rPr lang="ja-JP" altLang="en-US"/>
              <a:t>蔡甫昌</a:t>
            </a:r>
            <a:r>
              <a:rPr lang="en-US" dirty="0"/>
              <a:t>、</a:t>
            </a:r>
            <a:r>
              <a:rPr lang="ja-JP" altLang="en-US"/>
              <a:t>林芝宇、張至寧（</a:t>
            </a:r>
            <a:r>
              <a:rPr lang="en-US" altLang="ja-JP" dirty="0"/>
              <a:t>2008)</a:t>
            </a:r>
            <a:r>
              <a:rPr lang="en-US" dirty="0"/>
              <a:t>「</a:t>
            </a:r>
            <a:r>
              <a:rPr lang="ja-JP" altLang="en-US"/>
              <a:t>研究倫理的歷史、原則與準則</a:t>
            </a:r>
            <a:r>
              <a:rPr lang="en-US" dirty="0"/>
              <a:t>」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D2FAC-40DD-6406-709D-2C3E073A2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82EC-0139-D049-9F6E-A8F88D3B833C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19343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麥迪遜">
  <a:themeElements>
    <a:clrScheme name="麥迪遜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麥迪遜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麥迪遜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{82E5F6E2-A870-6344-8E47-33166ADEBCE1}tf16401378</Template>
  <TotalTime>1986</TotalTime>
  <Words>737</Words>
  <Application>Microsoft Macintosh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MS Shell Dlg 2</vt:lpstr>
      <vt:lpstr>PMingLiU</vt:lpstr>
      <vt:lpstr>Arial</vt:lpstr>
      <vt:lpstr>Calibri</vt:lpstr>
      <vt:lpstr>Wingdings</vt:lpstr>
      <vt:lpstr>Wingdings 3</vt:lpstr>
      <vt:lpstr>麥迪遜</vt:lpstr>
      <vt:lpstr>調查與研究倫理</vt:lpstr>
      <vt:lpstr>研究倫理（一）</vt:lpstr>
      <vt:lpstr>研究倫理三大基本宣言」</vt:lpstr>
      <vt:lpstr>五大倫理準則</vt:lpstr>
      <vt:lpstr>倫理審查的實務議題</vt:lpstr>
      <vt:lpstr> 史丹佛監獄實驗 (Stanford Prison Experiment, 1971)</vt:lpstr>
      <vt:lpstr>「米爾格倫實驗」 (Milgram Experiment)</vt:lpstr>
      <vt:lpstr>「2001年哥倫比亞大學餐廳客訴信事件」 (The Columbia University Restaurant Letter Incident)</vt:lpstr>
      <vt:lpstr>「2001年哥倫比亞大學餐廳客訴信事件」</vt:lpstr>
      <vt:lpstr>知情同意書內容</vt:lpstr>
      <vt:lpstr>保護參與者的隱私</vt:lpstr>
      <vt:lpstr>參考文獻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質性研究、社群媒體與人工智慧</dc:title>
  <dc:creator>Chia-hung Tsai</dc:creator>
  <cp:lastModifiedBy>Chia-hung Tsai</cp:lastModifiedBy>
  <cp:revision>30</cp:revision>
  <dcterms:created xsi:type="dcterms:W3CDTF">2025-12-19T08:48:01Z</dcterms:created>
  <dcterms:modified xsi:type="dcterms:W3CDTF">2026-05-26T14:53:12Z</dcterms:modified>
</cp:coreProperties>
</file>