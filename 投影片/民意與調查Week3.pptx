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45"/>
  </p:notesMasterIdLst>
  <p:handoutMasterIdLst>
    <p:handoutMasterId r:id="rId46"/>
  </p:handoutMasterIdLst>
  <p:sldIdLst>
    <p:sldId id="256" r:id="rId2"/>
    <p:sldId id="274" r:id="rId3"/>
    <p:sldId id="323" r:id="rId4"/>
    <p:sldId id="324" r:id="rId5"/>
    <p:sldId id="328" r:id="rId6"/>
    <p:sldId id="353" r:id="rId7"/>
    <p:sldId id="351" r:id="rId8"/>
    <p:sldId id="352" r:id="rId9"/>
    <p:sldId id="340" r:id="rId10"/>
    <p:sldId id="338" r:id="rId11"/>
    <p:sldId id="339" r:id="rId12"/>
    <p:sldId id="341" r:id="rId13"/>
    <p:sldId id="342" r:id="rId14"/>
    <p:sldId id="329" r:id="rId15"/>
    <p:sldId id="356" r:id="rId16"/>
    <p:sldId id="355" r:id="rId17"/>
    <p:sldId id="357" r:id="rId18"/>
    <p:sldId id="358" r:id="rId19"/>
    <p:sldId id="375" r:id="rId20"/>
    <p:sldId id="359" r:id="rId21"/>
    <p:sldId id="346" r:id="rId22"/>
    <p:sldId id="361" r:id="rId23"/>
    <p:sldId id="336" r:id="rId24"/>
    <p:sldId id="337" r:id="rId25"/>
    <p:sldId id="343" r:id="rId26"/>
    <p:sldId id="333" r:id="rId27"/>
    <p:sldId id="334" r:id="rId28"/>
    <p:sldId id="360" r:id="rId29"/>
    <p:sldId id="366" r:id="rId30"/>
    <p:sldId id="331" r:id="rId31"/>
    <p:sldId id="371" r:id="rId32"/>
    <p:sldId id="367" r:id="rId33"/>
    <p:sldId id="368" r:id="rId34"/>
    <p:sldId id="369" r:id="rId35"/>
    <p:sldId id="370" r:id="rId36"/>
    <p:sldId id="363" r:id="rId37"/>
    <p:sldId id="372" r:id="rId38"/>
    <p:sldId id="330" r:id="rId39"/>
    <p:sldId id="376" r:id="rId40"/>
    <p:sldId id="373" r:id="rId41"/>
    <p:sldId id="374" r:id="rId42"/>
    <p:sldId id="377" r:id="rId43"/>
    <p:sldId id="335" r:id="rId4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9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4B47E2AB-6B1F-2B8D-B4DE-22FA8D337B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2FBCF325-110B-95F1-FFA7-34E851A4071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A6C1ECA7-7696-D6B9-3F2C-14216C02CF6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B357EE78-4918-6715-C3FE-DA22925DA6B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20C446E-7FFD-2249-A273-48CDD1BF6F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8B91A5BD-83D0-492A-5252-101B00FABB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C4E2FB34-C73B-498A-8145-B96478ECBE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0E758BE-CC94-684B-2B85-D6DEDC86FB6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A7ACCBC1-910C-6A19-395A-99EC056AB5A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D49D7869-A979-3105-BCEA-101331FE6D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436518DC-3C1B-39D4-537F-180C0C2C2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F4C01E3-63F5-9143-9407-7BB0A14FD7F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02A479-D6A9-6599-AD01-9584684B935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E115450-7F89-20A1-1E4C-77140D68CF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12FC886-4194-D023-63A8-C7CA3EC9A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TW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E1A1EC5A-B874-352B-69B5-CECFF3F0E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TW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7BF08A8E-18D2-00E3-C216-17DDFCAC08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E45256F-5EAE-DD33-5D40-E9FE0F201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TW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0945C1-3D84-A297-5B12-5FE6D6632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en-US" altLang="zh-TW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5EF94568-FDAC-EDA7-5889-07CA64112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5D2A3E71-BB6B-3A34-0A9A-27E068BE8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TW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74EFE1A-70C9-71CF-07B0-28659A253E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en-US" altLang="zh-TW"/>
            </a:p>
          </p:txBody>
        </p:sp>
      </p:grpSp>
      <p:sp>
        <p:nvSpPr>
          <p:cNvPr id="9831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9831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B6613A4-65A5-4157-9C67-FD6985B4BE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058A52C-AF3C-2982-CEDA-8DB4D7F987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5C95A2D-3AF1-3246-B9AD-AAC3A8FBEB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7D3DEED-6EDD-B148-9E8F-120A1549AD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700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144BF3-83D7-31FB-2E91-94809EF8B1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DCA9C66-6AA4-F128-12CC-090C64F9BC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122251B-3F3B-5C6E-5A70-E7EEC89D67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EC049-C2BC-D942-9572-657573DB71A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395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3148C2B-9102-D9C0-EE02-7B1F65ED8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57AF37-6F67-D11D-E7B4-98C0E9E581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4C55B02-6A14-FDFD-0FAC-BEEA452324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D6784-8C5C-CB4D-9F1A-DE6BB3196E3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319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DD9E180-8FAA-2834-B561-42E6D50E9C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7F0D355-0A4E-0707-10A9-BF0DF60AB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7828D8D-6EC4-6EFF-F3AA-D5371B0C32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8933F-6976-0E4E-942A-3D44D64290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729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48DEA91-26DE-2D13-3A91-93435BF470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EBB5F09-B502-9D05-730B-49504F7B47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C8F9C64-59EB-CA08-4D38-FF2F650866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26589-B87C-F14E-B97F-AB9AE8440E0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01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A7D3BBB4-8107-18F6-0041-07EBE1D8C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E2CF8E3-9E4F-2F32-6021-64BADD87DF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31FCAF4-EC8A-2347-1AB0-215A80F79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32D6E-EC20-A24F-B0F6-C41A4F3F54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690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64D3975-1BE6-04D2-BB06-600875B8E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4BBF8A3-B5A2-D8FD-A943-7F030E080D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96194D8-36C0-C1C2-1E0E-5507419AB7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64A7-91B1-944C-8857-597FAF30A0D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7436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08E36DE-38D0-26A5-2B76-31E4CCC5C6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05C2EDC-4AC6-7430-C19E-3283C2DEC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B02E40D-965E-97CE-56AB-755D7AB25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B29B4-0529-9042-AE95-4133E3A583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48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B27F629-FCA5-3268-3E92-E9F106C155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1FE6CA-306A-BF93-422D-B4E4CDBF5D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509A6AA-8642-EFE8-4965-E7D2887AA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AEC24C-0F62-484C-BDB1-40830FA93CE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580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91FCF05-F969-CD1B-82A0-1195B4E2B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A57E3B8-D386-207E-5411-8273B1CE6A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80B459A-7085-2329-5A63-0D0C67900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DD7D7-EED4-5F48-9A42-CB4CBCED01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062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F28D167-1206-58C0-827C-58966B8B07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1B7982A-23E2-A34F-C749-413CD7483A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895118-B5B5-102A-AA74-FECE3E6E4D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51229-37BB-B544-9444-EFB2035A77E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5721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7F034D3-B5EA-0613-D1E6-B34F703F87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A8C476B-3B23-92D4-B448-7E6B59A59E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5234B46-1272-FC03-ABB4-8EB4839A88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4558A-A5C5-CB4C-9340-B3D01515185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2686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0306C4-EF2B-6F12-FAF1-079F931C2EE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841C21-4434-2572-D7C5-9D04BE5A5C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57DA97E-732F-5548-E299-845B49524FA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E3D03A2-1939-F277-72BB-15B438121F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39D07F-817D-FCFA-DCB3-EF987F97D9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7B206B2D-050A-1BEA-E070-20243E9AE1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1BB4DF4-0F71-1A0C-D230-D10D827195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5ED2871-2C04-14C4-9D0C-FFF6F963B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915EA1B-93A5-A2F2-ED54-989102737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7291" name="Rectangle 11">
            <a:extLst>
              <a:ext uri="{FF2B5EF4-FFF2-40B4-BE49-F238E27FC236}">
                <a16:creationId xmlns:a16="http://schemas.microsoft.com/office/drawing/2014/main" id="{C181A0A9-B495-BB7E-E861-1290180BA4B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7292" name="Rectangle 12">
            <a:extLst>
              <a:ext uri="{FF2B5EF4-FFF2-40B4-BE49-F238E27FC236}">
                <a16:creationId xmlns:a16="http://schemas.microsoft.com/office/drawing/2014/main" id="{F053A699-22B6-9AA0-F683-7219A45A1B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7293" name="Rectangle 13">
            <a:extLst>
              <a:ext uri="{FF2B5EF4-FFF2-40B4-BE49-F238E27FC236}">
                <a16:creationId xmlns:a16="http://schemas.microsoft.com/office/drawing/2014/main" id="{5AB06BDD-DBDF-3984-7682-05C0DF5C0D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B90FACA6-16ED-A34C-AFF6-C57A478D6CD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新細明體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6">
            <a:extLst>
              <a:ext uri="{FF2B5EF4-FFF2-40B4-BE49-F238E27FC236}">
                <a16:creationId xmlns:a16="http://schemas.microsoft.com/office/drawing/2014/main" id="{5E62DD23-B6BE-8DA5-9425-911D5ECA0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832EE76-A951-6F49-A8BA-059950904E5D}" type="slidenum">
              <a:rPr kumimoji="0" lang="en-US" altLang="zh-TW">
                <a:solidFill>
                  <a:schemeClr val="bg2"/>
                </a:solidFill>
              </a:rPr>
              <a:pPr/>
              <a:t>1</a:t>
            </a:fld>
            <a:endParaRPr kumimoji="0" lang="en-US" altLang="zh-TW">
              <a:solidFill>
                <a:schemeClr val="bg2"/>
              </a:solidFill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60BAFDB6-F2C6-A9E1-7870-8B2176CB73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民意調查的類型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7B2B7B3-EE90-C1A3-C48C-E3B62D4435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latin typeface="Arial Narrow" panose="020B0604020202020204" pitchFamily="34" charset="0"/>
                <a:ea typeface="SimSun" panose="02010600030101010101" pitchFamily="2" charset="-122"/>
              </a:rPr>
              <a:t>蔡佳泓</a:t>
            </a:r>
            <a:endParaRPr lang="en-US" altLang="zh-TW" dirty="0">
              <a:latin typeface="Arial Narrow" panose="020B0604020202020204" pitchFamily="34" charset="0"/>
              <a:ea typeface="SimSun" panose="02010600030101010101" pitchFamily="2" charset="-122"/>
            </a:endParaRPr>
          </a:p>
          <a:p>
            <a:pPr eaLnBrk="1" hangingPunct="1"/>
            <a:r>
              <a:rPr lang="en-US" altLang="zh-TW">
                <a:latin typeface="Arial Narrow" panose="020B0604020202020204" pitchFamily="34" charset="0"/>
                <a:ea typeface="SimSun" panose="02010600030101010101" pitchFamily="2" charset="-122"/>
              </a:rPr>
              <a:t>3/11/22026</a:t>
            </a:r>
            <a:endParaRPr lang="zh-TW" altLang="en-US" dirty="0">
              <a:latin typeface="Arial Narrow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Number Placeholder 6">
            <a:extLst>
              <a:ext uri="{FF2B5EF4-FFF2-40B4-BE49-F238E27FC236}">
                <a16:creationId xmlns:a16="http://schemas.microsoft.com/office/drawing/2014/main" id="{647FA0B6-0165-C8FC-1A7B-1CC9864A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3417E6DD-1A91-3845-A8F2-552978BCBC6E}" type="slidenum">
              <a:rPr kumimoji="0" lang="en-US" altLang="zh-TW"/>
              <a:pPr/>
              <a:t>2</a:t>
            </a:fld>
            <a:endParaRPr kumimoji="0" lang="en-US" altLang="zh-TW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784F344-A4DD-50D0-515D-39FA1B217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課程大綱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B2F9290-EE23-B27E-37B2-EF3DFD1F18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2743200" cy="23606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400"/>
              <a:t>何謂調查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400"/>
              <a:t>面對面訪問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400"/>
              <a:t>電話訪問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400"/>
              <a:t>郵寄問卷訪問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400"/>
              <a:t>網路調查</a:t>
            </a:r>
          </a:p>
          <a:p>
            <a:pPr eaLnBrk="1" hangingPunct="1">
              <a:lnSpc>
                <a:spcPct val="80000"/>
              </a:lnSpc>
            </a:pPr>
            <a:r>
              <a:rPr lang="zh-TW" altLang="en-US" sz="2400"/>
              <a:t>調查倫理</a:t>
            </a:r>
          </a:p>
        </p:txBody>
      </p:sp>
      <p:pic>
        <p:nvPicPr>
          <p:cNvPr id="6148" name="Picture 7">
            <a:extLst>
              <a:ext uri="{FF2B5EF4-FFF2-40B4-BE49-F238E27FC236}">
                <a16:creationId xmlns:a16="http://schemas.microsoft.com/office/drawing/2014/main" id="{CC5D0D39-DB93-E7F1-F10E-5AAB7D1EBCE4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524000"/>
            <a:ext cx="3810000" cy="3824288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Number Placeholder 5">
            <a:extLst>
              <a:ext uri="{FF2B5EF4-FFF2-40B4-BE49-F238E27FC236}">
                <a16:creationId xmlns:a16="http://schemas.microsoft.com/office/drawing/2014/main" id="{0546C0F5-52FE-DABF-789C-D9965CC0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DDFA3B17-D8C1-C545-A0CE-30B1B674651B}" type="slidenum">
              <a:rPr kumimoji="0" lang="en-US" altLang="zh-TW"/>
              <a:pPr/>
              <a:t>3</a:t>
            </a:fld>
            <a:endParaRPr kumimoji="0" lang="en-US" altLang="zh-TW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F80B21C8-F3A6-6E77-6F16-43FE9471A6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調查的定義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B80113-29C0-1184-6827-EE14A3500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本著科學與公正的態度</a:t>
            </a:r>
            <a:r>
              <a:rPr lang="zh-TW" altLang="en-US" sz="2000" dirty="0">
                <a:latin typeface="新細明體" panose="02020500000000000000" pitchFamily="18" charset="-120"/>
              </a:rPr>
              <a:t>，從研究範圍內的全體民眾中 ，抽取具有代表性的部份民眾做為樣本或全部個體 ，以這些樣本的看法推論全體民眾的看法。</a:t>
            </a:r>
            <a:endParaRPr lang="en-US" altLang="zh-TW" sz="2000" dirty="0">
              <a:latin typeface="新細明體" panose="02020500000000000000" pitchFamily="18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新細明體" panose="02020500000000000000" pitchFamily="18" charset="-120"/>
              </a:rPr>
              <a:t>為了達到調查的目的，必須要選擇適當的調查設計，配合調查方法，收集資料。</a:t>
            </a:r>
            <a:endParaRPr lang="en-US" altLang="zh-TW" sz="2000" dirty="0">
              <a:latin typeface="新細明體" panose="02020500000000000000" pitchFamily="18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新細明體" panose="02020500000000000000" pitchFamily="18" charset="-120"/>
              </a:rPr>
              <a:t>不同的調查方式有不同的優點與缺點，適用於不同的目的，考慮的重點有完成訪問的成本以及受訪對象的接受程度。研究者必須綜合考慮研究的需求選擇調查方法。</a:t>
            </a:r>
            <a:endParaRPr lang="en-US" altLang="zh-TW" sz="2000" dirty="0">
              <a:latin typeface="新細明體" panose="02020500000000000000" pitchFamily="18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新細明體" panose="02020500000000000000" pitchFamily="18" charset="-120"/>
              </a:rPr>
              <a:t>這裡的調查方法不包括大數據分析以及其他研究方法。</a:t>
            </a:r>
            <a:endParaRPr lang="en-US" altLang="zh-TW" sz="2000" dirty="0">
              <a:latin typeface="新細明體" panose="02020500000000000000" pitchFamily="18" charset="-120"/>
            </a:endParaRPr>
          </a:p>
          <a:p>
            <a:pPr eaLnBrk="1" hangingPunct="1"/>
            <a:endParaRPr lang="zh-TW" altLang="en-US" dirty="0">
              <a:latin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Slide Number Placeholder 5">
            <a:extLst>
              <a:ext uri="{FF2B5EF4-FFF2-40B4-BE49-F238E27FC236}">
                <a16:creationId xmlns:a16="http://schemas.microsoft.com/office/drawing/2014/main" id="{280176D8-03D6-9F3C-17D5-C9F94F10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A8E05CD0-0E6C-214B-9348-182C064521D2}" type="slidenum">
              <a:rPr kumimoji="0" lang="en-US" altLang="zh-TW"/>
              <a:pPr/>
              <a:t>4</a:t>
            </a:fld>
            <a:endParaRPr kumimoji="0" lang="en-US" altLang="zh-TW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70899A6D-4A46-901B-A6BE-781BAADCB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調查方法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FC3B641-0CC9-8250-EEEC-71B8F45FA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latin typeface="新細明體" panose="02020500000000000000" pitchFamily="18" charset="-120"/>
              </a:rPr>
              <a:t>面對面訪問</a:t>
            </a:r>
          </a:p>
          <a:p>
            <a:pPr eaLnBrk="1" hangingPunct="1"/>
            <a:r>
              <a:rPr lang="zh-TW" altLang="en-US" dirty="0">
                <a:latin typeface="新細明體" panose="02020500000000000000" pitchFamily="18" charset="-120"/>
              </a:rPr>
              <a:t>電話訪問（市話、手機）</a:t>
            </a:r>
          </a:p>
          <a:p>
            <a:pPr eaLnBrk="1" hangingPunct="1"/>
            <a:r>
              <a:rPr lang="zh-TW" altLang="en-US" dirty="0">
                <a:latin typeface="新細明體" panose="02020500000000000000" pitchFamily="18" charset="-120"/>
              </a:rPr>
              <a:t>郵寄問卷</a:t>
            </a:r>
          </a:p>
          <a:p>
            <a:pPr eaLnBrk="1" hangingPunct="1"/>
            <a:r>
              <a:rPr lang="zh-TW" altLang="en-US" dirty="0">
                <a:latin typeface="新細明體" panose="02020500000000000000" pitchFamily="18" charset="-120"/>
              </a:rPr>
              <a:t>網路調查</a:t>
            </a:r>
            <a:endParaRPr lang="en-US" altLang="zh-TW" dirty="0">
              <a:latin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Number Placeholder 5">
            <a:extLst>
              <a:ext uri="{FF2B5EF4-FFF2-40B4-BE49-F238E27FC236}">
                <a16:creationId xmlns:a16="http://schemas.microsoft.com/office/drawing/2014/main" id="{107C1B57-507D-AD4C-F9C7-3A6849EB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38566E8-4B76-3043-BAF7-CA5C3B5A413B}" type="slidenum">
              <a:rPr kumimoji="0" lang="en-US" altLang="zh-TW"/>
              <a:pPr/>
              <a:t>5</a:t>
            </a:fld>
            <a:endParaRPr kumimoji="0" lang="en-US" altLang="zh-TW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EC6305C8-4218-0B14-8A24-990D63D30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面對面訪問（一）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A1ECE22-E778-9979-DBDF-BBE1D2C5E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面對面訪問是用一問一答的方式，完成問卷。訪員給受訪者的第一印象是訪問成功的關鍵。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面訪的問卷多半是結構式而不是開放題目，訪員必須逐題唸給受訪者聽然後記錄答案，不是田野調查，也不能讓受訪者自填。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面訪的樣本可能來自於全國門牌地址為抽樣清冊，經過分層之後，從裡面抽出每一個中選單位的地址，例如一個村里裡面抽出</a:t>
            </a:r>
            <a:r>
              <a:rPr lang="en-US" altLang="zh-TW" sz="2000" dirty="0"/>
              <a:t>100</a:t>
            </a:r>
            <a:r>
              <a:rPr lang="zh-TW" altLang="en-US" sz="2000" dirty="0"/>
              <a:t>個地址，然後一個個去接觸，如果沒有達到成功份數再繼續抽樣訪問。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面訪被認為是調查的黃金標準，可以用來校對其他的調查結果。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1434A-D7C2-BCD0-D549-676EC087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Number Placeholder 5">
            <a:extLst>
              <a:ext uri="{FF2B5EF4-FFF2-40B4-BE49-F238E27FC236}">
                <a16:creationId xmlns:a16="http://schemas.microsoft.com/office/drawing/2014/main" id="{0D37AE34-06FA-A490-50AE-FFEF9B64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38566E8-4B76-3043-BAF7-CA5C3B5A413B}" type="slidenum">
              <a:rPr kumimoji="0" lang="en-US" altLang="zh-TW"/>
              <a:pPr/>
              <a:t>6</a:t>
            </a:fld>
            <a:endParaRPr kumimoji="0" lang="en-US" altLang="zh-TW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3FCC35E1-C1FC-7FB0-7935-4D14E9511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面對面訪問（二）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5C46F4C-7BC9-A1AB-E0B3-1C57CCACB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過去政府的人口普查是當地警察挨家挨戶訪問，因此資料最正確。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按照統計法第</a:t>
            </a:r>
            <a:r>
              <a:rPr lang="en-US" altLang="zh-TW" sz="2000" dirty="0"/>
              <a:t>14</a:t>
            </a:r>
            <a:r>
              <a:rPr lang="zh-TW" altLang="en-US" sz="2000" dirty="0"/>
              <a:t>條：辦理基本國勢調查及指定統計調查之人員，進行統計調查時，任何人不得規避、妨礙或拒絕。因此資料也有一定的正確程度。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目前政府每個月為了解勞動力，委託地方政府透過面訪、電訪、網路調查進行人力資源調查，調查結果都會上網公開，可以下載研究。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受訪者可以自行上網填報，也可以等訪員來家裡訪問。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545797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E5C0-15E4-0575-8F25-4A65D8A3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Number Placeholder 5">
            <a:extLst>
              <a:ext uri="{FF2B5EF4-FFF2-40B4-BE49-F238E27FC236}">
                <a16:creationId xmlns:a16="http://schemas.microsoft.com/office/drawing/2014/main" id="{7508BD5E-1EAF-2FAD-B612-6D9C9883D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38566E8-4B76-3043-BAF7-CA5C3B5A413B}" type="slidenum">
              <a:rPr kumimoji="0" lang="en-US" altLang="zh-TW"/>
              <a:pPr/>
              <a:t>7</a:t>
            </a:fld>
            <a:endParaRPr kumimoji="0" lang="en-US" altLang="zh-TW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25D28832-665C-B6E6-F65A-4443F23FF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面對面訪問（三）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1F6EB68-2EC5-635D-F8E8-F455785B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面對面訪問的優點是與受訪者面對面接觸，以最寬鬆的成功率定義，成功樣本數除以全部接觸到的樣本數，比起其他訪問方式來得高。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zh-TW" altLang="en-US" sz="2000" dirty="0"/>
              <a:t>例如，</a:t>
            </a:r>
            <a:r>
              <a:rPr lang="en-US" altLang="zh-TW" sz="2000" dirty="0"/>
              <a:t>TEDS</a:t>
            </a:r>
            <a:r>
              <a:rPr lang="zh-TW" altLang="en-US" sz="2000" dirty="0"/>
              <a:t> </a:t>
            </a:r>
            <a:r>
              <a:rPr lang="en-US" altLang="zh-TW" sz="2000" dirty="0"/>
              <a:t>2025</a:t>
            </a:r>
            <a:r>
              <a:rPr lang="zh-TW" altLang="en-US" sz="2000" dirty="0"/>
              <a:t>年進行的面訪，全部接觸樣本數是</a:t>
            </a:r>
            <a:r>
              <a:rPr lang="en-US" altLang="zh-TW" sz="2000" dirty="0"/>
              <a:t>47037</a:t>
            </a:r>
            <a:r>
              <a:rPr lang="zh-TW" altLang="en-US" sz="2000" dirty="0"/>
              <a:t>，成功樣本數是</a:t>
            </a:r>
            <a:r>
              <a:rPr lang="en-US" altLang="zh-TW" sz="2000" dirty="0"/>
              <a:t>2921</a:t>
            </a:r>
            <a:r>
              <a:rPr lang="zh-TW" altLang="en-US" sz="2000" dirty="0"/>
              <a:t>，成功率是</a:t>
            </a:r>
            <a:r>
              <a:rPr lang="en-US" altLang="zh-TW" sz="2000" dirty="0"/>
              <a:t>6.21%</a:t>
            </a:r>
            <a:r>
              <a:rPr lang="zh-TW" altLang="en-US" sz="2000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面對面訪問的另一個優點是訪問內容可以比較長，如果題目不是太困難回答，受訪者通常可以回答到</a:t>
            </a:r>
            <a:r>
              <a:rPr lang="en-US" altLang="zh-TW" sz="2000" dirty="0"/>
              <a:t>200</a:t>
            </a:r>
            <a:r>
              <a:rPr lang="zh-TW" altLang="en-US" sz="2000" dirty="0"/>
              <a:t>題。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此外，透過分層抽樣，可以有較好的樣本代表母體的程度。</a:t>
            </a:r>
          </a:p>
        </p:txBody>
      </p:sp>
    </p:spTree>
    <p:extLst>
      <p:ext uri="{BB962C8B-B14F-4D97-AF65-F5344CB8AC3E}">
        <p14:creationId xmlns:p14="http://schemas.microsoft.com/office/powerpoint/2010/main" val="7480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3C73-38E0-AE9C-9303-85F2E9F9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Slide Number Placeholder 5">
            <a:extLst>
              <a:ext uri="{FF2B5EF4-FFF2-40B4-BE49-F238E27FC236}">
                <a16:creationId xmlns:a16="http://schemas.microsoft.com/office/drawing/2014/main" id="{F06E05AD-5C76-ED3C-2AEF-3F468F7A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38566E8-4B76-3043-BAF7-CA5C3B5A413B}" type="slidenum">
              <a:rPr kumimoji="0" lang="en-US" altLang="zh-TW"/>
              <a:pPr/>
              <a:t>8</a:t>
            </a:fld>
            <a:endParaRPr kumimoji="0" lang="en-US" altLang="zh-TW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87174AF2-E306-6F6E-23D2-C00F0E981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面對面訪問（四）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8AE0E3C-CB2A-7365-7F29-B3D13B624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面訪的缺點是耗費龐大人力與時間。因為很多地址是空屋空戶、公司行號、或無合格受訪者，訪員必須一直尋找地址以及接觸受訪者。此外，大樓管理員可能阻擋訪員無法接觸受訪者。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訪的另一個缺點是無法現場監督訪問以及接觸過程，只能信任訪員的訪問技巧以及責任感。雖然我們可以事後打電話給受訪者確認訪員是否訪問到受訪者，但是我們無法一一確定訪員是否確實記錄受訪者的答案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目前面訪使用平板電腦訪問</a:t>
            </a:r>
            <a:r>
              <a:rPr lang="zh-TW" altLang="en-US" sz="2000"/>
              <a:t>，需要網路、硬體</a:t>
            </a:r>
            <a:r>
              <a:rPr lang="zh-TW" altLang="en-US" sz="2000" dirty="0"/>
              <a:t>以及軟體支援。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42681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Number Placeholder 4">
            <a:extLst>
              <a:ext uri="{FF2B5EF4-FFF2-40B4-BE49-F238E27FC236}">
                <a16:creationId xmlns:a16="http://schemas.microsoft.com/office/drawing/2014/main" id="{290C5886-A269-1BCA-0B3F-8F883405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8843660-ECF3-104C-9274-5A602B1EEE31}" type="slidenum">
              <a:rPr kumimoji="0" lang="en-US" altLang="zh-TW"/>
              <a:pPr/>
              <a:t>9</a:t>
            </a:fld>
            <a:endParaRPr kumimoji="0" lang="en-US" altLang="zh-TW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51823261-9677-3698-B723-11297E3F2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面訪流程（一）</a:t>
            </a:r>
          </a:p>
        </p:txBody>
      </p:sp>
      <p:sp>
        <p:nvSpPr>
          <p:cNvPr id="10243" name="Text Box 15">
            <a:extLst>
              <a:ext uri="{FF2B5EF4-FFF2-40B4-BE49-F238E27FC236}">
                <a16:creationId xmlns:a16="http://schemas.microsoft.com/office/drawing/2014/main" id="{8FE0CE65-4FD9-C13F-6065-7E1055159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349500"/>
            <a:ext cx="1439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研究設計、抽樣</a:t>
            </a:r>
          </a:p>
        </p:txBody>
      </p:sp>
      <p:sp>
        <p:nvSpPr>
          <p:cNvPr id="10244" name="Line 16">
            <a:extLst>
              <a:ext uri="{FF2B5EF4-FFF2-40B4-BE49-F238E27FC236}">
                <a16:creationId xmlns:a16="http://schemas.microsoft.com/office/drawing/2014/main" id="{693830C8-D562-DAA7-4E8D-61E0B2993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636838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45" name="Text Box 17">
            <a:extLst>
              <a:ext uri="{FF2B5EF4-FFF2-40B4-BE49-F238E27FC236}">
                <a16:creationId xmlns:a16="http://schemas.microsoft.com/office/drawing/2014/main" id="{ED67B201-53E4-FEE3-5314-E7BFCCF8B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420938"/>
            <a:ext cx="1295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10246" name="Text Box 18">
            <a:extLst>
              <a:ext uri="{FF2B5EF4-FFF2-40B4-BE49-F238E27FC236}">
                <a16:creationId xmlns:a16="http://schemas.microsoft.com/office/drawing/2014/main" id="{79895A54-2843-2576-69B3-EABD887CA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349500"/>
            <a:ext cx="1800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招募訓練督導及訪員</a:t>
            </a:r>
          </a:p>
        </p:txBody>
      </p:sp>
      <p:sp>
        <p:nvSpPr>
          <p:cNvPr id="10247" name="Line 20">
            <a:extLst>
              <a:ext uri="{FF2B5EF4-FFF2-40B4-BE49-F238E27FC236}">
                <a16:creationId xmlns:a16="http://schemas.microsoft.com/office/drawing/2014/main" id="{3DF83F64-81F1-37B6-D5F7-D7CF7C899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068638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48" name="Text Box 21">
            <a:extLst>
              <a:ext uri="{FF2B5EF4-FFF2-40B4-BE49-F238E27FC236}">
                <a16:creationId xmlns:a16="http://schemas.microsoft.com/office/drawing/2014/main" id="{9720B916-1FFB-F7E1-A20F-E9AC9320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3860800"/>
            <a:ext cx="1368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訪問成功後督導複查</a:t>
            </a:r>
          </a:p>
        </p:txBody>
      </p:sp>
      <p:sp>
        <p:nvSpPr>
          <p:cNvPr id="10249" name="Line 23">
            <a:extLst>
              <a:ext uri="{FF2B5EF4-FFF2-40B4-BE49-F238E27FC236}">
                <a16:creationId xmlns:a16="http://schemas.microsoft.com/office/drawing/2014/main" id="{C2254EFF-48FE-DCB3-585E-67AFE7A7F6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1775" y="3068638"/>
            <a:ext cx="64770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0" name="Line 24">
            <a:extLst>
              <a:ext uri="{FF2B5EF4-FFF2-40B4-BE49-F238E27FC236}">
                <a16:creationId xmlns:a16="http://schemas.microsoft.com/office/drawing/2014/main" id="{6B9784C1-800C-EE66-5E1E-21B52EEFC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924175"/>
            <a:ext cx="720725" cy="865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1" name="Text Box 25">
            <a:extLst>
              <a:ext uri="{FF2B5EF4-FFF2-40B4-BE49-F238E27FC236}">
                <a16:creationId xmlns:a16="http://schemas.microsoft.com/office/drawing/2014/main" id="{A4D487CB-7037-1499-42DA-3CE49B67E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933825"/>
            <a:ext cx="1584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未成功補問卷</a:t>
            </a:r>
          </a:p>
        </p:txBody>
      </p:sp>
      <p:sp>
        <p:nvSpPr>
          <p:cNvPr id="10252" name="Text Box 26">
            <a:extLst>
              <a:ext uri="{FF2B5EF4-FFF2-40B4-BE49-F238E27FC236}">
                <a16:creationId xmlns:a16="http://schemas.microsoft.com/office/drawing/2014/main" id="{9C1DA3EA-51B0-C18E-5330-6E95420F9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3860800"/>
            <a:ext cx="1295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每週開會</a:t>
            </a:r>
          </a:p>
          <a:p>
            <a:pPr eaLnBrk="1" hangingPunct="1">
              <a:spcBef>
                <a:spcPct val="50000"/>
              </a:spcBef>
            </a:pPr>
            <a:r>
              <a:rPr lang="zh-TW" altLang="en-US"/>
              <a:t>討論進度</a:t>
            </a:r>
          </a:p>
        </p:txBody>
      </p:sp>
      <p:sp>
        <p:nvSpPr>
          <p:cNvPr id="10253" name="Line 27">
            <a:extLst>
              <a:ext uri="{FF2B5EF4-FFF2-40B4-BE49-F238E27FC236}">
                <a16:creationId xmlns:a16="http://schemas.microsoft.com/office/drawing/2014/main" id="{8483D5A4-8F4D-80D4-7A5F-54FFC33FD8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2225" y="4221163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4" name="Line 28">
            <a:extLst>
              <a:ext uri="{FF2B5EF4-FFF2-40B4-BE49-F238E27FC236}">
                <a16:creationId xmlns:a16="http://schemas.microsoft.com/office/drawing/2014/main" id="{51956910-5C1D-77DC-A8F3-8BF8B005F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4581525"/>
            <a:ext cx="1008063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5" name="Line 29">
            <a:extLst>
              <a:ext uri="{FF2B5EF4-FFF2-40B4-BE49-F238E27FC236}">
                <a16:creationId xmlns:a16="http://schemas.microsoft.com/office/drawing/2014/main" id="{3A1C9423-EDDE-30F3-84B0-D8646C12D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27538" y="4292600"/>
            <a:ext cx="720725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0256" name="Text Box 30">
            <a:extLst>
              <a:ext uri="{FF2B5EF4-FFF2-40B4-BE49-F238E27FC236}">
                <a16:creationId xmlns:a16="http://schemas.microsoft.com/office/drawing/2014/main" id="{B1F48F02-5F12-A408-3959-6AC46B5E1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229225"/>
            <a:ext cx="24479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TW" altLang="en-US"/>
              <a:t>資料處理、發放薪資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Number Placeholder 5">
            <a:extLst>
              <a:ext uri="{FF2B5EF4-FFF2-40B4-BE49-F238E27FC236}">
                <a16:creationId xmlns:a16="http://schemas.microsoft.com/office/drawing/2014/main" id="{882DF1B2-42D9-DE7F-D4EF-32FC01B9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E428EFC1-B5ED-6B44-93F7-2AE0B3B23820}" type="slidenum">
              <a:rPr kumimoji="0" lang="en-US" altLang="zh-TW"/>
              <a:pPr/>
              <a:t>10</a:t>
            </a:fld>
            <a:endParaRPr kumimoji="0" lang="en-US" altLang="zh-TW"/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7760B1AB-9067-3BB6-6B63-0C13E29F9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面訪流程（二）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CECDA20-F547-4537-0632-ACB3DB379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面對面訪問應該準備問卷（平板電腦）、小禮物或者禮券、識別證、訪員手冊、公文、來訪未遇卡、問卷封面（平板電腦）等等。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訪員應該事先以國台語念熟問卷，熟悉跳題邏輯，並且準備好按照訪員手冊回答受訪者的問題。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訪員應該保管好平板電腦，除了這是屬於計畫的財產之外，因為裡面有受訪者的名單，有個資外洩的疑慮。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endParaRPr lang="zh-TW" altLang="en-US" sz="2000" dirty="0"/>
          </a:p>
          <a:p>
            <a:pPr eaLnBrk="1" hangingPunct="1">
              <a:buFont typeface="Wingdings" pitchFamily="2" charset="2"/>
              <a:buNone/>
            </a:pPr>
            <a:endParaRPr lang="zh-TW" altLang="en-US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Slide Number Placeholder 5">
            <a:extLst>
              <a:ext uri="{FF2B5EF4-FFF2-40B4-BE49-F238E27FC236}">
                <a16:creationId xmlns:a16="http://schemas.microsoft.com/office/drawing/2014/main" id="{4B1C793B-8B80-C3CE-CF49-E08772F2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C52B1A6A-76B3-8248-A661-E5D6C1503C8C}" type="slidenum">
              <a:rPr kumimoji="0" lang="en-US" altLang="zh-TW"/>
              <a:pPr/>
              <a:t>11</a:t>
            </a:fld>
            <a:endParaRPr kumimoji="0" lang="en-US" altLang="zh-TW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83D2B610-E3B4-354E-88A1-46F81DFFB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訪問結果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55ACD8C-EB6E-D63C-1655-A0CB31793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成功：致贈禮券、上傳訪問結果。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約時間再訪：於約定好的時間再度訪問。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無人在或訪問時間不在</a:t>
            </a:r>
            <a:r>
              <a:rPr lang="zh-TW" altLang="en-US" sz="2000" dirty="0">
                <a:sym typeface="Wingdings" pitchFamily="2" charset="2"/>
              </a:rPr>
              <a:t>記下接觸時間及住宅狀況補樣本：隔幾天之後再去看受訪者在不在。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sym typeface="Wingdings" pitchFamily="2" charset="2"/>
              </a:rPr>
              <a:t>遷出、死亡、改建、找不到地址等：回報給研究助理，下次刪掉這筆地址。</a:t>
            </a:r>
            <a:endParaRPr lang="zh-TW" altLang="en-US" sz="2000" dirty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Number Placeholder 5">
            <a:extLst>
              <a:ext uri="{FF2B5EF4-FFF2-40B4-BE49-F238E27FC236}">
                <a16:creationId xmlns:a16="http://schemas.microsoft.com/office/drawing/2014/main" id="{D7CCDD6B-E374-3FDA-6042-1E9A3F6A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0AB84CF3-CB0A-9742-9A80-34D75AE52E26}" type="slidenum">
              <a:rPr kumimoji="0" lang="en-US" altLang="zh-TW"/>
              <a:pPr/>
              <a:t>12</a:t>
            </a:fld>
            <a:endParaRPr kumimoji="0" lang="en-US" altLang="zh-TW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57D6A39F-F401-A558-1418-B11757185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面訪須遵守的事項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92E2824-4156-4F36-C52F-FF7C4868F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逐一詢問每一道問題</a:t>
            </a:r>
          </a:p>
          <a:p>
            <a:pPr eaLnBrk="1" hangingPunct="1"/>
            <a:r>
              <a:rPr lang="zh-TW" altLang="en-US"/>
              <a:t>依照問卷念題目</a:t>
            </a:r>
            <a:r>
              <a:rPr lang="en-US" altLang="zh-TW"/>
              <a:t>(</a:t>
            </a:r>
            <a:r>
              <a:rPr lang="zh-TW" altLang="en-US"/>
              <a:t>必要時可重唸問句</a:t>
            </a:r>
            <a:r>
              <a:rPr lang="en-US" altLang="zh-TW"/>
              <a:t>)</a:t>
            </a:r>
          </a:p>
          <a:p>
            <a:pPr eaLnBrk="1" hangingPunct="1"/>
            <a:r>
              <a:rPr lang="zh-TW" altLang="en-US"/>
              <a:t>保持中立立場</a:t>
            </a:r>
          </a:p>
          <a:p>
            <a:pPr eaLnBrk="1" hangingPunct="1"/>
            <a:r>
              <a:rPr lang="zh-TW" altLang="en-US"/>
              <a:t>單獨訪問不記錄他人意見</a:t>
            </a:r>
          </a:p>
          <a:p>
            <a:pPr eaLnBrk="1" hangingPunct="1"/>
            <a:r>
              <a:rPr lang="zh-TW" altLang="en-US"/>
              <a:t>尊重受訪者的意見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7BEA31CB-C9BE-D82D-8AA7-657DCB93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0C7E345E-AA34-B443-A394-7A79B776E052}" type="slidenum">
              <a:rPr kumimoji="0" lang="en-US" altLang="zh-TW"/>
              <a:pPr/>
              <a:t>13</a:t>
            </a:fld>
            <a:endParaRPr kumimoji="0" lang="en-US" altLang="zh-TW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284D307-4532-8572-AEBF-7108DBEF6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訪員常遇的問題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C8B3768-9245-F206-7910-3A7EFF231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為何要選我</a:t>
            </a:r>
            <a:r>
              <a:rPr lang="en-US" altLang="zh-TW" dirty="0"/>
              <a:t>?</a:t>
            </a:r>
          </a:p>
          <a:p>
            <a:pPr eaLnBrk="1" hangingPunct="1"/>
            <a:r>
              <a:rPr lang="zh-TW" altLang="en-US" dirty="0"/>
              <a:t>我不感興趣</a:t>
            </a:r>
            <a:endParaRPr lang="en-US" altLang="zh-TW" dirty="0"/>
          </a:p>
          <a:p>
            <a:pPr eaLnBrk="1" hangingPunct="1"/>
            <a:r>
              <a:rPr lang="zh-TW" altLang="en-US" dirty="0"/>
              <a:t>我很忙</a:t>
            </a:r>
          </a:p>
          <a:p>
            <a:pPr eaLnBrk="1" hangingPunct="1"/>
            <a:r>
              <a:rPr lang="zh-TW" altLang="en-US" dirty="0"/>
              <a:t>我對這些事都不知道</a:t>
            </a:r>
            <a:endParaRPr lang="en-US" altLang="zh-TW" dirty="0"/>
          </a:p>
          <a:p>
            <a:pPr eaLnBrk="1" hangingPunct="1"/>
            <a:r>
              <a:rPr lang="zh-TW" altLang="en-US" dirty="0"/>
              <a:t>你們是詐騙集團？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C49DFB22-1E33-DF25-7EF2-F2EFFE52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F350AAC4-799C-7247-BEF3-42FBE33B30AB}" type="slidenum">
              <a:rPr kumimoji="0" lang="en-US" altLang="zh-TW"/>
              <a:pPr/>
              <a:t>14</a:t>
            </a:fld>
            <a:endParaRPr kumimoji="0" lang="en-US" altLang="zh-TW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8B8850A-D8C9-75B3-A5B5-597DA34FA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電話訪問（一）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591A38B-B7BB-3483-5745-6B44AB820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訪員透過電腦撥號，用市話或者手機接觸並訪問受訪者，一問一答完成調查。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一般稱電訪為</a:t>
            </a:r>
            <a:r>
              <a:rPr lang="en-US" altLang="zh-TW" sz="2000" dirty="0"/>
              <a:t>Computer Assisted Telephone Interview (CATI)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廣為市場調查、學術界（政治、傳播、社會</a:t>
            </a:r>
            <a:r>
              <a:rPr lang="en-US" altLang="zh-TW" sz="2000" dirty="0"/>
              <a:t>…</a:t>
            </a:r>
            <a:r>
              <a:rPr lang="zh-TW" altLang="en-US" sz="2000" dirty="0"/>
              <a:t>）、政府、政黨、媒體、社會團體等等採用，以了解民眾的行為或者態度。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通常成功率約為</a:t>
            </a:r>
            <a:r>
              <a:rPr lang="en-US" altLang="zh-TW" sz="2000" dirty="0"/>
              <a:t>1%</a:t>
            </a:r>
            <a:r>
              <a:rPr lang="zh-TW" altLang="en-US" sz="2000" dirty="0"/>
              <a:t>。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F9F0-D117-5FD3-2725-05366A6B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FD9C8C1D-CD7E-CEDA-B012-5082A020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F350AAC4-799C-7247-BEF3-42FBE33B30AB}" type="slidenum">
              <a:rPr kumimoji="0" lang="en-US" altLang="zh-TW"/>
              <a:pPr/>
              <a:t>15</a:t>
            </a:fld>
            <a:endParaRPr kumimoji="0" lang="en-US" altLang="zh-TW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C268E1F1-5626-FC55-55BF-D988B9CF3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電話訪問（二）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9B278BD-2671-5932-621C-FC9FD1E50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訪問時間短：問題題數在</a:t>
            </a:r>
            <a:r>
              <a:rPr lang="en-US" altLang="zh-TW" sz="2000" dirty="0"/>
              <a:t>40</a:t>
            </a:r>
            <a:r>
              <a:rPr lang="zh-TW" altLang="en-US" sz="2000" dirty="0"/>
              <a:t>題以內，在</a:t>
            </a:r>
            <a:r>
              <a:rPr lang="en-US" altLang="zh-TW" sz="2000" dirty="0"/>
              <a:t>15</a:t>
            </a:r>
            <a:r>
              <a:rPr lang="zh-TW" altLang="en-US" sz="2000" dirty="0"/>
              <a:t>分鐘之內完成，以免受訪者感到不耐煩。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訪問成本低：訪員不需要出門接觸受訪者，只需要招募訪員到電訪中心即可進行調查。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樣本取得易：從電話號碼簿抽出市話，或者取得電信業者釋出的「局碼」，經過尾數隨機之後製成樣本。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監督訪員易：透過監看監聽設備，確定訪員按照標準化流程進行訪問，而且可以錄音確定訪問品質。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受訪者不需與訪員互動，避免互相影響。</a:t>
            </a:r>
          </a:p>
        </p:txBody>
      </p:sp>
    </p:spTree>
    <p:extLst>
      <p:ext uri="{BB962C8B-B14F-4D97-AF65-F5344CB8AC3E}">
        <p14:creationId xmlns:p14="http://schemas.microsoft.com/office/powerpoint/2010/main" val="2555736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C49DFB22-1E33-DF25-7EF2-F2EFFE52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F350AAC4-799C-7247-BEF3-42FBE33B30AB}" type="slidenum">
              <a:rPr kumimoji="0" lang="en-US" altLang="zh-TW"/>
              <a:pPr/>
              <a:t>16</a:t>
            </a:fld>
            <a:endParaRPr kumimoji="0" lang="en-US" altLang="zh-TW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8B8850A-D8C9-75B3-A5B5-597DA34FAD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電話訪問（三）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591A38B-B7BB-3483-5745-6B44AB820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缺點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樣本代表性差：無法像面訪可以事先確定樣本所在的都市化程度，而且更換樣本是在同一個村里。電訪只能根據電話號碼簿抽樣，樣本代表性較不理想。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看不到受訪情境：僅能用聲音與受訪者互動，看不到對方表情，也有可能中斷。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訪問內容短：一般電話很難超過</a:t>
            </a:r>
            <a:r>
              <a:rPr lang="en-US" altLang="zh-TW" sz="2000" dirty="0"/>
              <a:t>20</a:t>
            </a:r>
            <a:r>
              <a:rPr lang="zh-TW" altLang="en-US" sz="2000" dirty="0"/>
              <a:t>分鐘，因此題目設計以</a:t>
            </a:r>
            <a:r>
              <a:rPr lang="en-US" altLang="zh-TW" sz="2000" dirty="0"/>
              <a:t>15</a:t>
            </a:r>
            <a:r>
              <a:rPr lang="zh-TW" altLang="en-US" sz="2000" dirty="0"/>
              <a:t>分鐘內結束為原則。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634570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E2C6-D537-B5EC-E708-BE6DE78D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2F312D85-E8F8-93E7-6AF5-4CA6FCF6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F350AAC4-799C-7247-BEF3-42FBE33B30AB}" type="slidenum">
              <a:rPr kumimoji="0" lang="en-US" altLang="zh-TW"/>
              <a:pPr/>
              <a:t>17</a:t>
            </a:fld>
            <a:endParaRPr kumimoji="0" lang="en-US" altLang="zh-TW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F5AD91FC-4EFC-E248-5520-2A9304771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電話訪問（四）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B03D3FC-C7C8-36F0-513A-74FE77514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缺點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輔助器材無：受限於電話，很難像網路調查一樣，進行準實驗設計，例如在唸一段文字或者看一段影片前後，詢問受訪者的態度，以了解受訪者的態度有無改變。也很難進行真正的實驗設計，例如聯合分析</a:t>
            </a:r>
            <a:r>
              <a:rPr lang="en-US" altLang="zh-TW" sz="2000" dirty="0"/>
              <a:t>(Conjoint analysis)</a:t>
            </a:r>
            <a:r>
              <a:rPr lang="zh-TW" altLang="en-US" sz="2000" dirty="0"/>
              <a:t>、列項實驗等等。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無訪問誘因：無法像網路調查或者面訪提供受訪者誘因，純粹依賴受訪者的配合及訪員的說服。</a:t>
            </a:r>
          </a:p>
        </p:txBody>
      </p:sp>
    </p:spTree>
    <p:extLst>
      <p:ext uri="{BB962C8B-B14F-4D97-AF65-F5344CB8AC3E}">
        <p14:creationId xmlns:p14="http://schemas.microsoft.com/office/powerpoint/2010/main" val="1278816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B4A9A85-28F9-8D76-0816-F5B9FBBD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住宅電話樣本來源（一）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B82FCF-8B36-3C03-5DC6-04B526644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以電話簿進行等距抽樣，人口數越多的縣市，中選的樣本數越多。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抽出號碼後尾數加一或減一或隨機處理。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亦可根據過去訪問成功的號碼中的局碼，抽出後再加上後四碼隨機，降低空號率。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目前全國家戶數約</a:t>
            </a:r>
            <a:r>
              <a:rPr lang="en-US" altLang="zh-TW" sz="2000" dirty="0"/>
              <a:t>950</a:t>
            </a:r>
            <a:r>
              <a:rPr lang="zh-TW" altLang="en-US" sz="2000" dirty="0"/>
              <a:t>萬</a:t>
            </a:r>
            <a:r>
              <a:rPr lang="zh-TW" altLang="zh-TW" sz="2000" dirty="0"/>
              <a:t>，</a:t>
            </a:r>
            <a:r>
              <a:rPr lang="zh-TW" altLang="en-US" sz="2000" dirty="0"/>
              <a:t>中華電信電話號碼簿裡面的家戶數約</a:t>
            </a:r>
            <a:r>
              <a:rPr lang="en-US" altLang="zh-TW" sz="2000" dirty="0"/>
              <a:t>420</a:t>
            </a:r>
            <a:r>
              <a:rPr lang="zh-TW" altLang="en-US" sz="2000" dirty="0"/>
              <a:t>萬</a:t>
            </a:r>
            <a:r>
              <a:rPr lang="zh-TW" altLang="zh-TW" sz="2000" dirty="0"/>
              <a:t>，</a:t>
            </a:r>
            <a:r>
              <a:rPr lang="zh-TW" altLang="en-US" sz="2000" dirty="0"/>
              <a:t>所以只有一半的人的電話登記在電話號碼簿。家用電話涵蓋率約</a:t>
            </a:r>
            <a:r>
              <a:rPr lang="en-US" altLang="zh-TW" sz="2000" dirty="0"/>
              <a:t>65%</a:t>
            </a:r>
            <a:r>
              <a:rPr lang="zh-TW" altLang="en-US" sz="2000" dirty="0"/>
              <a:t>～</a:t>
            </a:r>
            <a:r>
              <a:rPr lang="en-US" altLang="zh-TW" sz="2000" dirty="0"/>
              <a:t>75%</a:t>
            </a:r>
            <a:r>
              <a:rPr lang="zh-TW" altLang="en-US" sz="2000" dirty="0"/>
              <a:t>，家戶住宅電話的普及率是 </a:t>
            </a:r>
            <a:r>
              <a:rPr lang="en-US" altLang="zh-TW" sz="2000" dirty="0"/>
              <a:t>96.06%</a:t>
            </a:r>
            <a:r>
              <a:rPr lang="zh-TW" altLang="en-US" sz="1800" dirty="0">
                <a:latin typeface="ARMingB5"/>
              </a:rPr>
              <a:t>。</a:t>
            </a:r>
            <a:r>
              <a:rPr lang="zh-TW" altLang="en-US" sz="2000" dirty="0">
                <a:latin typeface="ARMingB5"/>
              </a:rPr>
              <a:t>家戶內擁有手機者有 </a:t>
            </a:r>
            <a:r>
              <a:rPr lang="en-US" altLang="zh-TW" sz="2000" dirty="0">
                <a:latin typeface="ARMingB5"/>
              </a:rPr>
              <a:t>91.70%</a:t>
            </a:r>
            <a:r>
              <a:rPr lang="zh-TW" altLang="en-US" sz="2000" dirty="0">
                <a:latin typeface="ARMingB5"/>
              </a:rPr>
              <a:t>。因此，有必要考慮加入手機樣本。</a:t>
            </a:r>
            <a:endParaRPr lang="en-US" altLang="zh-TW" sz="2000" dirty="0"/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8AABD6-B71F-47DD-29F8-5435C46D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1227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B4A9A85-28F9-8D76-0816-F5B9FBBD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住宅電話樣本來源（二）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BB82FCF-8B36-3C03-5DC6-04B526644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實務上，因為民調公司會累積許多接觸過的電話號碼，就會知道哪些號碼可能落在哪些地區。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例如在過去</a:t>
            </a:r>
            <a:r>
              <a:rPr lang="en-US" altLang="zh-TW" sz="2000" dirty="0"/>
              <a:t>5</a:t>
            </a:r>
            <a:r>
              <a:rPr lang="zh-TW" altLang="en-US" sz="2000" dirty="0"/>
              <a:t>萬個號碼中，其中有</a:t>
            </a:r>
            <a:r>
              <a:rPr lang="en-US" altLang="zh-TW" sz="2000" dirty="0"/>
              <a:t>1</a:t>
            </a:r>
            <a:r>
              <a:rPr lang="zh-TW" altLang="en-US" sz="2000" dirty="0"/>
              <a:t>萬</a:t>
            </a:r>
            <a:r>
              <a:rPr lang="en-US" altLang="zh-TW" sz="2000" dirty="0"/>
              <a:t>5</a:t>
            </a:r>
            <a:r>
              <a:rPr lang="zh-TW" altLang="en-US" sz="2000" dirty="0"/>
              <a:t>千通是來自</a:t>
            </a:r>
            <a:r>
              <a:rPr lang="en-US" altLang="zh-TW" sz="2000" dirty="0"/>
              <a:t>10</a:t>
            </a:r>
            <a:r>
              <a:rPr lang="zh-TW" altLang="en-US" sz="2000" dirty="0"/>
              <a:t>組前面的號碼</a:t>
            </a:r>
            <a:r>
              <a:rPr lang="en-US" altLang="zh-TW" sz="2000" dirty="0"/>
              <a:t>(2434, ….2423)</a:t>
            </a:r>
            <a:r>
              <a:rPr lang="zh-TW" altLang="en-US" sz="2000" dirty="0"/>
              <a:t>，而在這</a:t>
            </a:r>
            <a:r>
              <a:rPr lang="en-US" altLang="zh-TW" sz="2000" dirty="0"/>
              <a:t>1</a:t>
            </a:r>
            <a:r>
              <a:rPr lang="zh-TW" altLang="en-US" sz="2000" dirty="0"/>
              <a:t>萬</a:t>
            </a:r>
            <a:r>
              <a:rPr lang="en-US" altLang="zh-TW" sz="2000" dirty="0"/>
              <a:t>5</a:t>
            </a:r>
            <a:r>
              <a:rPr lang="zh-TW" altLang="en-US" sz="2000" dirty="0"/>
              <a:t>千通裡面，又有</a:t>
            </a:r>
            <a:r>
              <a:rPr lang="en-US" altLang="zh-TW" sz="2000" dirty="0"/>
              <a:t>8</a:t>
            </a:r>
            <a:r>
              <a:rPr lang="zh-TW" altLang="en-US" sz="2000" dirty="0"/>
              <a:t>千多通的受訪者說他們住在基隆市某某區。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根據這些資訊，如果我們要訪問這一個區的民眾，可以從過去這</a:t>
            </a:r>
            <a:r>
              <a:rPr lang="en-US" altLang="zh-TW" sz="2000" dirty="0"/>
              <a:t>10</a:t>
            </a:r>
            <a:r>
              <a:rPr lang="zh-TW" altLang="en-US" sz="2000" dirty="0"/>
              <a:t>組號碼落在某某區的的比例分配樣本，例如</a:t>
            </a:r>
            <a:r>
              <a:rPr lang="en-US" altLang="zh-TW" sz="2000" dirty="0"/>
              <a:t>2434</a:t>
            </a:r>
            <a:r>
              <a:rPr lang="zh-TW" altLang="en-US" sz="2000" dirty="0"/>
              <a:t>分配到</a:t>
            </a:r>
            <a:r>
              <a:rPr lang="en-US" altLang="zh-TW" sz="2000" dirty="0"/>
              <a:t>10%</a:t>
            </a:r>
            <a:r>
              <a:rPr lang="zh-TW" altLang="en-US" sz="2000" dirty="0"/>
              <a:t>的樣本，</a:t>
            </a:r>
            <a:r>
              <a:rPr lang="en-US" altLang="zh-TW" sz="2000" dirty="0"/>
              <a:t>2432</a:t>
            </a:r>
            <a:r>
              <a:rPr lang="zh-TW" altLang="en-US" sz="2000" dirty="0"/>
              <a:t>分到</a:t>
            </a:r>
            <a:r>
              <a:rPr lang="en-US" altLang="zh-TW" sz="2000" dirty="0"/>
              <a:t>8%</a:t>
            </a:r>
            <a:r>
              <a:rPr lang="zh-TW" altLang="en-US" sz="2000" dirty="0"/>
              <a:t>，以此類推。</a:t>
            </a:r>
            <a:endParaRPr lang="en-US" altLang="zh-TW" sz="20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B8AABD6-B71F-47DD-29F8-5435C46D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1118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0001-6CF1-CD71-EA09-8CED0D2F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17AE924-B064-E29B-89DA-CD243F5E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行動電話樣本來源（一）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02B71B-EF1E-3B67-74D0-ADE8E29E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採簡單隨機抽樣法，依國家通訊傳播委員會</a:t>
            </a:r>
            <a:r>
              <a:rPr lang="en-US" altLang="zh-TW" sz="2000" dirty="0"/>
              <a:t>(</a:t>
            </a:r>
            <a:r>
              <a:rPr lang="en" altLang="zh-TW" sz="2000" dirty="0"/>
              <a:t>NCC)</a:t>
            </a:r>
            <a:r>
              <a:rPr lang="zh-TW" altLang="en" sz="2000" dirty="0"/>
              <a:t>「</a:t>
            </a:r>
            <a:r>
              <a:rPr lang="zh-TW" altLang="en-US" sz="2000" dirty="0"/>
              <a:t>行動通信網路業務用戶號碼核配資料」抽出行動電話前 </a:t>
            </a:r>
            <a:r>
              <a:rPr lang="en-US" altLang="zh-TW" sz="2000" dirty="0"/>
              <a:t>5 </a:t>
            </a:r>
            <a:r>
              <a:rPr lang="zh-TW" altLang="en-US" sz="2000" dirty="0"/>
              <a:t>碼，再隨機撥號後 </a:t>
            </a:r>
            <a:r>
              <a:rPr lang="en-US" altLang="zh-TW" sz="2000" dirty="0"/>
              <a:t>5 </a:t>
            </a:r>
            <a:r>
              <a:rPr lang="zh-TW" altLang="en-US" sz="2000" dirty="0"/>
              <a:t>碼。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ARMingB5"/>
              </a:rPr>
              <a:t>為了在行動電話樣本中區分「唯手機族」，有的訪問單位會刻意在訪問一開始問是不是會用住宅電話接電話？如果是的話就不繼續訪問。</a:t>
            </a: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ARMingB5"/>
              </a:rPr>
              <a:t>唯手機族的比例的高低影響是否要結合唯手機族以及住宅電話（非唯手機族）的樣本。洪永泰等學者</a:t>
            </a:r>
            <a:r>
              <a:rPr lang="en-US" altLang="zh-TW" sz="2000" dirty="0">
                <a:latin typeface="ARMingB5"/>
              </a:rPr>
              <a:t>(2014)</a:t>
            </a:r>
            <a:r>
              <a:rPr lang="zh-TW" altLang="en-US" sz="2000" dirty="0">
                <a:latin typeface="ARMingB5"/>
              </a:rPr>
              <a:t>根據電訪推算是</a:t>
            </a:r>
            <a:r>
              <a:rPr lang="en-US" altLang="zh-TW" sz="2000" dirty="0">
                <a:latin typeface="ARMingB5"/>
              </a:rPr>
              <a:t>9%</a:t>
            </a:r>
            <a:r>
              <a:rPr lang="zh-TW" altLang="en-US" sz="2000" dirty="0">
                <a:latin typeface="ARMingB5"/>
              </a:rPr>
              <a:t>。</a:t>
            </a: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67B9EBD-F725-9649-CCE6-E74EBEA7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9338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8A477F0C-B52D-8ED5-2F02-AB9FEBFD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708CBF8C-C7E9-5B48-A5EB-B1FD8294A880}" type="slidenum">
              <a:rPr kumimoji="0" lang="en-US" altLang="zh-TW"/>
              <a:pPr/>
              <a:t>21</a:t>
            </a:fld>
            <a:endParaRPr kumimoji="0" lang="en-US" altLang="zh-TW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8FEA5A7B-BED0-78EA-D330-D1169E927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市話樣本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4CC624-0F85-C2AA-CF82-05D48D7AA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TW" dirty="0"/>
          </a:p>
          <a:p>
            <a:pPr eaLnBrk="1" hangingPunct="1"/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E618A48-ECA6-6913-0643-0F4F851C6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866767"/>
            <a:ext cx="7772400" cy="575733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B2E731B-A769-1B7B-F24F-E694A774ABB8}"/>
              </a:ext>
            </a:extLst>
          </p:cNvPr>
          <p:cNvSpPr txBox="1"/>
          <p:nvPr/>
        </p:nvSpPr>
        <p:spPr>
          <a:xfrm>
            <a:off x="2286000" y="4940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>
                <a:effectLst/>
                <a:latin typeface="Cambria" panose="02040503050406030204" pitchFamily="18" charset="0"/>
              </a:rPr>
              <a:t>111 </a:t>
            </a:r>
            <a:r>
              <a:rPr lang="zh-TW" altLang="en-US" sz="1800" dirty="0">
                <a:effectLst/>
                <a:latin typeface="MingLiU" panose="02020509000000000000" pitchFamily="49" charset="-120"/>
                <a:ea typeface="MingLiU" panose="02020509000000000000" pitchFamily="49" charset="-120"/>
              </a:rPr>
              <a:t>年民眾日常使用運具狀況簡析 </a:t>
            </a:r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0001-6CF1-CD71-EA09-8CED0D2F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17AE924-B064-E29B-89DA-CD243F5E2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行動電話樣本來源（二）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02B71B-EF1E-3B67-74D0-ADE8E29E0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ARMingB5"/>
              </a:rPr>
              <a:t>如果唯手機族佔了一定的比例，而且唯手機族可能有特別不同於其他人的特徵或者態度，為了在樣本中反映這樣的母體結構，需要考慮雙底冊加權。</a:t>
            </a: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ARMingB5"/>
              </a:rPr>
              <a:t>學者建議在兩種底冊調查資料的合併前或合併後，以母體資料進行加權，調整最終的樣本結構（廖培珊等，</a:t>
            </a:r>
            <a:r>
              <a:rPr lang="en-US" altLang="zh-TW" sz="2000" dirty="0">
                <a:latin typeface="ARMingB5"/>
              </a:rPr>
              <a:t>2023</a:t>
            </a:r>
            <a:r>
              <a:rPr lang="zh-TW" altLang="en-US" sz="2000" dirty="0">
                <a:latin typeface="ARMingB5"/>
              </a:rPr>
              <a:t>）。唯手機的樣本以及住宅電話樣本各佔</a:t>
            </a:r>
            <a:r>
              <a:rPr lang="en-US" altLang="zh-TW" sz="2000" dirty="0">
                <a:latin typeface="ARMingB5"/>
              </a:rPr>
              <a:t>25%</a:t>
            </a:r>
            <a:r>
              <a:rPr lang="zh-TW" altLang="en-US" sz="2000" dirty="0">
                <a:latin typeface="ARMingB5"/>
              </a:rPr>
              <a:t>與</a:t>
            </a:r>
            <a:r>
              <a:rPr lang="en-US" altLang="zh-TW" sz="2000" dirty="0">
                <a:latin typeface="ARMingB5"/>
              </a:rPr>
              <a:t>75%</a:t>
            </a:r>
            <a:r>
              <a:rPr lang="zh-TW" altLang="en-US" sz="2000" dirty="0">
                <a:latin typeface="ARMingB5"/>
              </a:rPr>
              <a:t>。加權後合併成為新的樣本。</a:t>
            </a: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>
                <a:latin typeface="ARMingB5"/>
              </a:rPr>
              <a:t>合併前的加權可能要注意有些細格可能人數很少，例如在手機樣本中，高齡且低教育程度的受訪者可能很少。</a:t>
            </a: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000" dirty="0">
              <a:latin typeface="ARMingB5"/>
            </a:endParaRPr>
          </a:p>
          <a:p>
            <a:pPr eaLnBrk="1" hangingPunct="1">
              <a:lnSpc>
                <a:spcPct val="150000"/>
              </a:lnSpc>
            </a:pPr>
            <a:endParaRPr lang="en-US" altLang="zh-TW" sz="2000" dirty="0"/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67B9EBD-F725-9649-CCE6-E74EBEA7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6581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3D567301-AFCF-EFC5-70BC-693D1E27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38655592-82A5-6B4B-B713-D8925699FB8A}" type="slidenum">
              <a:rPr kumimoji="0" lang="en-US" altLang="zh-TW"/>
              <a:pPr/>
              <a:t>23</a:t>
            </a:fld>
            <a:endParaRPr kumimoji="0" lang="en-US" altLang="zh-TW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449E54C-EB78-72B6-67DF-E8DDDD6C0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電話訪問之戶中抽樣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37808E6-4453-5BEA-D907-615416D1E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問接電話的人家中有幾個成年男性或女性，依照電話號碼尾數決定中選者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確保受訪者在年齡、性別的代表性。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通常加重年輕人中選機率，希望能提高年輕人的樣本比例。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值得考慮的是：是否會因戶中抽樣太困難而扭曲樣本結構？目前平均一戶裡面只有</a:t>
            </a:r>
            <a:r>
              <a:rPr lang="en-US" altLang="zh-TW" sz="2000" dirty="0"/>
              <a:t>2</a:t>
            </a:r>
            <a:r>
              <a:rPr lang="zh-TW" altLang="en-US" sz="2000" dirty="0"/>
              <a:t>人，是否還需要戶中抽樣？手機調查是以「個人」為受訪對象，不再做戶中抽樣。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0107E391-777E-8AB7-2315-D6421FAE9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23ED8058-7A1C-7845-AA5D-F8028F880DD4}" type="slidenum">
              <a:rPr kumimoji="0" lang="en-US" altLang="zh-TW"/>
              <a:pPr/>
              <a:t>24</a:t>
            </a:fld>
            <a:endParaRPr kumimoji="0" lang="en-US" altLang="zh-TW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59AF7D21-2745-CED8-1D9D-B7C3A4C18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電話訪問之注意事項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BD945FB-A75D-BC2C-0641-13B2A3806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逐一詢問每一道問題</a:t>
            </a:r>
          </a:p>
          <a:p>
            <a:pPr eaLnBrk="1" hangingPunct="1"/>
            <a:r>
              <a:rPr lang="zh-TW" altLang="en-US"/>
              <a:t>依照問卷念題目</a:t>
            </a:r>
            <a:r>
              <a:rPr lang="en-US" altLang="zh-TW"/>
              <a:t>(</a:t>
            </a:r>
            <a:r>
              <a:rPr lang="zh-TW" altLang="en-US"/>
              <a:t>必要時可重唸問句</a:t>
            </a:r>
            <a:r>
              <a:rPr lang="en-US" altLang="zh-TW"/>
              <a:t>)</a:t>
            </a:r>
          </a:p>
          <a:p>
            <a:pPr eaLnBrk="1" hangingPunct="1"/>
            <a:r>
              <a:rPr lang="zh-TW" altLang="en-US"/>
              <a:t>保持中立立場</a:t>
            </a:r>
          </a:p>
          <a:p>
            <a:pPr eaLnBrk="1" hangingPunct="1"/>
            <a:r>
              <a:rPr lang="zh-TW" altLang="en-US"/>
              <a:t>尊重受訪者的意見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0AC404F2-8E31-87EC-F4EE-990FCFC6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511B8635-DCE6-2B44-8E6E-77319A34FE88}" type="slidenum">
              <a:rPr kumimoji="0" lang="en-US" altLang="zh-TW"/>
              <a:pPr/>
              <a:t>25</a:t>
            </a:fld>
            <a:endParaRPr kumimoji="0" lang="en-US" altLang="zh-TW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4A1DEC65-7EA4-2BBA-2914-4AA1F827E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電話訪問之技巧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66B3B46-006D-A44E-3D80-EE2EA088DC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口語清晰，自然從容</a:t>
            </a:r>
          </a:p>
          <a:p>
            <a:pPr eaLnBrk="1" hangingPunct="1"/>
            <a:r>
              <a:rPr lang="zh-TW" altLang="en-US"/>
              <a:t>自信十足，不怕被拒</a:t>
            </a:r>
          </a:p>
          <a:p>
            <a:pPr eaLnBrk="1" hangingPunct="1"/>
            <a:r>
              <a:rPr lang="zh-TW" altLang="en-US"/>
              <a:t>熟記問卷，掌握節奏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4">
            <a:extLst>
              <a:ext uri="{FF2B5EF4-FFF2-40B4-BE49-F238E27FC236}">
                <a16:creationId xmlns:a16="http://schemas.microsoft.com/office/drawing/2014/main" id="{E89256BB-72F1-9C02-7630-5A58CC1F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AB4A52FE-C544-9F46-A3E8-9D449F519F46}" type="slidenum">
              <a:rPr kumimoji="0" lang="en-US" altLang="zh-TW"/>
              <a:pPr/>
              <a:t>26</a:t>
            </a:fld>
            <a:endParaRPr kumimoji="0" lang="en-US" altLang="zh-TW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A701B6FF-AF1D-0B6D-BE7A-C38D7DEF8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電話訪問結果</a:t>
            </a:r>
          </a:p>
        </p:txBody>
      </p:sp>
      <p:graphicFrame>
        <p:nvGraphicFramePr>
          <p:cNvPr id="100394" name="Group 42">
            <a:extLst>
              <a:ext uri="{FF2B5EF4-FFF2-40B4-BE49-F238E27FC236}">
                <a16:creationId xmlns:a16="http://schemas.microsoft.com/office/drawing/2014/main" id="{522F4D83-47C8-7896-2703-035EDC29B810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685800" y="1981200"/>
          <a:ext cx="7620000" cy="4475165"/>
        </p:xfrm>
        <a:graphic>
          <a:graphicData uri="http://schemas.openxmlformats.org/drawingml/2006/table">
            <a:tbl>
              <a:tblPr/>
              <a:tblGrid>
                <a:gridCol w="165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02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Date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4.23-25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11.25-27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9.15-17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2007.4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95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成功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1083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1102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1068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1072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接觸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2843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3849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3519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3168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無法接觸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6990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8112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5461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6812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全部撥出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9833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11961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8980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9980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4">
            <a:extLst>
              <a:ext uri="{FF2B5EF4-FFF2-40B4-BE49-F238E27FC236}">
                <a16:creationId xmlns:a16="http://schemas.microsoft.com/office/drawing/2014/main" id="{E817C2CB-EB2A-9376-4257-9BC6D4AD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6EB56BAE-A93B-AD49-88AD-82BB8476F34B}" type="slidenum">
              <a:rPr kumimoji="0" lang="en-US" altLang="zh-TW"/>
              <a:pPr/>
              <a:t>27</a:t>
            </a:fld>
            <a:endParaRPr kumimoji="0" lang="en-US" altLang="zh-TW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653E648-EBB8-54D9-72F3-96AF8BB00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面對面訪問結果</a:t>
            </a:r>
          </a:p>
        </p:txBody>
      </p:sp>
      <p:graphicFrame>
        <p:nvGraphicFramePr>
          <p:cNvPr id="101441" name="Group 65">
            <a:extLst>
              <a:ext uri="{FF2B5EF4-FFF2-40B4-BE49-F238E27FC236}">
                <a16:creationId xmlns:a16="http://schemas.microsoft.com/office/drawing/2014/main" id="{DB1C48EC-1CA2-149E-BC1D-3C533FD3656F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685800" y="1981200"/>
          <a:ext cx="6981825" cy="3657600"/>
        </p:xfrm>
        <a:graphic>
          <a:graphicData uri="http://schemas.openxmlformats.org/drawingml/2006/table">
            <a:tbl>
              <a:tblPr/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33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Year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2004P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2004L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2008P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成功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2022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(35.5)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1164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(29.9)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1823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(27.2)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2510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(32.1)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1905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(31.85)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拒訪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732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1303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1198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1321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樣本數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5700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3893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6698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7811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5981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5B11C322-FCF9-F2D6-CE2E-A73A743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93E5983-0E87-8B43-A764-0D21AA3FC0AE}" type="slidenum">
              <a:rPr kumimoji="0" lang="en-US" altLang="zh-TW"/>
              <a:pPr/>
              <a:t>28</a:t>
            </a:fld>
            <a:endParaRPr kumimoji="0" lang="en-US" altLang="zh-TW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37C016-D408-BCDB-9A50-468090947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網路調查（一）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F135-C972-6C65-C5AF-1ACA11310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TW" altLang="en-US" sz="2000" dirty="0"/>
              <a:t>網路調查有許多形式，但是廣為學術界使用的是透過各種方式招募一般民眾，然後發送連結給合格的受訪者填寫問卷。有些網站放上許多問卷給使用者長期填寫，雖然有效度但是欠缺時效性。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TW" altLang="en-US" sz="2000" dirty="0"/>
              <a:t>受訪者可以加入網調公司的</a:t>
            </a:r>
            <a:r>
              <a:rPr lang="zh-TW" altLang="en-US" sz="2000"/>
              <a:t>會員，先填寫一些基本資料後，等網調公司發送問卷，填寫後</a:t>
            </a:r>
            <a:r>
              <a:rPr lang="zh-TW" altLang="en-US" sz="2000" dirty="0"/>
              <a:t>可以獲得獎勵。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zh-TW" altLang="en-US" sz="2000" dirty="0"/>
              <a:t>因此，網調依賴受訪者自行填寫問卷，而不是被隨機抽出，因此被稱為非機率樣本。</a:t>
            </a: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+mn-ea"/>
              </a:rPr>
              <a:t>調查結果無法推論到整體的選民。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177760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CC0923-50EE-4EFC-F922-F84A9E20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1121D-CDAB-2148-2E44-67CE98930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600184"/>
            <a:ext cx="7772400" cy="580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23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5B11C322-FCF9-F2D6-CE2E-A73A743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93E5983-0E87-8B43-A764-0D21AA3FC0AE}" type="slidenum">
              <a:rPr kumimoji="0" lang="en-US" altLang="zh-TW"/>
              <a:pPr/>
              <a:t>30</a:t>
            </a:fld>
            <a:endParaRPr kumimoji="0" lang="en-US" altLang="zh-TW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37C016-D408-BCDB-9A50-468090947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網路調查（二）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F135-C972-6C65-C5AF-1ACA11310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/>
              <a:t>特色</a:t>
            </a:r>
            <a:endParaRPr lang="en-US" altLang="zh-TW" sz="28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即時性：在研究倫理審查以及經費許可下，可以即時發送問卷，不必招募訪員也不必抽樣。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方便性：受訪者回應存成可分析的格式，方便分析，不需要複查。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成本：相較於面訪以及電訪，因為依賴受訪者自填，節省訪員以及接觸成本。給予受訪者的誘因也比面訪來得少。但是平時要招募受訪者。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5B11C322-FCF9-F2D6-CE2E-A73A743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93E5983-0E87-8B43-A764-0D21AA3FC0AE}" type="slidenum">
              <a:rPr kumimoji="0" lang="en-US" altLang="zh-TW"/>
              <a:pPr/>
              <a:t>31</a:t>
            </a:fld>
            <a:endParaRPr kumimoji="0" lang="en-US" altLang="zh-TW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37C016-D408-BCDB-9A50-468090947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網路調查（三）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F135-C972-6C65-C5AF-1ACA11310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/>
              <a:t>特色</a:t>
            </a:r>
            <a:endParaRPr lang="en-US" altLang="zh-TW" sz="28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特定受訪者：如果累積足夠多的受訪者資料，可以發送問卷給全體或者特定特徵的受訪者。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追蹤：可以長期追蹤某一群受訪者，建立定群固定樣本資料，減少內生性問題。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介面：有各種格式，相較於面訪與電訪更靈活。也可以設計實驗題，驗證因果關係。</a:t>
            </a:r>
          </a:p>
        </p:txBody>
      </p:sp>
    </p:spTree>
    <p:extLst>
      <p:ext uri="{BB962C8B-B14F-4D97-AF65-F5344CB8AC3E}">
        <p14:creationId xmlns:p14="http://schemas.microsoft.com/office/powerpoint/2010/main" val="449545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497AE-99AC-7B1A-49B8-BB92225A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2F8B5-D440-9C2A-DF67-80EC99ACC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00125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80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11BEFA-72C6-B479-37E4-15601680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DF842-9403-BA95-03F3-7699E9A5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00125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56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531C21-70BF-EB4E-493B-274F88E8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59038-6C79-0554-E52E-D9BBFCAB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6712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6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DF54BC-0DAF-55D7-6765-324787E4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D764A7-91B1-944C-8857-597FAF30A0D5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43197-BCF5-DCA5-E753-18C247CD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8720"/>
            <a:ext cx="77724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51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5B11C322-FCF9-F2D6-CE2E-A73A743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93E5983-0E87-8B43-A764-0D21AA3FC0AE}" type="slidenum">
              <a:rPr kumimoji="0" lang="en-US" altLang="zh-TW"/>
              <a:pPr/>
              <a:t>36</a:t>
            </a:fld>
            <a:endParaRPr kumimoji="0" lang="en-US" altLang="zh-TW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37C016-D408-BCDB-9A50-468090947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網路調查（三）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F135-C972-6C65-C5AF-1ACA11310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/>
              <a:t>缺點</a:t>
            </a:r>
            <a:endParaRPr lang="en-US" altLang="zh-TW" sz="28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樣本代表性：研究者必須依照受訪者所回報的居住地、性別、年齡、教育程度等基本背景進行加權，不像電訪或者面訪至少確定受訪者的居住地以及判斷其他特徵。此外，網路使用者多半是年輕、教育程度高，不容易有年長、低教育程度使用者的意見。此外，網路使用者與非網路使用者之間可能有差距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916198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5B11C322-FCF9-F2D6-CE2E-A73A7430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93E5983-0E87-8B43-A764-0D21AA3FC0AE}" type="slidenum">
              <a:rPr kumimoji="0" lang="en-US" altLang="zh-TW"/>
              <a:pPr/>
              <a:t>37</a:t>
            </a:fld>
            <a:endParaRPr kumimoji="0" lang="en-US" altLang="zh-TW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737C016-D408-BCDB-9A50-468090947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網路調查（四）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CC1F135-C972-6C65-C5AF-1ACA11310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TW" altLang="en-US" sz="2800" dirty="0"/>
              <a:t>缺點</a:t>
            </a:r>
            <a:endParaRPr lang="en-US" altLang="zh-TW" sz="28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zh-TW" altLang="en-US" sz="2000" dirty="0"/>
              <a:t>受訪者填答時如果有疑問，無法得到第一時間的協助，可能會影響效度。</a:t>
            </a:r>
            <a:endParaRPr lang="en-US" altLang="zh-TW" sz="20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zh-TW" altLang="en-US" sz="2000" dirty="0"/>
              <a:t>受訪者可能會尋求</a:t>
            </a:r>
            <a:r>
              <a:rPr lang="zh-TW" altLang="en-US" sz="2000"/>
              <a:t>其他人幫忙回答，無法</a:t>
            </a:r>
            <a:r>
              <a:rPr lang="zh-TW" altLang="en-US" sz="2000" dirty="0"/>
              <a:t>確定是否真的是資料庫中的受訪</a:t>
            </a:r>
            <a:r>
              <a:rPr lang="zh-TW" altLang="en-US" sz="2000"/>
              <a:t>者回答問卷。</a:t>
            </a:r>
            <a:endParaRPr lang="en-US" altLang="zh-TW" sz="20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zh-TW" altLang="en-US" sz="2000" dirty="0"/>
              <a:t>受訪者可能會上網協助回答問題，因此無法詢問政治知識的問題。</a:t>
            </a:r>
            <a:endParaRPr lang="en-US" altLang="zh-TW" sz="20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2"/>
            </a:pPr>
            <a:r>
              <a:rPr lang="zh-TW" altLang="en-US" sz="2000" dirty="0"/>
              <a:t>已經發生機器人亂填網路問卷的狀況，雖然動機不明，但是網路問卷的有效性受到質疑。</a:t>
            </a:r>
            <a:endParaRPr lang="en-US" altLang="zh-TW" sz="2000" dirty="0"/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eriod" startAt="2"/>
            </a:pP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154743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EB945961-39BD-5A3C-C747-B4D2271F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12C34E0-1A46-A243-934C-463288DE37EA}" type="slidenum">
              <a:rPr kumimoji="0" lang="en-US" altLang="zh-TW"/>
              <a:pPr/>
              <a:t>38</a:t>
            </a:fld>
            <a:endParaRPr kumimoji="0" lang="en-US" altLang="zh-TW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23C6ADC-5BE2-850A-3B44-A58462915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郵寄問卷訪問（一）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1A0BC2A-F64B-C133-20A7-76F37A2A3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寄送被抽中的受訪者問卷紙本，請他們自己填寫之後寄回來。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通常用在特定名單的調查，例如公司行號、公務機關、職業公會等等有特定名單，得到許可後寄出去給會員或者負責人。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可以在問卷上面做暗號，掌握已經填好寄回的受訪者。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為了提高回收數，可以邀請受訪者上網自填，但是要注意不要讓受訪者重複填問卷，也要注意回收後分開兩種填答模式分析。</a:t>
            </a:r>
            <a:endParaRPr lang="en-US" altLang="zh-TW" sz="2000" dirty="0"/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如果受訪者不想自填，可以用電話聯繫訪員接受訪問，類似郵寄問卷結合電訪。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EB945961-39BD-5A3C-C747-B4D2271F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12C34E0-1A46-A243-934C-463288DE37EA}" type="slidenum">
              <a:rPr kumimoji="0" lang="en-US" altLang="zh-TW"/>
              <a:pPr/>
              <a:t>39</a:t>
            </a:fld>
            <a:endParaRPr kumimoji="0" lang="en-US" altLang="zh-TW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E23C6ADC-5BE2-850A-3B44-A58462915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郵寄問卷訪問（二）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1A0BC2A-F64B-C133-20A7-76F37A2A3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郵寄問卷最大的優勢在於它通常基於「地址」。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在台灣或許多國家，戶籍地址或住宅名冊是極為完整的抽樣框，能涵蓋那些不上網、沒有市話的人群。</a:t>
            </a:r>
          </a:p>
          <a:p>
            <a:pPr eaLnBrk="1" hangingPunct="1">
              <a:lnSpc>
                <a:spcPct val="150000"/>
              </a:lnSpc>
            </a:pPr>
            <a:r>
              <a:rPr lang="zh-TW" altLang="en-US" sz="2000" dirty="0"/>
              <a:t>但是「居住地與戶籍地不符」的情況嚴重（如北漂族），問卷可能寄到老家但本人收不到，導致嚴重的涵蓋誤差。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642656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A586-BADE-786D-95AB-C263BE16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8A82BC89-453C-3580-4ED8-80B8E53D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12C34E0-1A46-A243-934C-463288DE37EA}" type="slidenum">
              <a:rPr kumimoji="0" lang="en-US" altLang="zh-TW"/>
              <a:pPr/>
              <a:t>40</a:t>
            </a:fld>
            <a:endParaRPr kumimoji="0" lang="en-US" altLang="zh-TW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BEDC186A-406B-3CE4-B94E-99225FADA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郵寄問卷訪問（三）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32955E0-BFBD-ACCB-B5C7-12007E250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dirty="0"/>
              <a:t>優點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訪問成本低：不需要訪員，也不需要電訪設備。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受訪者自填，所以可以詢問比較敏感的問題，但是要讓受訪者相信研究者會保護受訪者的答案與個資。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ja-JP" altLang="en-US" sz="2000"/>
              <a:t>受訪者可以看到完整的題目與選項，不容易受訪員語氣影響，但容易受到排版、字體大小或問題順序的心理暗示。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問卷內容較電訪寬裕，但是也不能過長，使受訪者中途拒訪。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可以附上誘因，提高受訪者的動機。</a:t>
            </a:r>
          </a:p>
        </p:txBody>
      </p:sp>
    </p:spTree>
    <p:extLst>
      <p:ext uri="{BB962C8B-B14F-4D97-AF65-F5344CB8AC3E}">
        <p14:creationId xmlns:p14="http://schemas.microsoft.com/office/powerpoint/2010/main" val="1124606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895C-DA7C-E622-6E4A-1E9EF95B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2A7C20BE-F70C-47E7-2315-881B76BB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12C34E0-1A46-A243-934C-463288DE37EA}" type="slidenum">
              <a:rPr kumimoji="0" lang="en-US" altLang="zh-TW"/>
              <a:pPr/>
              <a:t>41</a:t>
            </a:fld>
            <a:endParaRPr kumimoji="0" lang="en-US" altLang="zh-TW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68349DF-0129-0401-413D-657CF2E59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郵寄問卷訪問（四）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74EDABE-738F-F7CF-3F8B-3F7F1B579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dirty="0"/>
              <a:t>缺點</a:t>
            </a:r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樣本代表性不準確：因為是特定樣本，所以很難推論到一般民眾，但是也許可以推論到全體的會員或者公司。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回收率低：一般來說回收率大約</a:t>
            </a:r>
            <a:r>
              <a:rPr lang="en-US" altLang="zh-TW" sz="2000" dirty="0"/>
              <a:t>3</a:t>
            </a:r>
            <a:r>
              <a:rPr lang="zh-TW" altLang="en-US" sz="2000" dirty="0"/>
              <a:t>成，雖然已經比電訪、面訪來得高，仍要一直催收才能達到。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缺乏訪員協助：受訪者自填時遇到不會的問題沒辦法得到協助。</a:t>
            </a:r>
            <a:endParaRPr lang="en-US" altLang="zh-TW" sz="2000" dirty="0"/>
          </a:p>
          <a:p>
            <a:pPr marL="514350" indent="-51435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000" dirty="0"/>
              <a:t>不能問政治知識題：如果題目設計有政治知識，或者相關背景，受訪者可以自己找答案，失去效度。</a:t>
            </a:r>
          </a:p>
        </p:txBody>
      </p:sp>
    </p:spTree>
    <p:extLst>
      <p:ext uri="{BB962C8B-B14F-4D97-AF65-F5344CB8AC3E}">
        <p14:creationId xmlns:p14="http://schemas.microsoft.com/office/powerpoint/2010/main" val="1456923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895C-DA7C-E622-6E4A-1E9EF95B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2A7C20BE-F70C-47E7-2315-881B76BB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412C34E0-1A46-A243-934C-463288DE37EA}" type="slidenum">
              <a:rPr kumimoji="0" lang="en-US" altLang="zh-TW"/>
              <a:pPr/>
              <a:t>42</a:t>
            </a:fld>
            <a:endParaRPr kumimoji="0" lang="en-US" altLang="zh-TW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68349DF-0129-0401-413D-657CF2E59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郵寄問卷訪問（五）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74EDABE-738F-F7CF-3F8B-3F7F1B579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現代人對紙本信件的耐性極低，常被視為廣告垃圾信。回覆率若低於 </a:t>
            </a:r>
            <a:r>
              <a:rPr lang="en-US" altLang="ja-JP" sz="2000" dirty="0"/>
              <a:t>10-20%</a:t>
            </a:r>
            <a:r>
              <a:rPr lang="ja-JP" altLang="en-US" sz="2000"/>
              <a:t>，結果就難以代表母體。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2000"/>
              <a:t>會回信的人通常具有特定特徵（如高教育程度、時間充裕的高齡者、或對該議題有極端情緒者）。這會導致無反應偏差。</a:t>
            </a:r>
            <a:endParaRPr lang="en-US" altLang="ja-JP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255742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4">
            <a:extLst>
              <a:ext uri="{FF2B5EF4-FFF2-40B4-BE49-F238E27FC236}">
                <a16:creationId xmlns:a16="http://schemas.microsoft.com/office/drawing/2014/main" id="{2EA8A2B8-4D25-94BC-CE2D-656A1DE0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fld id="{781C4464-78F0-BF4F-9FA4-5C7489F72D34}" type="slidenum">
              <a:rPr kumimoji="0" lang="en-US" altLang="zh-TW"/>
              <a:pPr/>
              <a:t>43</a:t>
            </a:fld>
            <a:endParaRPr kumimoji="0" lang="en-US" altLang="zh-TW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D0891254-9B19-03E6-38DB-3A64FA19E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大學生評鑑郵寄問卷</a:t>
            </a:r>
          </a:p>
        </p:txBody>
      </p:sp>
      <p:graphicFrame>
        <p:nvGraphicFramePr>
          <p:cNvPr id="104501" name="Group 53">
            <a:extLst>
              <a:ext uri="{FF2B5EF4-FFF2-40B4-BE49-F238E27FC236}">
                <a16:creationId xmlns:a16="http://schemas.microsoft.com/office/drawing/2014/main" id="{5F2CF4CC-504E-1780-3284-A1DA29FC788C}"/>
              </a:ext>
            </a:extLst>
          </p:cNvPr>
          <p:cNvGraphicFramePr>
            <a:graphicFrameLocks noGrp="1"/>
          </p:cNvGraphicFramePr>
          <p:nvPr>
            <p:ph type="tbl" idx="4294967295"/>
          </p:nvPr>
        </p:nvGraphicFramePr>
        <p:xfrm>
          <a:off x="685800" y="1981200"/>
          <a:ext cx="7620000" cy="45656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49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部門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國小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國中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中央政府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企業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5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有效回答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917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(34.4)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331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(35.6)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296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(18.4)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406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(6.8)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5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拒訪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(1.5)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(3.1)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362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(6.0)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2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未寄回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1717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(64.5)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577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(62.0)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866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(53.8)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4738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(78.9)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3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樣本數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2662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930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1611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anose="02020500000000000000" pitchFamily="18" charset="-120"/>
                        </a:rPr>
                        <a:t>6002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新細明體" panose="02020500000000000000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4582</TotalTime>
  <Words>3192</Words>
  <Application>Microsoft Macintosh PowerPoint</Application>
  <PresentationFormat>On-screen Show (4:3)</PresentationFormat>
  <Paragraphs>313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ARMingB5</vt:lpstr>
      <vt:lpstr>MingLiU</vt:lpstr>
      <vt:lpstr>新細明體</vt:lpstr>
      <vt:lpstr>Arial</vt:lpstr>
      <vt:lpstr>Arial Narrow</vt:lpstr>
      <vt:lpstr>Cambria</vt:lpstr>
      <vt:lpstr>Tahoma</vt:lpstr>
      <vt:lpstr>Times New Roman</vt:lpstr>
      <vt:lpstr>Wingdings</vt:lpstr>
      <vt:lpstr>Blends</vt:lpstr>
      <vt:lpstr>民意調查的類型</vt:lpstr>
      <vt:lpstr>課程大綱</vt:lpstr>
      <vt:lpstr>調查的定義</vt:lpstr>
      <vt:lpstr>調查方法</vt:lpstr>
      <vt:lpstr>面對面訪問（一）</vt:lpstr>
      <vt:lpstr>面對面訪問（二）</vt:lpstr>
      <vt:lpstr>面對面訪問（三）</vt:lpstr>
      <vt:lpstr>面對面訪問（四）</vt:lpstr>
      <vt:lpstr>面訪流程（一）</vt:lpstr>
      <vt:lpstr>面訪流程（二）</vt:lpstr>
      <vt:lpstr>訪問結果</vt:lpstr>
      <vt:lpstr>面訪須遵守的事項</vt:lpstr>
      <vt:lpstr>訪員常遇的問題</vt:lpstr>
      <vt:lpstr>電話訪問（一）</vt:lpstr>
      <vt:lpstr>電話訪問（二）</vt:lpstr>
      <vt:lpstr>電話訪問（三）</vt:lpstr>
      <vt:lpstr>電話訪問（四）</vt:lpstr>
      <vt:lpstr>住宅電話樣本來源（一）</vt:lpstr>
      <vt:lpstr>住宅電話樣本來源（二）</vt:lpstr>
      <vt:lpstr>行動電話樣本來源（一）</vt:lpstr>
      <vt:lpstr>市話樣本</vt:lpstr>
      <vt:lpstr>行動電話樣本來源（二）</vt:lpstr>
      <vt:lpstr>電話訪問之戶中抽樣</vt:lpstr>
      <vt:lpstr>電話訪問之注意事項</vt:lpstr>
      <vt:lpstr>電話訪問之技巧</vt:lpstr>
      <vt:lpstr>電話訪問結果</vt:lpstr>
      <vt:lpstr>面對面訪問結果</vt:lpstr>
      <vt:lpstr>網路調查（一）</vt:lpstr>
      <vt:lpstr>PowerPoint Presentation</vt:lpstr>
      <vt:lpstr>網路調查（二）</vt:lpstr>
      <vt:lpstr>網路調查（三）</vt:lpstr>
      <vt:lpstr>PowerPoint Presentation</vt:lpstr>
      <vt:lpstr>PowerPoint Presentation</vt:lpstr>
      <vt:lpstr>PowerPoint Presentation</vt:lpstr>
      <vt:lpstr>PowerPoint Presentation</vt:lpstr>
      <vt:lpstr>網路調查（三）</vt:lpstr>
      <vt:lpstr>網路調查（四）</vt:lpstr>
      <vt:lpstr>郵寄問卷訪問（一）</vt:lpstr>
      <vt:lpstr>郵寄問卷訪問（二）</vt:lpstr>
      <vt:lpstr>郵寄問卷訪問（三）</vt:lpstr>
      <vt:lpstr>郵寄問卷訪問（四）</vt:lpstr>
      <vt:lpstr>郵寄問卷訪問（五）</vt:lpstr>
      <vt:lpstr>大學生評鑑郵寄問卷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問卷與量表設計</dc:title>
  <dc:creator>user</dc:creator>
  <cp:lastModifiedBy>Chia-hung Tsai</cp:lastModifiedBy>
  <cp:revision>99</cp:revision>
  <dcterms:created xsi:type="dcterms:W3CDTF">2005-01-12T07:59:14Z</dcterms:created>
  <dcterms:modified xsi:type="dcterms:W3CDTF">2026-03-23T15:13:11Z</dcterms:modified>
</cp:coreProperties>
</file>